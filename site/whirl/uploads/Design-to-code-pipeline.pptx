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6"/>
    <p:restoredTop sz="94610"/>
  </p:normalViewPr>
  <p:slideViewPr>
    <p:cSldViewPr snapToGrid="0" snapToObjects="1">
      <p:cViewPr varScale="1">
        <p:scale>
          <a:sx n="176" d="100"/>
          <a:sy n="176" d="100"/>
        </p:scale>
        <p:origin x="200"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6095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both audiences. For designers this is about design intent surviving into production. For engineers it is about a repeatable, checkable build process. Everything shown runs today on three GitHub repos and a live Vercel deployment.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designers: the risk with AI-generated UI is drift. Every screen is plausible, but none match. For engineers: the risk is unreviewable one-off styling. The answer here is to make the design system machine-readable and machine-checked.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designer's work lives in Claude Design. Claude Code, running inside VS Code, turns it into real React code. The MCP server is the design system's rulebook, and Claude consults it before and after writing code. Only validated code gets pushed, and Vercel deploys each push automatically.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Engineers: design-system-mcp is a Next.js app that exposes an MCP endpoint at /api/mcp. Its rules and registry are plain JSON files in the repo, so every rule change is a reviewable commit. Designers: think of it as the design system's rulebook, written in a form a machine can read.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the Model Context Protocol, is a standard way to give an AI assistant tools. Here the tools are the design system. Before writing code, Claude asks which components are allowed, how tokens work, and whether a similar page already exists. After writing, it validates. register_pattern closes the loop, because a finished page becomes a reference for the next 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Carbon components read their colors through CSS custom properties named --cds-something. The Airtable values live once, in theme.scss, as --at-something. Re-pointing the Carbon names at the Airtable values re-skins the whole library without forking it. Where Carbon has no matching token, a small targeted override fills the gap.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pilot, the Whirl prototype came out of Claude Design as a single HTML file. It is kept under original-dc-source in apptest1 as the reference. Claude Code rebuilt its four screens as Carbon React components. This test loop pushes straight to main. For team use, the same flow works through pull requests, and the MCP server's register_pattern already opens PRs.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simple pattern checks in lib/validateRules.ts, and that is on purpose: they are fast, predictable and easy to argue about in code review. The pilot app's pages pass with zero violations. The next slide covers the part that is still human judgment: whether the result looks right.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Airtable styles were applied. The first pass used the DESIGN.md token file. The second pass came from three annotated side-by-side comparisons. Claude also screenshots its own build in headless Chrome and compares it with the target before pushing, so the designer reviews something that is already close.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here came from one annotated comparison and landed in a single commit to apptest1. The changes touched 8 files and passed the validator, and Vercel deployed them the same day. For engineers: most fixes were in theme.scss, the shared layer, rather than in individual screens. That is why one pass could restyle the whole app.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fourth point last because it is the one specific to AI-assisted building. A design system with clear boundaries, meaning named components and named tokens, is one an MCP server can enforce. Adjust these reasons to match your own if they differ.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for a design audience is that we did not pick one system over the other. Carbon supplies behavior and accessibility, Airtable supplies the visual language, and the token layer is the seam between them. For engineers: the Airtable values live once, in theme.scss. The app never mixes raw colors into components.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honest trade-offs, and each points to a fix. Token-first theming is the big win. Carbon's baked-in styles are the main cost. The type-scale gap shows that a marketing design spec is not an app design spec, and the design system has to add app-density roles. The allow-list lesson is a governance one: when the rules and the style guide disagree, builders find workarounds.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proposals, not done yet. Today the token guide in the MCP server still describes plain Carbon, and the validator knows three rules. Bringing the Airtable decisions into the server makes them enforceable instead of tribal knowledge.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problem slide. The design system stops being a document people forget and becomes a set of tools the builder has to pass through. Offer to show the live Whirl app and the repositories.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1D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CAB79"/>
                </a:solidFill>
                <a:latin typeface="Inter" pitchFamily="34" charset="0"/>
                <a:ea typeface="Inter" pitchFamily="34" charset="-122"/>
                <a:cs typeface="Inter" pitchFamily="34" charset="-120"/>
              </a:rPr>
              <a:t>DESIGN-TO-CODE PIPELINE</a:t>
            </a:r>
            <a:endParaRPr lang="en-US" sz="1200" dirty="0"/>
          </a:p>
        </p:txBody>
      </p:sp>
      <p:sp>
        <p:nvSpPr>
          <p:cNvPr id="3" name="Text 1"/>
          <p:cNvSpPr/>
          <p:nvPr/>
        </p:nvSpPr>
        <p:spPr>
          <a:xfrm>
            <a:off x="812800" y="1994446"/>
            <a:ext cx="9156700" cy="2000498"/>
          </a:xfrm>
          <a:prstGeom prst="rect">
            <a:avLst/>
          </a:prstGeom>
          <a:noFill/>
          <a:ln/>
        </p:spPr>
        <p:txBody>
          <a:bodyPr wrap="square" lIns="0" tIns="0" rIns="0" bIns="0" rtlCol="0" anchor="t">
            <a:normAutofit/>
          </a:bodyPr>
          <a:lstStyle/>
          <a:p>
            <a:pPr marL="0" indent="0" algn="l">
              <a:lnSpc>
                <a:spcPts val="5184"/>
              </a:lnSpc>
              <a:buNone/>
            </a:pPr>
            <a:r>
              <a:rPr lang="en-US" sz="4800" dirty="0">
                <a:solidFill>
                  <a:srgbClr val="F5F3EE"/>
                </a:solidFill>
                <a:latin typeface="Inter" pitchFamily="34" charset="0"/>
                <a:ea typeface="Inter" pitchFamily="34" charset="-122"/>
                <a:cs typeface="Inter" pitchFamily="34" charset="-120"/>
              </a:rPr>
              <a:t>From Claude Design to shipped code, on one governed design system</a:t>
            </a:r>
            <a:endParaRPr lang="en-US" sz="4800" dirty="0"/>
          </a:p>
        </p:txBody>
      </p:sp>
      <p:sp>
        <p:nvSpPr>
          <p:cNvPr id="4" name="Text 2"/>
          <p:cNvSpPr/>
          <p:nvPr/>
        </p:nvSpPr>
        <p:spPr>
          <a:xfrm>
            <a:off x="812800" y="4223544"/>
            <a:ext cx="8502650" cy="66546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CDD4"/>
                </a:solidFill>
                <a:latin typeface="Inter" pitchFamily="34" charset="0"/>
                <a:ea typeface="Inter" pitchFamily="34" charset="-122"/>
                <a:cs typeface="Inter" pitchFamily="34" charset="-120"/>
              </a:rPr>
              <a:t>Carbon for structure, Airtable for style, and an MCP server that checks every page before it reaches GitHub.</a:t>
            </a:r>
            <a:endParaRPr lang="en-US" sz="1800" dirty="0"/>
          </a:p>
        </p:txBody>
      </p:sp>
      <p:sp>
        <p:nvSpPr>
          <p:cNvPr id="5" name="Text 3"/>
          <p:cNvSpPr/>
          <p:nvPr/>
        </p:nvSpPr>
        <p:spPr>
          <a:xfrm>
            <a:off x="812800" y="5831880"/>
            <a:ext cx="8885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DD4"/>
                </a:solidFill>
                <a:latin typeface="Inter" pitchFamily="34" charset="0"/>
                <a:ea typeface="Inter" pitchFamily="34" charset="-122"/>
                <a:cs typeface="Inter" pitchFamily="34" charset="-120"/>
              </a:rPr>
              <a:t>higherwave</a:t>
            </a:r>
            <a:endParaRPr lang="en-US" sz="1200" dirty="0"/>
          </a:p>
        </p:txBody>
      </p:sp>
      <p:sp>
        <p:nvSpPr>
          <p:cNvPr id="6" name="Text 4"/>
          <p:cNvSpPr/>
          <p:nvPr/>
        </p:nvSpPr>
        <p:spPr>
          <a:xfrm>
            <a:off x="1955304" y="5831880"/>
            <a:ext cx="189914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DD4"/>
                </a:solidFill>
                <a:latin typeface="Inter" pitchFamily="34" charset="0"/>
                <a:ea typeface="Inter" pitchFamily="34" charset="-122"/>
                <a:cs typeface="Inter" pitchFamily="34" charset="-120"/>
              </a:rPr>
              <a:t>Pilot app: Whirl (apptest1)</a:t>
            </a:r>
            <a:endParaRPr lang="en-US" sz="1200" dirty="0"/>
          </a:p>
        </p:txBody>
      </p:sp>
      <p:sp>
        <p:nvSpPr>
          <p:cNvPr id="7" name="Text 5"/>
          <p:cNvSpPr/>
          <p:nvPr/>
        </p:nvSpPr>
        <p:spPr>
          <a:xfrm>
            <a:off x="4103936" y="5831880"/>
            <a:ext cx="126042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DD4"/>
                </a:solidFill>
                <a:latin typeface="Inter" pitchFamily="34" charset="0"/>
                <a:ea typeface="Inter" pitchFamily="34" charset="-122"/>
                <a:cs typeface="Inter" pitchFamily="34" charset="-120"/>
              </a:rPr>
              <a:t>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A2D00"/>
        </a:solidFill>
        <a:effectLst/>
      </p:bgPr>
    </p:bg>
    <p:spTree>
      <p:nvGrpSpPr>
        <p:cNvPr id="1" name=""/>
        <p:cNvGrpSpPr/>
        <p:nvPr/>
      </p:nvGrpSpPr>
      <p:grpSpPr>
        <a:xfrm>
          <a:off x="0" y="0"/>
          <a:ext cx="0" cy="0"/>
          <a:chOff x="0" y="0"/>
          <a:chExt cx="0" cy="0"/>
        </a:xfrm>
      </p:grpSpPr>
      <p:sp>
        <p:nvSpPr>
          <p:cNvPr id="2" name="Text 0"/>
          <p:cNvSpPr/>
          <p:nvPr/>
        </p:nvSpPr>
        <p:spPr>
          <a:xfrm>
            <a:off x="812800" y="185807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BFAF7"/>
                </a:solidFill>
                <a:latin typeface="Inter" pitchFamily="34" charset="0"/>
                <a:ea typeface="Inter" pitchFamily="34" charset="-122"/>
                <a:cs typeface="Inter" pitchFamily="34" charset="-120"/>
              </a:rPr>
              <a:t>THE PROBLEM</a:t>
            </a:r>
            <a:endParaRPr lang="en-US" sz="1200" dirty="0"/>
          </a:p>
        </p:txBody>
      </p:sp>
      <p:sp>
        <p:nvSpPr>
          <p:cNvPr id="3" name="Text 1"/>
          <p:cNvSpPr/>
          <p:nvPr/>
        </p:nvSpPr>
        <p:spPr>
          <a:xfrm>
            <a:off x="812800" y="2426990"/>
            <a:ext cx="9810750" cy="1602680"/>
          </a:xfrm>
          <a:prstGeom prst="rect">
            <a:avLst/>
          </a:prstGeom>
          <a:noFill/>
          <a:ln/>
        </p:spPr>
        <p:txBody>
          <a:bodyPr wrap="square" lIns="0" tIns="0" rIns="0" bIns="0" rtlCol="0" anchor="t">
            <a:normAutofit/>
          </a:bodyPr>
          <a:lstStyle/>
          <a:p>
            <a:pPr marL="0" indent="0" algn="l">
              <a:lnSpc>
                <a:spcPts val="4140"/>
              </a:lnSpc>
              <a:buNone/>
            </a:pPr>
            <a:r>
              <a:rPr lang="en-US" sz="3600" dirty="0">
                <a:solidFill>
                  <a:srgbClr val="FBFAF7"/>
                </a:solidFill>
                <a:latin typeface="Inter" pitchFamily="34" charset="0"/>
                <a:ea typeface="Inter" pitchFamily="34" charset="-122"/>
                <a:cs typeface="Inter" pitchFamily="34" charset="-120"/>
              </a:rPr>
              <a:t>AI can generate a screen in minutes. The hard part is making every screen look and behave like the same product.</a:t>
            </a:r>
            <a:endParaRPr lang="en-US" sz="3600" dirty="0"/>
          </a:p>
        </p:txBody>
      </p:sp>
      <p:sp>
        <p:nvSpPr>
          <p:cNvPr id="4" name="Text 2"/>
          <p:cNvSpPr/>
          <p:nvPr/>
        </p:nvSpPr>
        <p:spPr>
          <a:xfrm>
            <a:off x="812800" y="4359870"/>
            <a:ext cx="8502650" cy="66546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BFAF7"/>
                </a:solidFill>
                <a:latin typeface="Inter" pitchFamily="34" charset="0"/>
                <a:ea typeface="Inter" pitchFamily="34" charset="-122"/>
                <a:cs typeface="Inter" pitchFamily="34" charset="-120"/>
              </a:rPr>
              <a:t>This pipeline turns the design system into something a machine checks on every page, instead of something people have to remember.</a:t>
            </a:r>
            <a:endParaRPr lang="en-US" sz="1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A2D00"/>
                </a:solidFill>
                <a:latin typeface="Inter" pitchFamily="34" charset="0"/>
                <a:ea typeface="Inter" pitchFamily="34" charset="-122"/>
                <a:cs typeface="Inter" pitchFamily="34" charset="-120"/>
              </a:rPr>
              <a:t>THE SYSTEM AT A GLANCE</a:t>
            </a:r>
            <a:endParaRPr lang="en-US" sz="1200" dirty="0"/>
          </a:p>
        </p:txBody>
      </p:sp>
      <p:sp>
        <p:nvSpPr>
          <p:cNvPr id="3" name="Text 1"/>
          <p:cNvSpPr/>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181D26"/>
                </a:solidFill>
                <a:latin typeface="Inter" pitchFamily="34" charset="0"/>
                <a:ea typeface="Inter" pitchFamily="34" charset="-122"/>
                <a:cs typeface="Inter" pitchFamily="34" charset="-120"/>
              </a:rPr>
              <a:t>One pipeline, five stops</a:t>
            </a:r>
            <a:endParaRPr lang="en-US" sz="3200" dirty="0"/>
          </a:p>
        </p:txBody>
      </p:sp>
      <p:sp>
        <p:nvSpPr>
          <p:cNvPr id="4" name="Shape 2"/>
          <p:cNvSpPr/>
          <p:nvPr/>
        </p:nvSpPr>
        <p:spPr>
          <a:xfrm>
            <a:off x="815975" y="1933525"/>
            <a:ext cx="1741140" cy="2299791"/>
          </a:xfrm>
          <a:prstGeom prst="roundRect">
            <a:avLst>
              <a:gd name="adj" fmla="val 5653"/>
            </a:avLst>
          </a:prstGeom>
          <a:solidFill>
            <a:srgbClr val="FEFEFC"/>
          </a:solidFill>
          <a:ln w="6350">
            <a:solidFill>
              <a:srgbClr val="DDDBD5"/>
            </a:solidFill>
            <a:prstDash val="solid"/>
          </a:ln>
        </p:spPr>
        <p:txBody>
          <a:bodyPr/>
          <a:lstStyle/>
          <a:p>
            <a:endParaRPr lang="en-US"/>
          </a:p>
        </p:txBody>
      </p:sp>
      <p:sp>
        <p:nvSpPr>
          <p:cNvPr id="5" name="Text 3"/>
          <p:cNvSpPr/>
          <p:nvPr/>
        </p:nvSpPr>
        <p:spPr>
          <a:xfrm>
            <a:off x="996950" y="2114500"/>
            <a:ext cx="142999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AA2D00"/>
                </a:solidFill>
                <a:latin typeface="Inter" pitchFamily="34" charset="0"/>
                <a:ea typeface="Inter" pitchFamily="34" charset="-122"/>
                <a:cs typeface="Inter" pitchFamily="34" charset="-120"/>
              </a:rPr>
              <a:t>1</a:t>
            </a:r>
            <a:endParaRPr lang="en-US" sz="2000" dirty="0"/>
          </a:p>
        </p:txBody>
      </p:sp>
      <p:sp>
        <p:nvSpPr>
          <p:cNvPr id="6" name="Text 4"/>
          <p:cNvSpPr/>
          <p:nvPr/>
        </p:nvSpPr>
        <p:spPr>
          <a:xfrm>
            <a:off x="996950" y="2571700"/>
            <a:ext cx="1429990" cy="51306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81D26"/>
                </a:solidFill>
                <a:latin typeface="Inter" pitchFamily="34" charset="0"/>
                <a:ea typeface="Inter" pitchFamily="34" charset="-122"/>
                <a:cs typeface="Inter" pitchFamily="34" charset="-120"/>
              </a:rPr>
              <a:t>Claude Design</a:t>
            </a:r>
            <a:endParaRPr lang="en-US" sz="1600" dirty="0"/>
          </a:p>
        </p:txBody>
      </p:sp>
      <p:sp>
        <p:nvSpPr>
          <p:cNvPr id="7" name="Text 5"/>
          <p:cNvSpPr/>
          <p:nvPr/>
        </p:nvSpPr>
        <p:spPr>
          <a:xfrm>
            <a:off x="996950" y="3160961"/>
            <a:ext cx="1429990"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The designer prototypes the flow</a:t>
            </a:r>
            <a:endParaRPr lang="en-US" sz="1300" dirty="0"/>
          </a:p>
        </p:txBody>
      </p:sp>
      <p:pic>
        <p:nvPicPr>
          <p:cNvPr id="8" name="Image 0" descr="arrow-right"/>
          <p:cNvPicPr>
            <a:picLocks noChangeAspect="1"/>
          </p:cNvPicPr>
          <p:nvPr/>
        </p:nvPicPr>
        <p:blipFill>
          <a:blip r:embed="rId3"/>
          <a:srcRect/>
          <a:stretch/>
        </p:blipFill>
        <p:spPr>
          <a:xfrm>
            <a:off x="2661890" y="3019921"/>
            <a:ext cx="254000" cy="127000"/>
          </a:xfrm>
          <a:prstGeom prst="rect">
            <a:avLst/>
          </a:prstGeom>
        </p:spPr>
      </p:pic>
      <p:sp>
        <p:nvSpPr>
          <p:cNvPr id="9" name="Shape 6"/>
          <p:cNvSpPr/>
          <p:nvPr/>
        </p:nvSpPr>
        <p:spPr>
          <a:xfrm>
            <a:off x="3020665" y="1933525"/>
            <a:ext cx="1741190" cy="2299791"/>
          </a:xfrm>
          <a:prstGeom prst="roundRect">
            <a:avLst>
              <a:gd name="adj" fmla="val 5653"/>
            </a:avLst>
          </a:prstGeom>
          <a:solidFill>
            <a:srgbClr val="FEFEFC"/>
          </a:solidFill>
          <a:ln w="6350">
            <a:solidFill>
              <a:srgbClr val="DDDBD5"/>
            </a:solidFill>
            <a:prstDash val="solid"/>
          </a:ln>
        </p:spPr>
        <p:txBody>
          <a:bodyPr/>
          <a:lstStyle/>
          <a:p>
            <a:endParaRPr lang="en-US"/>
          </a:p>
        </p:txBody>
      </p:sp>
      <p:sp>
        <p:nvSpPr>
          <p:cNvPr id="10" name="Text 7"/>
          <p:cNvSpPr/>
          <p:nvPr/>
        </p:nvSpPr>
        <p:spPr>
          <a:xfrm>
            <a:off x="3201640" y="2114500"/>
            <a:ext cx="143004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AA2D00"/>
                </a:solidFill>
                <a:latin typeface="Inter" pitchFamily="34" charset="0"/>
                <a:ea typeface="Inter" pitchFamily="34" charset="-122"/>
                <a:cs typeface="Inter" pitchFamily="34" charset="-120"/>
              </a:rPr>
              <a:t>2</a:t>
            </a:r>
            <a:endParaRPr lang="en-US" sz="2000" dirty="0"/>
          </a:p>
        </p:txBody>
      </p:sp>
      <p:sp>
        <p:nvSpPr>
          <p:cNvPr id="11" name="Text 8"/>
          <p:cNvSpPr/>
          <p:nvPr/>
        </p:nvSpPr>
        <p:spPr>
          <a:xfrm>
            <a:off x="3201640" y="2571700"/>
            <a:ext cx="1430040" cy="51306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81D26"/>
                </a:solidFill>
                <a:latin typeface="Inter" pitchFamily="34" charset="0"/>
                <a:ea typeface="Inter" pitchFamily="34" charset="-122"/>
                <a:cs typeface="Inter" pitchFamily="34" charset="-120"/>
              </a:rPr>
              <a:t>Claude Code in VS Code</a:t>
            </a:r>
            <a:endParaRPr lang="en-US" sz="1600" dirty="0"/>
          </a:p>
        </p:txBody>
      </p:sp>
      <p:sp>
        <p:nvSpPr>
          <p:cNvPr id="12" name="Text 9"/>
          <p:cNvSpPr/>
          <p:nvPr/>
        </p:nvSpPr>
        <p:spPr>
          <a:xfrm>
            <a:off x="3201640" y="3160961"/>
            <a:ext cx="1430040" cy="91678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Rebuilds it in React with Carbon components</a:t>
            </a:r>
            <a:endParaRPr lang="en-US" sz="1300" dirty="0"/>
          </a:p>
        </p:txBody>
      </p:sp>
      <p:pic>
        <p:nvPicPr>
          <p:cNvPr id="13" name="Image 1" descr="arrow-right"/>
          <p:cNvPicPr>
            <a:picLocks noChangeAspect="1"/>
          </p:cNvPicPr>
          <p:nvPr/>
        </p:nvPicPr>
        <p:blipFill>
          <a:blip r:embed="rId3"/>
          <a:srcRect/>
          <a:stretch/>
        </p:blipFill>
        <p:spPr>
          <a:xfrm>
            <a:off x="4866630" y="3019921"/>
            <a:ext cx="254000" cy="127000"/>
          </a:xfrm>
          <a:prstGeom prst="rect">
            <a:avLst/>
          </a:prstGeom>
        </p:spPr>
      </p:pic>
      <p:sp>
        <p:nvSpPr>
          <p:cNvPr id="14" name="Shape 10"/>
          <p:cNvSpPr/>
          <p:nvPr/>
        </p:nvSpPr>
        <p:spPr>
          <a:xfrm>
            <a:off x="5225405" y="1933525"/>
            <a:ext cx="1741140" cy="2299791"/>
          </a:xfrm>
          <a:prstGeom prst="roundRect">
            <a:avLst>
              <a:gd name="adj" fmla="val 5653"/>
            </a:avLst>
          </a:prstGeom>
          <a:solidFill>
            <a:srgbClr val="FEFEFC"/>
          </a:solidFill>
          <a:ln w="6350">
            <a:solidFill>
              <a:srgbClr val="DDDBD5"/>
            </a:solidFill>
            <a:prstDash val="solid"/>
          </a:ln>
        </p:spPr>
        <p:txBody>
          <a:bodyPr/>
          <a:lstStyle/>
          <a:p>
            <a:endParaRPr lang="en-US"/>
          </a:p>
        </p:txBody>
      </p:sp>
      <p:sp>
        <p:nvSpPr>
          <p:cNvPr id="15" name="Text 11"/>
          <p:cNvSpPr/>
          <p:nvPr/>
        </p:nvSpPr>
        <p:spPr>
          <a:xfrm>
            <a:off x="5406380" y="2114500"/>
            <a:ext cx="142999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AA2D00"/>
                </a:solidFill>
                <a:latin typeface="Inter" pitchFamily="34" charset="0"/>
                <a:ea typeface="Inter" pitchFamily="34" charset="-122"/>
                <a:cs typeface="Inter" pitchFamily="34" charset="-120"/>
              </a:rPr>
              <a:t>3</a:t>
            </a:r>
            <a:endParaRPr lang="en-US" sz="2000" dirty="0"/>
          </a:p>
        </p:txBody>
      </p:sp>
      <p:sp>
        <p:nvSpPr>
          <p:cNvPr id="16" name="Text 12"/>
          <p:cNvSpPr/>
          <p:nvPr/>
        </p:nvSpPr>
        <p:spPr>
          <a:xfrm>
            <a:off x="5406380" y="2571700"/>
            <a:ext cx="1429990" cy="26923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81D26"/>
                </a:solidFill>
                <a:latin typeface="Inter" pitchFamily="34" charset="0"/>
                <a:ea typeface="Inter" pitchFamily="34" charset="-122"/>
                <a:cs typeface="Inter" pitchFamily="34" charset="-120"/>
              </a:rPr>
              <a:t>MCP server</a:t>
            </a:r>
            <a:endParaRPr lang="en-US" sz="1600" dirty="0"/>
          </a:p>
        </p:txBody>
      </p:sp>
      <p:sp>
        <p:nvSpPr>
          <p:cNvPr id="17" name="Text 13"/>
          <p:cNvSpPr/>
          <p:nvPr/>
        </p:nvSpPr>
        <p:spPr>
          <a:xfrm>
            <a:off x="5406380" y="2917130"/>
            <a:ext cx="1429990"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Supplies the rules and checks every page</a:t>
            </a:r>
            <a:endParaRPr lang="en-US" sz="1300" dirty="0"/>
          </a:p>
        </p:txBody>
      </p:sp>
      <p:pic>
        <p:nvPicPr>
          <p:cNvPr id="18" name="Image 2" descr="arrow-right"/>
          <p:cNvPicPr>
            <a:picLocks noChangeAspect="1"/>
          </p:cNvPicPr>
          <p:nvPr/>
        </p:nvPicPr>
        <p:blipFill>
          <a:blip r:embed="rId3"/>
          <a:srcRect/>
          <a:stretch/>
        </p:blipFill>
        <p:spPr>
          <a:xfrm>
            <a:off x="7071320" y="3019921"/>
            <a:ext cx="254000" cy="127000"/>
          </a:xfrm>
          <a:prstGeom prst="rect">
            <a:avLst/>
          </a:prstGeom>
        </p:spPr>
      </p:pic>
      <p:sp>
        <p:nvSpPr>
          <p:cNvPr id="19" name="Shape 14"/>
          <p:cNvSpPr/>
          <p:nvPr/>
        </p:nvSpPr>
        <p:spPr>
          <a:xfrm>
            <a:off x="7430095" y="1933525"/>
            <a:ext cx="1741190" cy="2299791"/>
          </a:xfrm>
          <a:prstGeom prst="roundRect">
            <a:avLst>
              <a:gd name="adj" fmla="val 5653"/>
            </a:avLst>
          </a:prstGeom>
          <a:solidFill>
            <a:srgbClr val="FEFEFC"/>
          </a:solidFill>
          <a:ln w="6350">
            <a:solidFill>
              <a:srgbClr val="DDDBD5"/>
            </a:solidFill>
            <a:prstDash val="solid"/>
          </a:ln>
        </p:spPr>
        <p:txBody>
          <a:bodyPr/>
          <a:lstStyle/>
          <a:p>
            <a:endParaRPr lang="en-US"/>
          </a:p>
        </p:txBody>
      </p:sp>
      <p:sp>
        <p:nvSpPr>
          <p:cNvPr id="20" name="Text 15"/>
          <p:cNvSpPr/>
          <p:nvPr/>
        </p:nvSpPr>
        <p:spPr>
          <a:xfrm>
            <a:off x="7611070" y="2114500"/>
            <a:ext cx="143004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AA2D00"/>
                </a:solidFill>
                <a:latin typeface="Inter" pitchFamily="34" charset="0"/>
                <a:ea typeface="Inter" pitchFamily="34" charset="-122"/>
                <a:cs typeface="Inter" pitchFamily="34" charset="-120"/>
              </a:rPr>
              <a:t>4</a:t>
            </a:r>
            <a:endParaRPr lang="en-US" sz="2000" dirty="0"/>
          </a:p>
        </p:txBody>
      </p:sp>
      <p:sp>
        <p:nvSpPr>
          <p:cNvPr id="21" name="Text 16"/>
          <p:cNvSpPr/>
          <p:nvPr/>
        </p:nvSpPr>
        <p:spPr>
          <a:xfrm>
            <a:off x="7611070" y="2571700"/>
            <a:ext cx="1430040" cy="26923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81D26"/>
                </a:solidFill>
                <a:latin typeface="Inter" pitchFamily="34" charset="0"/>
                <a:ea typeface="Inter" pitchFamily="34" charset="-122"/>
                <a:cs typeface="Inter" pitchFamily="34" charset="-120"/>
              </a:rPr>
              <a:t>GitHub</a:t>
            </a:r>
            <a:endParaRPr lang="en-US" sz="1600" dirty="0"/>
          </a:p>
        </p:txBody>
      </p:sp>
      <p:sp>
        <p:nvSpPr>
          <p:cNvPr id="22" name="Text 17"/>
          <p:cNvSpPr/>
          <p:nvPr/>
        </p:nvSpPr>
        <p:spPr>
          <a:xfrm>
            <a:off x="7611070" y="2917130"/>
            <a:ext cx="1430040"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Validated code is committed and pushed</a:t>
            </a:r>
            <a:endParaRPr lang="en-US" sz="1300" dirty="0"/>
          </a:p>
        </p:txBody>
      </p:sp>
      <p:pic>
        <p:nvPicPr>
          <p:cNvPr id="23" name="Image 3" descr="arrow-right"/>
          <p:cNvPicPr>
            <a:picLocks noChangeAspect="1"/>
          </p:cNvPicPr>
          <p:nvPr/>
        </p:nvPicPr>
        <p:blipFill>
          <a:blip r:embed="rId3"/>
          <a:srcRect/>
          <a:stretch/>
        </p:blipFill>
        <p:spPr>
          <a:xfrm>
            <a:off x="9276060" y="3019921"/>
            <a:ext cx="254000" cy="127000"/>
          </a:xfrm>
          <a:prstGeom prst="rect">
            <a:avLst/>
          </a:prstGeom>
        </p:spPr>
      </p:pic>
      <p:sp>
        <p:nvSpPr>
          <p:cNvPr id="24" name="Shape 18"/>
          <p:cNvSpPr/>
          <p:nvPr/>
        </p:nvSpPr>
        <p:spPr>
          <a:xfrm>
            <a:off x="9634835" y="1933525"/>
            <a:ext cx="1741190" cy="2299791"/>
          </a:xfrm>
          <a:prstGeom prst="roundRect">
            <a:avLst>
              <a:gd name="adj" fmla="val 5653"/>
            </a:avLst>
          </a:prstGeom>
          <a:solidFill>
            <a:srgbClr val="FEFEFC"/>
          </a:solidFill>
          <a:ln w="6350">
            <a:solidFill>
              <a:srgbClr val="DDDBD5"/>
            </a:solidFill>
            <a:prstDash val="solid"/>
          </a:ln>
        </p:spPr>
        <p:txBody>
          <a:bodyPr/>
          <a:lstStyle/>
          <a:p>
            <a:endParaRPr lang="en-US"/>
          </a:p>
        </p:txBody>
      </p:sp>
      <p:sp>
        <p:nvSpPr>
          <p:cNvPr id="25" name="Text 19"/>
          <p:cNvSpPr/>
          <p:nvPr/>
        </p:nvSpPr>
        <p:spPr>
          <a:xfrm>
            <a:off x="9815810" y="2114500"/>
            <a:ext cx="143004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AA2D00"/>
                </a:solidFill>
                <a:latin typeface="Inter" pitchFamily="34" charset="0"/>
                <a:ea typeface="Inter" pitchFamily="34" charset="-122"/>
                <a:cs typeface="Inter" pitchFamily="34" charset="-120"/>
              </a:rPr>
              <a:t>5</a:t>
            </a:r>
            <a:endParaRPr lang="en-US" sz="2000" dirty="0"/>
          </a:p>
        </p:txBody>
      </p:sp>
      <p:sp>
        <p:nvSpPr>
          <p:cNvPr id="26" name="Text 20"/>
          <p:cNvSpPr/>
          <p:nvPr/>
        </p:nvSpPr>
        <p:spPr>
          <a:xfrm>
            <a:off x="9815810" y="2571700"/>
            <a:ext cx="1430040" cy="26923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81D26"/>
                </a:solidFill>
                <a:latin typeface="Inter" pitchFamily="34" charset="0"/>
                <a:ea typeface="Inter" pitchFamily="34" charset="-122"/>
                <a:cs typeface="Inter" pitchFamily="34" charset="-120"/>
              </a:rPr>
              <a:t>Dev Server</a:t>
            </a:r>
            <a:endParaRPr lang="en-US" sz="1600" dirty="0"/>
          </a:p>
        </p:txBody>
      </p:sp>
      <p:sp>
        <p:nvSpPr>
          <p:cNvPr id="27" name="Text 21"/>
          <p:cNvSpPr/>
          <p:nvPr/>
        </p:nvSpPr>
        <p:spPr>
          <a:xfrm>
            <a:off x="9815810" y="2917130"/>
            <a:ext cx="143004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Every push to main deploys live</a:t>
            </a:r>
            <a:endParaRPr lang="en-US" sz="1300" dirty="0"/>
          </a:p>
        </p:txBody>
      </p:sp>
      <p:sp>
        <p:nvSpPr>
          <p:cNvPr id="28" name="Shape 22"/>
          <p:cNvSpPr/>
          <p:nvPr/>
        </p:nvSpPr>
        <p:spPr>
          <a:xfrm>
            <a:off x="812800" y="4592092"/>
            <a:ext cx="10566400" cy="655290"/>
          </a:xfrm>
          <a:prstGeom prst="roundRect">
            <a:avLst>
              <a:gd name="adj" fmla="val 15505"/>
            </a:avLst>
          </a:prstGeom>
          <a:solidFill>
            <a:srgbClr val="F2F1EC"/>
          </a:solidFill>
          <a:ln/>
        </p:spPr>
        <p:txBody>
          <a:bodyPr/>
          <a:lstStyle/>
          <a:p>
            <a:endParaRPr lang="en-US"/>
          </a:p>
        </p:txBody>
      </p:sp>
      <p:sp>
        <p:nvSpPr>
          <p:cNvPr id="29" name="Text 23"/>
          <p:cNvSpPr/>
          <p:nvPr/>
        </p:nvSpPr>
        <p:spPr>
          <a:xfrm>
            <a:off x="1066800" y="4795292"/>
            <a:ext cx="277215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81D26"/>
                </a:solidFill>
                <a:latin typeface="Inter" pitchFamily="34" charset="0"/>
                <a:ea typeface="Inter" pitchFamily="34" charset="-122"/>
                <a:cs typeface="Inter" pitchFamily="34" charset="-120"/>
              </a:rPr>
              <a:t>The design system underneath:</a:t>
            </a:r>
            <a:endParaRPr lang="en-US" sz="1400" dirty="0"/>
          </a:p>
        </p:txBody>
      </p:sp>
      <p:sp>
        <p:nvSpPr>
          <p:cNvPr id="30" name="Text 24"/>
          <p:cNvSpPr/>
          <p:nvPr/>
        </p:nvSpPr>
        <p:spPr>
          <a:xfrm>
            <a:off x="3910608" y="4795292"/>
            <a:ext cx="178479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F62FE"/>
                </a:solidFill>
                <a:latin typeface="Inter" pitchFamily="34" charset="0"/>
                <a:ea typeface="Inter" pitchFamily="34" charset="-122"/>
                <a:cs typeface="Inter" pitchFamily="34" charset="-120"/>
              </a:rPr>
              <a:t>Carbon components</a:t>
            </a:r>
            <a:endParaRPr lang="en-US" sz="1400" dirty="0"/>
          </a:p>
        </p:txBody>
      </p:sp>
      <p:sp>
        <p:nvSpPr>
          <p:cNvPr id="31" name="Text 25"/>
          <p:cNvSpPr/>
          <p:nvPr/>
        </p:nvSpPr>
        <p:spPr>
          <a:xfrm>
            <a:off x="5795814" y="4795292"/>
            <a:ext cx="16847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1454D"/>
                </a:solidFill>
                <a:latin typeface="Inter" pitchFamily="34" charset="0"/>
                <a:ea typeface="Inter" pitchFamily="34" charset="-122"/>
                <a:cs typeface="Inter" pitchFamily="34" charset="-120"/>
              </a:rPr>
              <a:t>+</a:t>
            </a:r>
            <a:endParaRPr lang="en-US" sz="1400" dirty="0"/>
          </a:p>
        </p:txBody>
      </p:sp>
      <p:sp>
        <p:nvSpPr>
          <p:cNvPr id="32" name="Text 26"/>
          <p:cNvSpPr/>
          <p:nvPr/>
        </p:nvSpPr>
        <p:spPr>
          <a:xfrm>
            <a:off x="6065887" y="4795292"/>
            <a:ext cx="127084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A2D00"/>
                </a:solidFill>
                <a:latin typeface="Inter" pitchFamily="34" charset="0"/>
                <a:ea typeface="Inter" pitchFamily="34" charset="-122"/>
                <a:cs typeface="Inter" pitchFamily="34" charset="-120"/>
              </a:rPr>
              <a:t>Airtable styles</a:t>
            </a:r>
            <a:endParaRPr lang="en-US" sz="1400" dirty="0"/>
          </a:p>
        </p:txBody>
      </p:sp>
      <p:sp>
        <p:nvSpPr>
          <p:cNvPr id="33" name="Text 27"/>
          <p:cNvSpPr/>
          <p:nvPr/>
        </p:nvSpPr>
        <p:spPr>
          <a:xfrm>
            <a:off x="7438330" y="4795292"/>
            <a:ext cx="16847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1454D"/>
                </a:solidFill>
                <a:latin typeface="Inter" pitchFamily="34" charset="0"/>
                <a:ea typeface="Inter" pitchFamily="34" charset="-122"/>
                <a:cs typeface="Inter" pitchFamily="34" charset="-120"/>
              </a:rPr>
              <a:t>+</a:t>
            </a:r>
            <a:endParaRPr lang="en-US" sz="1400" dirty="0"/>
          </a:p>
        </p:txBody>
      </p:sp>
      <p:sp>
        <p:nvSpPr>
          <p:cNvPr id="34" name="Text 28"/>
          <p:cNvSpPr/>
          <p:nvPr/>
        </p:nvSpPr>
        <p:spPr>
          <a:xfrm>
            <a:off x="7708404" y="4795292"/>
            <a:ext cx="925761"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81D26"/>
                </a:solidFill>
                <a:latin typeface="Inter" pitchFamily="34" charset="0"/>
                <a:ea typeface="Inter" pitchFamily="34" charset="-122"/>
                <a:cs typeface="Inter" pitchFamily="34" charset="-120"/>
              </a:rPr>
              <a:t>MCP rules</a:t>
            </a:r>
            <a:endParaRPr lang="en-US" sz="1400" dirty="0"/>
          </a:p>
        </p:txBody>
      </p:sp>
      <p:sp>
        <p:nvSpPr>
          <p:cNvPr id="35" name="Text 2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6"/>
                </a:solidFill>
                <a:latin typeface="Inter" pitchFamily="34" charset="0"/>
                <a:ea typeface="Inter" pitchFamily="34" charset="-122"/>
                <a:cs typeface="Inter" pitchFamily="34" charset="-120"/>
              </a:rPr>
              <a:t>3 · Overview</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A2D00"/>
                </a:solidFill>
                <a:latin typeface="Inter" pitchFamily="34" charset="0"/>
                <a:ea typeface="Inter" pitchFamily="34" charset="-122"/>
                <a:cs typeface="Inter" pitchFamily="34" charset="-120"/>
              </a:rPr>
              <a:t>1 · SETUP</a:t>
            </a:r>
            <a:endParaRPr lang="en-US" sz="1200" dirty="0"/>
          </a:p>
        </p:txBody>
      </p:sp>
      <p:sp>
        <p:nvSpPr>
          <p:cNvPr id="3" name="Text 1"/>
          <p:cNvSpPr/>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181D26"/>
                </a:solidFill>
                <a:latin typeface="Inter" pitchFamily="34" charset="0"/>
                <a:ea typeface="Inter" pitchFamily="34" charset="-122"/>
                <a:cs typeface="Inter" pitchFamily="34" charset="-120"/>
              </a:rPr>
              <a:t>Three repositories, three jobs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3050"/>
          <a:ext cx="10553700" cy="2130674"/>
        </p:xfrm>
        <a:graphic>
          <a:graphicData uri="http://schemas.openxmlformats.org/drawingml/2006/table">
            <a:tbl>
              <a:tblPr/>
              <a:tblGrid>
                <a:gridCol w="3377184">
                  <a:extLst>
                    <a:ext uri="{9D8B030D-6E8A-4147-A177-3AD203B41FA5}">
                      <a16:colId xmlns:a16="http://schemas.microsoft.com/office/drawing/2014/main" val="20000"/>
                    </a:ext>
                  </a:extLst>
                </a:gridCol>
                <a:gridCol w="464362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tblGrid>
              <a:tr h="359321">
                <a:tc>
                  <a:txBody>
                    <a:bodyPr/>
                    <a:lstStyle/>
                    <a:p>
                      <a:pPr marL="0" indent="0">
                        <a:lnSpc>
                          <a:spcPts val="1820"/>
                        </a:lnSpc>
                        <a:buNone/>
                      </a:pPr>
                      <a:r>
                        <a:rPr lang="en-US" sz="1300" b="1" dirty="0">
                          <a:solidFill>
                            <a:srgbClr val="181D26"/>
                          </a:solidFill>
                          <a:latin typeface="Inter" pitchFamily="34" charset="0"/>
                          <a:ea typeface="Inter" pitchFamily="34" charset="-122"/>
                          <a:cs typeface="Inter" pitchFamily="34" charset="-120"/>
                        </a:rPr>
                        <a:t>Repository</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1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1C0BC"/>
                      </a:solidFill>
                      <a:prstDash val="solid"/>
                      <a:round/>
                      <a:headEnd type="none" w="med" len="med"/>
                      <a:tailEnd type="none" w="med" len="med"/>
                    </a:lnB>
                    <a:solidFill>
                      <a:srgbClr val="F2F1EC"/>
                    </a:solidFill>
                  </a:tcPr>
                </a:tc>
                <a:tc>
                  <a:txBody>
                    <a:bodyPr/>
                    <a:lstStyle/>
                    <a:p>
                      <a:pPr marL="0" indent="0">
                        <a:lnSpc>
                          <a:spcPts val="1820"/>
                        </a:lnSpc>
                        <a:buNone/>
                      </a:pPr>
                      <a:r>
                        <a:rPr lang="en-US" sz="1300" b="1" dirty="0">
                          <a:solidFill>
                            <a:srgbClr val="181D26"/>
                          </a:solidFill>
                          <a:latin typeface="Inter" pitchFamily="34" charset="0"/>
                          <a:ea typeface="Inter" pitchFamily="34" charset="-122"/>
                          <a:cs typeface="Inter" pitchFamily="34" charset="-120"/>
                        </a:rPr>
                        <a:t>What it is</a:t>
                      </a:r>
                      <a:endParaRPr lang="en-US" sz="1300" dirty="0">
                        <a:latin typeface="Inter" charset="0"/>
                        <a:ea typeface="Inter" charset="0"/>
                        <a:cs typeface="Inter" charset="0"/>
                      </a:endParaRPr>
                    </a:p>
                  </a:txBody>
                  <a:tcPr marL="57785" marR="57785" marT="57785" marB="57785">
                    <a:lnL w="12700" cap="flat" cmpd="sng" algn="ctr">
                      <a:solidFill>
                        <a:srgbClr val="C1C0BC"/>
                      </a:solidFill>
                      <a:prstDash val="solid"/>
                      <a:round/>
                      <a:headEnd type="none" w="med" len="med"/>
                      <a:tailEnd type="none" w="med" len="med"/>
                    </a:lnL>
                    <a:lnR w="12700" cap="flat" cmpd="sng" algn="ctr">
                      <a:solidFill>
                        <a:srgbClr val="C1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1C0BC"/>
                      </a:solidFill>
                      <a:prstDash val="solid"/>
                      <a:round/>
                      <a:headEnd type="none" w="med" len="med"/>
                      <a:tailEnd type="none" w="med" len="med"/>
                    </a:lnB>
                    <a:solidFill>
                      <a:srgbClr val="F2F1EC"/>
                    </a:solidFill>
                  </a:tcPr>
                </a:tc>
                <a:tc>
                  <a:txBody>
                    <a:bodyPr/>
                    <a:lstStyle/>
                    <a:p>
                      <a:pPr marL="0" indent="0">
                        <a:lnSpc>
                          <a:spcPts val="1820"/>
                        </a:lnSpc>
                        <a:buNone/>
                      </a:pPr>
                      <a:r>
                        <a:rPr lang="en-US" sz="1300" b="1" dirty="0">
                          <a:solidFill>
                            <a:srgbClr val="181D26"/>
                          </a:solidFill>
                          <a:latin typeface="Inter" pitchFamily="34" charset="0"/>
                          <a:ea typeface="Inter" pitchFamily="34" charset="-122"/>
                          <a:cs typeface="Inter" pitchFamily="34" charset="-120"/>
                        </a:rPr>
                        <a:t>Role</a:t>
                      </a:r>
                      <a:endParaRPr lang="en-US" sz="1300" dirty="0">
                        <a:latin typeface="Inter" charset="0"/>
                        <a:ea typeface="Inter" charset="0"/>
                        <a:cs typeface="Inter" charset="0"/>
                      </a:endParaRPr>
                    </a:p>
                  </a:txBody>
                  <a:tcPr marL="57785" marR="57785" marT="57785" marB="57785">
                    <a:lnL w="12700" cap="flat" cmpd="sng" algn="ctr">
                      <a:solidFill>
                        <a:srgbClr val="C1C0BC"/>
                      </a:solidFill>
                      <a:prstDash val="solid"/>
                      <a:round/>
                      <a:headEnd type="none" w="med" len="med"/>
                      <a:tailEnd type="none" w="med" len="med"/>
                    </a:lnL>
                    <a:lnR w="12700" cap="flat" cmpd="sng" algn="ctr">
                      <a:solidFill>
                        <a:srgbClr val="C1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1C0BC"/>
                      </a:solidFill>
                      <a:prstDash val="solid"/>
                      <a:round/>
                      <a:headEnd type="none" w="med" len="med"/>
                      <a:tailEnd type="none" w="med" len="med"/>
                    </a:lnB>
                    <a:solidFill>
                      <a:srgbClr val="F2F1EC"/>
                    </a:solidFill>
                  </a:tcPr>
                </a:tc>
                <a:extLst>
                  <a:ext uri="{0D108BD9-81ED-4DB2-BD59-A6C34878D82A}">
                    <a16:rowId xmlns:a16="http://schemas.microsoft.com/office/drawing/2014/main" val="10000"/>
                  </a:ext>
                </a:extLst>
              </a:tr>
              <a:tr h="590451">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higherwave/mcp</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1C0BC"/>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The Carbon baseline: a Vite, React and TypeScript scaffold with Carbon wired in</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1C0BC"/>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Starting point for new apps</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1C0BC"/>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1"/>
                  </a:ext>
                </a:extLst>
              </a:tr>
              <a:tr h="590451">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higherwave/design-system-mcp</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The MCP server: component allow-list, tokens, pattern registry, validation rules</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Consulted by Claude on every build</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2"/>
                  </a:ext>
                </a:extLst>
              </a:tr>
              <a:tr h="590451">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higherwave/apptest1</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Whirl, the pilot app rebuilt from a Claude Design prototype, with Airtable styles</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Test bed that auto-deploys to Vercel</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812800" y="4429323"/>
            <a:ext cx="915670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1454D"/>
                </a:solidFill>
                <a:latin typeface="Inter" pitchFamily="34" charset="0"/>
                <a:ea typeface="Inter" pitchFamily="34" charset="-122"/>
                <a:cs typeface="Inter" pitchFamily="34" charset="-120"/>
              </a:rPr>
              <a:t>Keeping the rules in their own server means any number of apps can share one design system, and changing a rule changes it for all of them.</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6"/>
                </a:solidFill>
                <a:latin typeface="Inter" pitchFamily="34" charset="0"/>
                <a:ea typeface="Inter" pitchFamily="34" charset="-122"/>
                <a:cs typeface="Inter" pitchFamily="34" charset="-120"/>
              </a:rPr>
              <a:t>4 · Setup</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A2D00"/>
                </a:solidFill>
                <a:latin typeface="Inter" pitchFamily="34" charset="0"/>
                <a:ea typeface="Inter" pitchFamily="34" charset="-122"/>
                <a:cs typeface="Inter" pitchFamily="34" charset="-120"/>
              </a:rPr>
              <a:t>1 · SETUP</a:t>
            </a:r>
            <a:endParaRPr lang="en-US" sz="1200" dirty="0"/>
          </a:p>
        </p:txBody>
      </p:sp>
      <p:sp>
        <p:nvSpPr>
          <p:cNvPr id="3" name="Text 1"/>
          <p:cNvSpPr/>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181D26"/>
                </a:solidFill>
                <a:latin typeface="Inter" pitchFamily="34" charset="0"/>
                <a:ea typeface="Inter" pitchFamily="34" charset="-122"/>
                <a:cs typeface="Inter" pitchFamily="34" charset="-120"/>
              </a:rPr>
              <a:t>Six tools Claude calls while it builds</a:t>
            </a:r>
            <a:endParaRPr lang="en-US" sz="3200" dirty="0"/>
          </a:p>
        </p:txBody>
      </p:sp>
      <p:sp>
        <p:nvSpPr>
          <p:cNvPr id="4" name="Shape 2"/>
          <p:cNvSpPr/>
          <p:nvPr/>
        </p:nvSpPr>
        <p:spPr>
          <a:xfrm>
            <a:off x="815975" y="1882725"/>
            <a:ext cx="3414167" cy="1473051"/>
          </a:xfrm>
          <a:prstGeom prst="roundRect">
            <a:avLst>
              <a:gd name="adj" fmla="val 6682"/>
            </a:avLst>
          </a:prstGeom>
          <a:solidFill>
            <a:srgbClr val="FEFEFC"/>
          </a:solidFill>
          <a:ln w="6350">
            <a:solidFill>
              <a:srgbClr val="DDDBD5"/>
            </a:solidFill>
            <a:prstDash val="solid"/>
          </a:ln>
        </p:spPr>
        <p:txBody>
          <a:bodyPr/>
          <a:lstStyle/>
          <a:p>
            <a:endParaRPr lang="en-US"/>
          </a:p>
        </p:txBody>
      </p:sp>
      <p:sp>
        <p:nvSpPr>
          <p:cNvPr id="5" name="Text 3"/>
          <p:cNvSpPr/>
          <p:nvPr/>
        </p:nvSpPr>
        <p:spPr>
          <a:xfrm>
            <a:off x="1022350" y="2089100"/>
            <a:ext cx="30914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62FE"/>
                </a:solidFill>
                <a:latin typeface="Inter" pitchFamily="34" charset="0"/>
                <a:ea typeface="Inter" pitchFamily="34" charset="-122"/>
                <a:cs typeface="Inter" pitchFamily="34" charset="-120"/>
              </a:rPr>
              <a:t>Before building</a:t>
            </a:r>
            <a:endParaRPr lang="en-US" sz="1200" dirty="0"/>
          </a:p>
        </p:txBody>
      </p:sp>
      <p:sp>
        <p:nvSpPr>
          <p:cNvPr id="6" name="Text 4"/>
          <p:cNvSpPr/>
          <p:nvPr/>
        </p:nvSpPr>
        <p:spPr>
          <a:xfrm>
            <a:off x="1022350" y="2378621"/>
            <a:ext cx="3091459"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81D26"/>
                </a:solidFill>
                <a:latin typeface="JetBrains Mono" pitchFamily="34" charset="0"/>
                <a:ea typeface="JetBrains Mono" pitchFamily="34" charset="-122"/>
                <a:cs typeface="JetBrains Mono" pitchFamily="34" charset="-120"/>
              </a:rPr>
              <a:t>list_components</a:t>
            </a:r>
            <a:endParaRPr lang="en-US" sz="1400" dirty="0"/>
          </a:p>
        </p:txBody>
      </p:sp>
      <p:sp>
        <p:nvSpPr>
          <p:cNvPr id="7" name="Text 5"/>
          <p:cNvSpPr/>
          <p:nvPr/>
        </p:nvSpPr>
        <p:spPr>
          <a:xfrm>
            <a:off x="1022350" y="2703711"/>
            <a:ext cx="3091459"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The allow-list of Carbon components, with import paths and usage notes</a:t>
            </a:r>
            <a:endParaRPr lang="en-US" sz="1300" dirty="0"/>
          </a:p>
        </p:txBody>
      </p:sp>
      <p:sp>
        <p:nvSpPr>
          <p:cNvPr id="8" name="Shape 6"/>
          <p:cNvSpPr/>
          <p:nvPr/>
        </p:nvSpPr>
        <p:spPr>
          <a:xfrm>
            <a:off x="4388892" y="1882725"/>
            <a:ext cx="3414167" cy="1473051"/>
          </a:xfrm>
          <a:prstGeom prst="roundRect">
            <a:avLst>
              <a:gd name="adj" fmla="val 6682"/>
            </a:avLst>
          </a:prstGeom>
          <a:solidFill>
            <a:srgbClr val="FEFEFC"/>
          </a:solidFill>
          <a:ln w="6350">
            <a:solidFill>
              <a:srgbClr val="DDDBD5"/>
            </a:solidFill>
            <a:prstDash val="solid"/>
          </a:ln>
        </p:spPr>
        <p:txBody>
          <a:bodyPr/>
          <a:lstStyle/>
          <a:p>
            <a:endParaRPr lang="en-US"/>
          </a:p>
        </p:txBody>
      </p:sp>
      <p:sp>
        <p:nvSpPr>
          <p:cNvPr id="9" name="Text 7"/>
          <p:cNvSpPr/>
          <p:nvPr/>
        </p:nvSpPr>
        <p:spPr>
          <a:xfrm>
            <a:off x="4595267" y="2089100"/>
            <a:ext cx="30914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62FE"/>
                </a:solidFill>
                <a:latin typeface="Inter" pitchFamily="34" charset="0"/>
                <a:ea typeface="Inter" pitchFamily="34" charset="-122"/>
                <a:cs typeface="Inter" pitchFamily="34" charset="-120"/>
              </a:rPr>
              <a:t>Before building</a:t>
            </a:r>
            <a:endParaRPr lang="en-US" sz="1200" dirty="0"/>
          </a:p>
        </p:txBody>
      </p:sp>
      <p:sp>
        <p:nvSpPr>
          <p:cNvPr id="10" name="Text 8"/>
          <p:cNvSpPr/>
          <p:nvPr/>
        </p:nvSpPr>
        <p:spPr>
          <a:xfrm>
            <a:off x="4595267" y="2378621"/>
            <a:ext cx="3091459"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81D26"/>
                </a:solidFill>
                <a:latin typeface="JetBrains Mono" pitchFamily="34" charset="0"/>
                <a:ea typeface="JetBrains Mono" pitchFamily="34" charset="-122"/>
                <a:cs typeface="JetBrains Mono" pitchFamily="34" charset="-120"/>
              </a:rPr>
              <a:t>list_design_tokens</a:t>
            </a:r>
            <a:endParaRPr lang="en-US" sz="1400" dirty="0"/>
          </a:p>
        </p:txBody>
      </p:sp>
      <p:sp>
        <p:nvSpPr>
          <p:cNvPr id="11" name="Text 9"/>
          <p:cNvSpPr/>
          <p:nvPr/>
        </p:nvSpPr>
        <p:spPr>
          <a:xfrm>
            <a:off x="4595267" y="2703711"/>
            <a:ext cx="3091459"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How to use color, spacing and type tokens instead of raw values</a:t>
            </a:r>
            <a:endParaRPr lang="en-US" sz="1300" dirty="0"/>
          </a:p>
        </p:txBody>
      </p:sp>
      <p:sp>
        <p:nvSpPr>
          <p:cNvPr id="12" name="Shape 10"/>
          <p:cNvSpPr/>
          <p:nvPr/>
        </p:nvSpPr>
        <p:spPr>
          <a:xfrm>
            <a:off x="7961809" y="1882725"/>
            <a:ext cx="3414216" cy="1473051"/>
          </a:xfrm>
          <a:prstGeom prst="roundRect">
            <a:avLst>
              <a:gd name="adj" fmla="val 6682"/>
            </a:avLst>
          </a:prstGeom>
          <a:solidFill>
            <a:srgbClr val="FEFEFC"/>
          </a:solidFill>
          <a:ln w="6350">
            <a:solidFill>
              <a:srgbClr val="DDDBD5"/>
            </a:solidFill>
            <a:prstDash val="solid"/>
          </a:ln>
        </p:spPr>
        <p:txBody>
          <a:bodyPr/>
          <a:lstStyle/>
          <a:p>
            <a:endParaRPr lang="en-US"/>
          </a:p>
        </p:txBody>
      </p:sp>
      <p:sp>
        <p:nvSpPr>
          <p:cNvPr id="13" name="Text 11"/>
          <p:cNvSpPr/>
          <p:nvPr/>
        </p:nvSpPr>
        <p:spPr>
          <a:xfrm>
            <a:off x="8168184" y="2089100"/>
            <a:ext cx="30915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62FE"/>
                </a:solidFill>
                <a:latin typeface="Inter" pitchFamily="34" charset="0"/>
                <a:ea typeface="Inter" pitchFamily="34" charset="-122"/>
                <a:cs typeface="Inter" pitchFamily="34" charset="-120"/>
              </a:rPr>
              <a:t>Before building</a:t>
            </a:r>
            <a:endParaRPr lang="en-US" sz="1200" dirty="0"/>
          </a:p>
        </p:txBody>
      </p:sp>
      <p:sp>
        <p:nvSpPr>
          <p:cNvPr id="14" name="Text 12"/>
          <p:cNvSpPr/>
          <p:nvPr/>
        </p:nvSpPr>
        <p:spPr>
          <a:xfrm>
            <a:off x="8168184" y="2378621"/>
            <a:ext cx="309151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81D26"/>
                </a:solidFill>
                <a:latin typeface="JetBrains Mono" pitchFamily="34" charset="0"/>
                <a:ea typeface="JetBrains Mono" pitchFamily="34" charset="-122"/>
                <a:cs typeface="JetBrains Mono" pitchFamily="34" charset="-120"/>
              </a:rPr>
              <a:t>search_patterns</a:t>
            </a:r>
            <a:endParaRPr lang="en-US" sz="1400" dirty="0"/>
          </a:p>
        </p:txBody>
      </p:sp>
      <p:sp>
        <p:nvSpPr>
          <p:cNvPr id="15" name="Text 13"/>
          <p:cNvSpPr/>
          <p:nvPr/>
        </p:nvSpPr>
        <p:spPr>
          <a:xfrm>
            <a:off x="8168184" y="2703711"/>
            <a:ext cx="309151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Finds pages already built, by tag, page type or components used</a:t>
            </a:r>
            <a:endParaRPr lang="en-US" sz="1300" dirty="0"/>
          </a:p>
        </p:txBody>
      </p:sp>
      <p:sp>
        <p:nvSpPr>
          <p:cNvPr id="16" name="Shape 14"/>
          <p:cNvSpPr/>
          <p:nvPr/>
        </p:nvSpPr>
        <p:spPr>
          <a:xfrm>
            <a:off x="815975" y="3514527"/>
            <a:ext cx="3414167" cy="1473051"/>
          </a:xfrm>
          <a:prstGeom prst="roundRect">
            <a:avLst>
              <a:gd name="adj" fmla="val 6682"/>
            </a:avLst>
          </a:prstGeom>
          <a:solidFill>
            <a:srgbClr val="FEFEFC"/>
          </a:solidFill>
          <a:ln w="6350">
            <a:solidFill>
              <a:srgbClr val="DDDBD5"/>
            </a:solidFill>
            <a:prstDash val="solid"/>
          </a:ln>
        </p:spPr>
        <p:txBody>
          <a:bodyPr/>
          <a:lstStyle/>
          <a:p>
            <a:endParaRPr lang="en-US"/>
          </a:p>
        </p:txBody>
      </p:sp>
      <p:sp>
        <p:nvSpPr>
          <p:cNvPr id="17" name="Text 15"/>
          <p:cNvSpPr/>
          <p:nvPr/>
        </p:nvSpPr>
        <p:spPr>
          <a:xfrm>
            <a:off x="1022350" y="3720902"/>
            <a:ext cx="30914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62FE"/>
                </a:solidFill>
                <a:latin typeface="Inter" pitchFamily="34" charset="0"/>
                <a:ea typeface="Inter" pitchFamily="34" charset="-122"/>
                <a:cs typeface="Inter" pitchFamily="34" charset="-120"/>
              </a:rPr>
              <a:t>Before building</a:t>
            </a:r>
            <a:endParaRPr lang="en-US" sz="1200" dirty="0"/>
          </a:p>
        </p:txBody>
      </p:sp>
      <p:sp>
        <p:nvSpPr>
          <p:cNvPr id="18" name="Text 16"/>
          <p:cNvSpPr/>
          <p:nvPr/>
        </p:nvSpPr>
        <p:spPr>
          <a:xfrm>
            <a:off x="1022350" y="4010422"/>
            <a:ext cx="3091459"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81D26"/>
                </a:solidFill>
                <a:latin typeface="JetBrains Mono" pitchFamily="34" charset="0"/>
                <a:ea typeface="JetBrains Mono" pitchFamily="34" charset="-122"/>
                <a:cs typeface="JetBrains Mono" pitchFamily="34" charset="-120"/>
              </a:rPr>
              <a:t>get_pattern</a:t>
            </a:r>
            <a:endParaRPr lang="en-US" sz="1400" dirty="0"/>
          </a:p>
        </p:txBody>
      </p:sp>
      <p:sp>
        <p:nvSpPr>
          <p:cNvPr id="19" name="Text 17"/>
          <p:cNvSpPr/>
          <p:nvPr/>
        </p:nvSpPr>
        <p:spPr>
          <a:xfrm>
            <a:off x="1022350" y="4335512"/>
            <a:ext cx="3091459"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Pulls the full detail and source of a matching pattern</a:t>
            </a:r>
            <a:endParaRPr lang="en-US" sz="1300" dirty="0"/>
          </a:p>
        </p:txBody>
      </p:sp>
      <p:sp>
        <p:nvSpPr>
          <p:cNvPr id="20" name="Shape 18"/>
          <p:cNvSpPr/>
          <p:nvPr/>
        </p:nvSpPr>
        <p:spPr>
          <a:xfrm>
            <a:off x="4388892" y="3514527"/>
            <a:ext cx="3414167" cy="1473051"/>
          </a:xfrm>
          <a:prstGeom prst="roundRect">
            <a:avLst>
              <a:gd name="adj" fmla="val 6682"/>
            </a:avLst>
          </a:prstGeom>
          <a:solidFill>
            <a:srgbClr val="FEFEFC"/>
          </a:solidFill>
          <a:ln w="6350">
            <a:solidFill>
              <a:srgbClr val="DDDBD5"/>
            </a:solidFill>
            <a:prstDash val="solid"/>
          </a:ln>
        </p:spPr>
        <p:txBody>
          <a:bodyPr/>
          <a:lstStyle/>
          <a:p>
            <a:endParaRPr lang="en-US"/>
          </a:p>
        </p:txBody>
      </p:sp>
      <p:sp>
        <p:nvSpPr>
          <p:cNvPr id="21" name="Text 19"/>
          <p:cNvSpPr/>
          <p:nvPr/>
        </p:nvSpPr>
        <p:spPr>
          <a:xfrm>
            <a:off x="4595267" y="3720902"/>
            <a:ext cx="30914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A2D00"/>
                </a:solidFill>
                <a:latin typeface="Inter" pitchFamily="34" charset="0"/>
                <a:ea typeface="Inter" pitchFamily="34" charset="-122"/>
                <a:cs typeface="Inter" pitchFamily="34" charset="-120"/>
              </a:rPr>
              <a:t>After building</a:t>
            </a:r>
            <a:endParaRPr lang="en-US" sz="1200" dirty="0"/>
          </a:p>
        </p:txBody>
      </p:sp>
      <p:sp>
        <p:nvSpPr>
          <p:cNvPr id="22" name="Text 20"/>
          <p:cNvSpPr/>
          <p:nvPr/>
        </p:nvSpPr>
        <p:spPr>
          <a:xfrm>
            <a:off x="4595267" y="4010422"/>
            <a:ext cx="3091459"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81D26"/>
                </a:solidFill>
                <a:latin typeface="JetBrains Mono" pitchFamily="34" charset="0"/>
                <a:ea typeface="JetBrains Mono" pitchFamily="34" charset="-122"/>
                <a:cs typeface="JetBrains Mono" pitchFamily="34" charset="-120"/>
              </a:rPr>
              <a:t>validate_page</a:t>
            </a:r>
            <a:endParaRPr lang="en-US" sz="1400" dirty="0"/>
          </a:p>
        </p:txBody>
      </p:sp>
      <p:sp>
        <p:nvSpPr>
          <p:cNvPr id="23" name="Text 21"/>
          <p:cNvSpPr/>
          <p:nvPr/>
        </p:nvSpPr>
        <p:spPr>
          <a:xfrm>
            <a:off x="4595267" y="4335512"/>
            <a:ext cx="3091459"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Checks generated code against the rules before it is committed</a:t>
            </a:r>
            <a:endParaRPr lang="en-US" sz="1300" dirty="0"/>
          </a:p>
        </p:txBody>
      </p:sp>
      <p:sp>
        <p:nvSpPr>
          <p:cNvPr id="24" name="Shape 22"/>
          <p:cNvSpPr/>
          <p:nvPr/>
        </p:nvSpPr>
        <p:spPr>
          <a:xfrm>
            <a:off x="7961809" y="3514527"/>
            <a:ext cx="3414216" cy="1473051"/>
          </a:xfrm>
          <a:prstGeom prst="roundRect">
            <a:avLst>
              <a:gd name="adj" fmla="val 6682"/>
            </a:avLst>
          </a:prstGeom>
          <a:solidFill>
            <a:srgbClr val="FEFEFC"/>
          </a:solidFill>
          <a:ln w="6350">
            <a:solidFill>
              <a:srgbClr val="DDDBD5"/>
            </a:solidFill>
            <a:prstDash val="solid"/>
          </a:ln>
        </p:spPr>
        <p:txBody>
          <a:bodyPr/>
          <a:lstStyle/>
          <a:p>
            <a:endParaRPr lang="en-US"/>
          </a:p>
        </p:txBody>
      </p:sp>
      <p:sp>
        <p:nvSpPr>
          <p:cNvPr id="25" name="Text 23"/>
          <p:cNvSpPr/>
          <p:nvPr/>
        </p:nvSpPr>
        <p:spPr>
          <a:xfrm>
            <a:off x="8168184" y="3720902"/>
            <a:ext cx="30915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A2D00"/>
                </a:solidFill>
                <a:latin typeface="Inter" pitchFamily="34" charset="0"/>
                <a:ea typeface="Inter" pitchFamily="34" charset="-122"/>
                <a:cs typeface="Inter" pitchFamily="34" charset="-120"/>
              </a:rPr>
              <a:t>After building</a:t>
            </a:r>
            <a:endParaRPr lang="en-US" sz="1200" dirty="0"/>
          </a:p>
        </p:txBody>
      </p:sp>
      <p:sp>
        <p:nvSpPr>
          <p:cNvPr id="26" name="Text 24"/>
          <p:cNvSpPr/>
          <p:nvPr/>
        </p:nvSpPr>
        <p:spPr>
          <a:xfrm>
            <a:off x="8168184" y="4010422"/>
            <a:ext cx="309151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81D26"/>
                </a:solidFill>
                <a:latin typeface="JetBrains Mono" pitchFamily="34" charset="0"/>
                <a:ea typeface="JetBrains Mono" pitchFamily="34" charset="-122"/>
                <a:cs typeface="JetBrains Mono" pitchFamily="34" charset="-120"/>
              </a:rPr>
              <a:t>register_pattern</a:t>
            </a:r>
            <a:endParaRPr lang="en-US" sz="1400" dirty="0"/>
          </a:p>
        </p:txBody>
      </p:sp>
      <p:sp>
        <p:nvSpPr>
          <p:cNvPr id="27" name="Text 25"/>
          <p:cNvSpPr/>
          <p:nvPr/>
        </p:nvSpPr>
        <p:spPr>
          <a:xfrm>
            <a:off x="8168184" y="4335512"/>
            <a:ext cx="309151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Opens a pull request adding a finished page to the registry</a:t>
            </a:r>
            <a:endParaRPr lang="en-US" sz="13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6"/>
                </a:solidFill>
                <a:latin typeface="Inter" pitchFamily="34" charset="0"/>
                <a:ea typeface="Inter" pitchFamily="34" charset="-122"/>
                <a:cs typeface="Inter" pitchFamily="34" charset="-120"/>
              </a:rPr>
              <a:t>5 · Setup</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A2D00"/>
                </a:solidFill>
                <a:latin typeface="Inter" pitchFamily="34" charset="0"/>
                <a:ea typeface="Inter" pitchFamily="34" charset="-122"/>
                <a:cs typeface="Inter" pitchFamily="34" charset="-120"/>
              </a:rPr>
              <a:t>1 · SETUP</a:t>
            </a:r>
            <a:endParaRPr lang="en-US" sz="1200" dirty="0"/>
          </a:p>
        </p:txBody>
      </p:sp>
      <p:sp>
        <p:nvSpPr>
          <p:cNvPr id="3" name="Text 1"/>
          <p:cNvSpPr/>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181D26"/>
                </a:solidFill>
                <a:latin typeface="Inter" pitchFamily="34" charset="0"/>
                <a:ea typeface="Inter" pitchFamily="34" charset="-122"/>
                <a:cs typeface="Inter" pitchFamily="34" charset="-120"/>
              </a:rPr>
              <a:t>Two layers: Carbon for structure, Airtable for style</a:t>
            </a:r>
            <a:endParaRPr lang="en-US" sz="3200" dirty="0"/>
          </a:p>
        </p:txBody>
      </p:sp>
      <p:sp>
        <p:nvSpPr>
          <p:cNvPr id="4" name="Shape 2"/>
          <p:cNvSpPr/>
          <p:nvPr/>
        </p:nvSpPr>
        <p:spPr>
          <a:xfrm>
            <a:off x="815975" y="1882725"/>
            <a:ext cx="5175250" cy="1982440"/>
          </a:xfrm>
          <a:prstGeom prst="roundRect">
            <a:avLst>
              <a:gd name="adj" fmla="val 4965"/>
            </a:avLst>
          </a:prstGeom>
          <a:solidFill>
            <a:srgbClr val="FEFEFC"/>
          </a:solidFill>
          <a:ln w="6350">
            <a:solidFill>
              <a:srgbClr val="DDDBD5"/>
            </a:solidFill>
            <a:prstDash val="solid"/>
          </a:ln>
        </p:spPr>
        <p:txBody>
          <a:bodyPr/>
          <a:lstStyle/>
          <a:p>
            <a:endParaRPr lang="en-US"/>
          </a:p>
        </p:txBody>
      </p:sp>
      <p:sp>
        <p:nvSpPr>
          <p:cNvPr id="5" name="Text 3"/>
          <p:cNvSpPr/>
          <p:nvPr/>
        </p:nvSpPr>
        <p:spPr>
          <a:xfrm>
            <a:off x="1073150" y="2139900"/>
            <a:ext cx="4800727" cy="299690"/>
          </a:xfrm>
          <a:prstGeom prst="rect">
            <a:avLst/>
          </a:prstGeom>
          <a:noFill/>
          <a:ln/>
        </p:spPr>
        <p:txBody>
          <a:bodyPr wrap="square" lIns="0" tIns="0" rIns="0" bIns="0" rtlCol="0" anchor="t">
            <a:normAutofit/>
          </a:bodyPr>
          <a:lstStyle/>
          <a:p>
            <a:pPr marL="0" indent="0" algn="l">
              <a:lnSpc>
                <a:spcPts val="2160"/>
              </a:lnSpc>
              <a:buNone/>
            </a:pPr>
            <a:r>
              <a:rPr lang="en-US" sz="1800" dirty="0">
                <a:solidFill>
                  <a:srgbClr val="0F62FE"/>
                </a:solidFill>
                <a:latin typeface="Inter" pitchFamily="34" charset="0"/>
                <a:ea typeface="Inter" pitchFamily="34" charset="-122"/>
                <a:cs typeface="Inter" pitchFamily="34" charset="-120"/>
              </a:rPr>
              <a:t>What stays Carbon</a:t>
            </a:r>
            <a:endParaRPr lang="en-US" sz="1800" dirty="0"/>
          </a:p>
        </p:txBody>
      </p:sp>
      <p:sp>
        <p:nvSpPr>
          <p:cNvPr id="6" name="Text 4"/>
          <p:cNvSpPr/>
          <p:nvPr/>
        </p:nvSpPr>
        <p:spPr>
          <a:xfrm>
            <a:off x="1073150" y="2541191"/>
            <a:ext cx="4800727" cy="1092200"/>
          </a:xfrm>
          <a:prstGeom prst="rect">
            <a:avLst/>
          </a:prstGeom>
          <a:noFill/>
          <a:ln/>
        </p:spPr>
        <p:txBody>
          <a:bodyPr wrap="square" lIns="0" tIns="0" rIns="0" bIns="0" rtlCol="0" anchor="t">
            <a:normAutofit/>
          </a:bodyPr>
          <a:lstStyle/>
          <a:p>
            <a:pPr marL="213360" indent="-169418" algn="l">
              <a:lnSpc>
                <a:spcPts val="2100"/>
              </a:lnSpc>
              <a:buSzPct val="100000"/>
              <a:buChar char="•"/>
            </a:pPr>
            <a:r>
              <a:rPr lang="en-US" sz="1400" dirty="0">
                <a:solidFill>
                  <a:srgbClr val="41454D"/>
                </a:solidFill>
                <a:latin typeface="Inter" pitchFamily="34" charset="0"/>
                <a:ea typeface="Inter" pitchFamily="34" charset="-122"/>
                <a:cs typeface="Inter" pitchFamily="34" charset="-120"/>
              </a:rPr>
              <a:t>React components and their behavior</a:t>
            </a:r>
            <a:endParaRPr lang="en-US" sz="1400" dirty="0"/>
          </a:p>
          <a:p>
            <a:pPr marL="213360" indent="-169418" algn="l">
              <a:lnSpc>
                <a:spcPts val="2100"/>
              </a:lnSpc>
              <a:buSzPct val="100000"/>
              <a:buChar char="•"/>
            </a:pPr>
            <a:r>
              <a:rPr lang="en-US" sz="1400" dirty="0">
                <a:solidFill>
                  <a:srgbClr val="41454D"/>
                </a:solidFill>
                <a:latin typeface="Inter" pitchFamily="34" charset="0"/>
                <a:ea typeface="Inter" pitchFamily="34" charset="-122"/>
                <a:cs typeface="Inter" pitchFamily="34" charset="-120"/>
              </a:rPr>
              <a:t>Keyboard, focus and screen-reader support</a:t>
            </a:r>
            <a:endParaRPr lang="en-US" sz="1400" dirty="0"/>
          </a:p>
          <a:p>
            <a:pPr marL="213360" indent="-169418" algn="l">
              <a:lnSpc>
                <a:spcPts val="2100"/>
              </a:lnSpc>
              <a:buSzPct val="100000"/>
              <a:buChar char="•"/>
            </a:pPr>
            <a:r>
              <a:rPr lang="en-US" sz="1400" dirty="0">
                <a:solidFill>
                  <a:srgbClr val="41454D"/>
                </a:solidFill>
                <a:latin typeface="Inter" pitchFamily="34" charset="0"/>
                <a:ea typeface="Inter" pitchFamily="34" charset="-122"/>
                <a:cs typeface="Inter" pitchFamily="34" charset="-120"/>
              </a:rPr>
              <a:t>The token names components read (--cds-*)</a:t>
            </a:r>
            <a:endParaRPr lang="en-US" sz="1400" dirty="0"/>
          </a:p>
          <a:p>
            <a:pPr marL="213360" indent="-169418" algn="l">
              <a:lnSpc>
                <a:spcPts val="2100"/>
              </a:lnSpc>
              <a:buSzPct val="100000"/>
              <a:buChar char="•"/>
            </a:pPr>
            <a:r>
              <a:rPr lang="en-US" sz="1400" dirty="0">
                <a:solidFill>
                  <a:srgbClr val="41454D"/>
                </a:solidFill>
                <a:latin typeface="Inter" pitchFamily="34" charset="0"/>
                <a:ea typeface="Inter" pitchFamily="34" charset="-122"/>
                <a:cs typeface="Inter" pitchFamily="34" charset="-120"/>
              </a:rPr>
              <a:t>Spacing scale and layout grid</a:t>
            </a:r>
            <a:endParaRPr lang="en-US" sz="1400" dirty="0"/>
          </a:p>
        </p:txBody>
      </p:sp>
      <p:sp>
        <p:nvSpPr>
          <p:cNvPr id="7" name="Shape 5"/>
          <p:cNvSpPr/>
          <p:nvPr/>
        </p:nvSpPr>
        <p:spPr>
          <a:xfrm>
            <a:off x="6200775" y="1882725"/>
            <a:ext cx="5175250" cy="1982440"/>
          </a:xfrm>
          <a:prstGeom prst="roundRect">
            <a:avLst>
              <a:gd name="adj" fmla="val 4965"/>
            </a:avLst>
          </a:prstGeom>
          <a:solidFill>
            <a:srgbClr val="FEFEFC"/>
          </a:solidFill>
          <a:ln w="6350">
            <a:solidFill>
              <a:srgbClr val="DDDBD5"/>
            </a:solidFill>
            <a:prstDash val="solid"/>
          </a:ln>
        </p:spPr>
        <p:txBody>
          <a:bodyPr/>
          <a:lstStyle/>
          <a:p>
            <a:endParaRPr lang="en-US"/>
          </a:p>
        </p:txBody>
      </p:sp>
      <p:sp>
        <p:nvSpPr>
          <p:cNvPr id="8" name="Text 6"/>
          <p:cNvSpPr/>
          <p:nvPr/>
        </p:nvSpPr>
        <p:spPr>
          <a:xfrm>
            <a:off x="6457950" y="2139900"/>
            <a:ext cx="4800727" cy="299690"/>
          </a:xfrm>
          <a:prstGeom prst="rect">
            <a:avLst/>
          </a:prstGeom>
          <a:noFill/>
          <a:ln/>
        </p:spPr>
        <p:txBody>
          <a:bodyPr wrap="square" lIns="0" tIns="0" rIns="0" bIns="0" rtlCol="0" anchor="t">
            <a:normAutofit/>
          </a:bodyPr>
          <a:lstStyle/>
          <a:p>
            <a:pPr marL="0" indent="0" algn="l">
              <a:lnSpc>
                <a:spcPts val="2160"/>
              </a:lnSpc>
              <a:buNone/>
            </a:pPr>
            <a:r>
              <a:rPr lang="en-US" sz="1800" dirty="0">
                <a:solidFill>
                  <a:srgbClr val="AA2D00"/>
                </a:solidFill>
                <a:latin typeface="Inter" pitchFamily="34" charset="0"/>
                <a:ea typeface="Inter" pitchFamily="34" charset="-122"/>
                <a:cs typeface="Inter" pitchFamily="34" charset="-120"/>
              </a:rPr>
              <a:t>What Airtable's DESIGN.md sets</a:t>
            </a:r>
            <a:endParaRPr lang="en-US" sz="1800" dirty="0"/>
          </a:p>
        </p:txBody>
      </p:sp>
      <p:sp>
        <p:nvSpPr>
          <p:cNvPr id="9" name="Text 7"/>
          <p:cNvSpPr/>
          <p:nvPr/>
        </p:nvSpPr>
        <p:spPr>
          <a:xfrm>
            <a:off x="6457950" y="2541191"/>
            <a:ext cx="4800727" cy="1092200"/>
          </a:xfrm>
          <a:prstGeom prst="rect">
            <a:avLst/>
          </a:prstGeom>
          <a:noFill/>
          <a:ln/>
        </p:spPr>
        <p:txBody>
          <a:bodyPr wrap="square" lIns="0" tIns="0" rIns="0" bIns="0" rtlCol="0" anchor="t">
            <a:normAutofit/>
          </a:bodyPr>
          <a:lstStyle/>
          <a:p>
            <a:pPr marL="213360" indent="-169418" algn="l">
              <a:lnSpc>
                <a:spcPts val="2100"/>
              </a:lnSpc>
              <a:buSzPct val="100000"/>
              <a:buChar char="•"/>
            </a:pPr>
            <a:r>
              <a:rPr lang="en-US" sz="1400" dirty="0">
                <a:solidFill>
                  <a:srgbClr val="41454D"/>
                </a:solidFill>
                <a:latin typeface="Inter" pitchFamily="34" charset="0"/>
                <a:ea typeface="Inter" pitchFamily="34" charset="-122"/>
                <a:cs typeface="Inter" pitchFamily="34" charset="-120"/>
              </a:rPr>
              <a:t>Palette: ink, canvas, coral, yellow, info blue</a:t>
            </a:r>
            <a:endParaRPr lang="en-US" sz="1400" dirty="0"/>
          </a:p>
          <a:p>
            <a:pPr marL="213360" indent="-169418" algn="l">
              <a:lnSpc>
                <a:spcPts val="2100"/>
              </a:lnSpc>
              <a:buSzPct val="100000"/>
              <a:buChar char="•"/>
            </a:pPr>
            <a:r>
              <a:rPr lang="en-US" sz="1400" dirty="0">
                <a:solidFill>
                  <a:srgbClr val="41454D"/>
                </a:solidFill>
                <a:latin typeface="Inter" pitchFamily="34" charset="0"/>
                <a:ea typeface="Inter" pitchFamily="34" charset="-122"/>
                <a:cs typeface="Inter" pitchFamily="34" charset="-120"/>
              </a:rPr>
              <a:t>Type roles: title, label, body, caption, meta</a:t>
            </a:r>
            <a:endParaRPr lang="en-US" sz="1400" dirty="0"/>
          </a:p>
          <a:p>
            <a:pPr marL="213360" indent="-169418" algn="l">
              <a:lnSpc>
                <a:spcPts val="2100"/>
              </a:lnSpc>
              <a:buSzPct val="100000"/>
              <a:buChar char="•"/>
            </a:pPr>
            <a:r>
              <a:rPr lang="en-US" sz="1400" dirty="0">
                <a:solidFill>
                  <a:srgbClr val="41454D"/>
                </a:solidFill>
                <a:latin typeface="Inter" pitchFamily="34" charset="0"/>
                <a:ea typeface="Inter" pitchFamily="34" charset="-122"/>
                <a:cs typeface="Inter" pitchFamily="34" charset="-120"/>
              </a:rPr>
              <a:t>Corner radius scale, with no pill shapes</a:t>
            </a:r>
            <a:endParaRPr lang="en-US" sz="1400" dirty="0"/>
          </a:p>
          <a:p>
            <a:pPr marL="213360" indent="-169418" algn="l">
              <a:lnSpc>
                <a:spcPts val="2100"/>
              </a:lnSpc>
              <a:buSzPct val="100000"/>
              <a:buChar char="•"/>
            </a:pPr>
            <a:r>
              <a:rPr lang="en-US" sz="1400" dirty="0">
                <a:solidFill>
                  <a:srgbClr val="41454D"/>
                </a:solidFill>
                <a:latin typeface="Inter" pitchFamily="34" charset="0"/>
                <a:ea typeface="Inter" pitchFamily="34" charset="-122"/>
                <a:cs typeface="Inter" pitchFamily="34" charset="-120"/>
              </a:rPr>
              <a:t>Button pair, badges, cards, selected states</a:t>
            </a:r>
            <a:endParaRPr lang="en-US" sz="1400" dirty="0"/>
          </a:p>
        </p:txBody>
      </p:sp>
      <p:sp>
        <p:nvSpPr>
          <p:cNvPr id="10" name="Shape 8"/>
          <p:cNvSpPr/>
          <p:nvPr/>
        </p:nvSpPr>
        <p:spPr>
          <a:xfrm>
            <a:off x="812800" y="4173141"/>
            <a:ext cx="10566400" cy="980430"/>
          </a:xfrm>
          <a:prstGeom prst="roundRect">
            <a:avLst>
              <a:gd name="adj" fmla="val 10363"/>
            </a:avLst>
          </a:prstGeom>
          <a:solidFill>
            <a:srgbClr val="181D26"/>
          </a:solidFill>
          <a:ln/>
        </p:spPr>
        <p:txBody>
          <a:bodyPr/>
          <a:lstStyle/>
          <a:p>
            <a:endParaRPr lang="en-US"/>
          </a:p>
        </p:txBody>
      </p:sp>
      <p:sp>
        <p:nvSpPr>
          <p:cNvPr id="11" name="Text 9"/>
          <p:cNvSpPr/>
          <p:nvPr/>
        </p:nvSpPr>
        <p:spPr>
          <a:xfrm>
            <a:off x="1066800" y="4376341"/>
            <a:ext cx="1036015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5F3EE"/>
                </a:solidFill>
                <a:latin typeface="JetBrains Mono" pitchFamily="34" charset="0"/>
                <a:ea typeface="JetBrains Mono" pitchFamily="34" charset="-122"/>
                <a:cs typeface="JetBrains Mono" pitchFamily="34" charset="-120"/>
              </a:rPr>
              <a:t>--cds-text-primary: var(--at-ink);</a:t>
            </a:r>
            <a:endParaRPr lang="en-US" sz="1500" dirty="0"/>
          </a:p>
        </p:txBody>
      </p:sp>
      <p:sp>
        <p:nvSpPr>
          <p:cNvPr id="12" name="Text 10"/>
          <p:cNvSpPr/>
          <p:nvPr/>
        </p:nvSpPr>
        <p:spPr>
          <a:xfrm>
            <a:off x="1066800" y="4719241"/>
            <a:ext cx="1036015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CDD4"/>
                </a:solidFill>
                <a:latin typeface="Inter" pitchFamily="34" charset="0"/>
                <a:ea typeface="Inter" pitchFamily="34" charset="-122"/>
                <a:cs typeface="Inter" pitchFamily="34" charset="-120"/>
              </a:rPr>
              <a:t>One line points a Carbon token at an Airtable value, and every Carbon component that reads it follows.</a:t>
            </a:r>
            <a:endParaRPr lang="en-US" sz="13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6"/>
                </a:solidFill>
                <a:latin typeface="Inter" pitchFamily="34" charset="0"/>
                <a:ea typeface="Inter" pitchFamily="34" charset="-122"/>
                <a:cs typeface="Inter" pitchFamily="34" charset="-120"/>
              </a:rPr>
              <a:t>6 · Setup</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1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A2D00"/>
                </a:solidFill>
                <a:latin typeface="Inter" pitchFamily="34" charset="0"/>
                <a:ea typeface="Inter" pitchFamily="34" charset="-122"/>
                <a:cs typeface="Inter" pitchFamily="34" charset="-120"/>
              </a:rPr>
              <a:t>2 · CLAUDE DESIGN TO GITHUB</a:t>
            </a:r>
            <a:endParaRPr lang="en-US" sz="1200" dirty="0"/>
          </a:p>
        </p:txBody>
      </p:sp>
      <p:sp>
        <p:nvSpPr>
          <p:cNvPr id="3" name="Text 1"/>
          <p:cNvSpPr/>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181D26"/>
                </a:solidFill>
                <a:latin typeface="Inter" pitchFamily="34" charset="0"/>
                <a:ea typeface="Inter" pitchFamily="34" charset="-122"/>
                <a:cs typeface="Inter" pitchFamily="34" charset="-120"/>
              </a:rPr>
              <a:t>From a prototype to a live URL in six steps</a:t>
            </a:r>
            <a:endParaRPr lang="en-US" sz="3200" dirty="0"/>
          </a:p>
        </p:txBody>
      </p:sp>
      <p:sp>
        <p:nvSpPr>
          <p:cNvPr id="4" name="Shape 2"/>
          <p:cNvSpPr/>
          <p:nvPr/>
        </p:nvSpPr>
        <p:spPr>
          <a:xfrm>
            <a:off x="812800" y="1879550"/>
            <a:ext cx="3420517" cy="1328936"/>
          </a:xfrm>
          <a:prstGeom prst="roundRect">
            <a:avLst>
              <a:gd name="adj" fmla="val 7645"/>
            </a:avLst>
          </a:prstGeom>
          <a:solidFill>
            <a:srgbClr val="FEFEFC"/>
          </a:solidFill>
          <a:ln/>
        </p:spPr>
        <p:txBody>
          <a:bodyPr/>
          <a:lstStyle/>
          <a:p>
            <a:endParaRPr lang="en-US"/>
          </a:p>
        </p:txBody>
      </p:sp>
      <p:sp>
        <p:nvSpPr>
          <p:cNvPr id="5" name="Text 3"/>
          <p:cNvSpPr/>
          <p:nvPr/>
        </p:nvSpPr>
        <p:spPr>
          <a:xfrm>
            <a:off x="990600" y="2057350"/>
            <a:ext cx="3156864" cy="254000"/>
          </a:xfrm>
          <a:prstGeom prst="rect">
            <a:avLst/>
          </a:prstGeom>
          <a:noFill/>
          <a:ln/>
        </p:spPr>
        <p:txBody>
          <a:bodyPr wrap="square" lIns="0" tIns="0" rIns="0" bIns="0" rtlCol="0" anchor="t">
            <a:normAutofit/>
          </a:bodyPr>
          <a:lstStyle/>
          <a:p>
            <a:pPr marL="0" indent="0" algn="l">
              <a:lnSpc>
                <a:spcPts val="1800"/>
              </a:lnSpc>
              <a:buNone/>
            </a:pPr>
            <a:r>
              <a:rPr lang="en-US" sz="1500" dirty="0">
                <a:solidFill>
                  <a:srgbClr val="AA2D00"/>
                </a:solidFill>
                <a:latin typeface="Inter" pitchFamily="34" charset="0"/>
                <a:ea typeface="Inter" pitchFamily="34" charset="-122"/>
                <a:cs typeface="Inter" pitchFamily="34" charset="-120"/>
              </a:rPr>
              <a:t>1</a:t>
            </a:r>
            <a:r>
              <a:rPr lang="en-US" sz="1500" dirty="0">
                <a:solidFill>
                  <a:srgbClr val="181D26"/>
                </a:solidFill>
                <a:latin typeface="Inter" pitchFamily="34" charset="0"/>
                <a:ea typeface="Inter" pitchFamily="34" charset="-122"/>
                <a:cs typeface="Inter" pitchFamily="34" charset="-120"/>
              </a:rPr>
              <a:t> Design in Claude Design</a:t>
            </a:r>
            <a:endParaRPr lang="en-US" sz="1500" dirty="0"/>
          </a:p>
        </p:txBody>
      </p:sp>
      <p:sp>
        <p:nvSpPr>
          <p:cNvPr id="6" name="Text 4"/>
          <p:cNvSpPr/>
          <p:nvPr/>
        </p:nvSpPr>
        <p:spPr>
          <a:xfrm>
            <a:off x="990600" y="2362150"/>
            <a:ext cx="3156864"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Export the prototype and keep it in the repo as the reference</a:t>
            </a:r>
            <a:endParaRPr lang="en-US" sz="1300" dirty="0"/>
          </a:p>
        </p:txBody>
      </p:sp>
      <p:sp>
        <p:nvSpPr>
          <p:cNvPr id="7" name="Shape 5"/>
          <p:cNvSpPr/>
          <p:nvPr/>
        </p:nvSpPr>
        <p:spPr>
          <a:xfrm>
            <a:off x="4385717" y="1879550"/>
            <a:ext cx="3420517" cy="1328936"/>
          </a:xfrm>
          <a:prstGeom prst="roundRect">
            <a:avLst>
              <a:gd name="adj" fmla="val 7645"/>
            </a:avLst>
          </a:prstGeom>
          <a:solidFill>
            <a:srgbClr val="FEFEFC"/>
          </a:solidFill>
          <a:ln/>
        </p:spPr>
        <p:txBody>
          <a:bodyPr/>
          <a:lstStyle/>
          <a:p>
            <a:endParaRPr lang="en-US"/>
          </a:p>
        </p:txBody>
      </p:sp>
      <p:sp>
        <p:nvSpPr>
          <p:cNvPr id="8" name="Text 6"/>
          <p:cNvSpPr/>
          <p:nvPr/>
        </p:nvSpPr>
        <p:spPr>
          <a:xfrm>
            <a:off x="4563517" y="2057350"/>
            <a:ext cx="3156864" cy="254000"/>
          </a:xfrm>
          <a:prstGeom prst="rect">
            <a:avLst/>
          </a:prstGeom>
          <a:noFill/>
          <a:ln/>
        </p:spPr>
        <p:txBody>
          <a:bodyPr wrap="square" lIns="0" tIns="0" rIns="0" bIns="0" rtlCol="0" anchor="t">
            <a:normAutofit/>
          </a:bodyPr>
          <a:lstStyle/>
          <a:p>
            <a:pPr marL="0" indent="0" algn="l">
              <a:lnSpc>
                <a:spcPts val="1800"/>
              </a:lnSpc>
              <a:buNone/>
            </a:pPr>
            <a:r>
              <a:rPr lang="en-US" sz="1500" dirty="0">
                <a:solidFill>
                  <a:srgbClr val="AA2D00"/>
                </a:solidFill>
                <a:latin typeface="Inter" pitchFamily="34" charset="0"/>
                <a:ea typeface="Inter" pitchFamily="34" charset="-122"/>
                <a:cs typeface="Inter" pitchFamily="34" charset="-120"/>
              </a:rPr>
              <a:t>2</a:t>
            </a:r>
            <a:r>
              <a:rPr lang="en-US" sz="1500" dirty="0">
                <a:solidFill>
                  <a:srgbClr val="181D26"/>
                </a:solidFill>
                <a:latin typeface="Inter" pitchFamily="34" charset="0"/>
                <a:ea typeface="Inter" pitchFamily="34" charset="-122"/>
                <a:cs typeface="Inter" pitchFamily="34" charset="-120"/>
              </a:rPr>
              <a:t> Open it in VS Code</a:t>
            </a:r>
            <a:endParaRPr lang="en-US" sz="1500" dirty="0"/>
          </a:p>
        </p:txBody>
      </p:sp>
      <p:sp>
        <p:nvSpPr>
          <p:cNvPr id="9" name="Text 7"/>
          <p:cNvSpPr/>
          <p:nvPr/>
        </p:nvSpPr>
        <p:spPr>
          <a:xfrm>
            <a:off x="4563517" y="2362150"/>
            <a:ext cx="3156864"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Claude Code clones the repo and reads the prototype and the MCP rules</a:t>
            </a:r>
            <a:endParaRPr lang="en-US" sz="1300" dirty="0"/>
          </a:p>
        </p:txBody>
      </p:sp>
      <p:sp>
        <p:nvSpPr>
          <p:cNvPr id="10" name="Shape 8"/>
          <p:cNvSpPr/>
          <p:nvPr/>
        </p:nvSpPr>
        <p:spPr>
          <a:xfrm>
            <a:off x="7958634" y="1879550"/>
            <a:ext cx="3420566" cy="1328936"/>
          </a:xfrm>
          <a:prstGeom prst="roundRect">
            <a:avLst>
              <a:gd name="adj" fmla="val 7645"/>
            </a:avLst>
          </a:prstGeom>
          <a:solidFill>
            <a:srgbClr val="FEFEFC"/>
          </a:solidFill>
          <a:ln/>
        </p:spPr>
        <p:txBody>
          <a:bodyPr/>
          <a:lstStyle/>
          <a:p>
            <a:endParaRPr lang="en-US"/>
          </a:p>
        </p:txBody>
      </p:sp>
      <p:sp>
        <p:nvSpPr>
          <p:cNvPr id="11" name="Text 9"/>
          <p:cNvSpPr/>
          <p:nvPr/>
        </p:nvSpPr>
        <p:spPr>
          <a:xfrm>
            <a:off x="8136434" y="2057350"/>
            <a:ext cx="3156915" cy="254000"/>
          </a:xfrm>
          <a:prstGeom prst="rect">
            <a:avLst/>
          </a:prstGeom>
          <a:noFill/>
          <a:ln/>
        </p:spPr>
        <p:txBody>
          <a:bodyPr wrap="square" lIns="0" tIns="0" rIns="0" bIns="0" rtlCol="0" anchor="t">
            <a:normAutofit/>
          </a:bodyPr>
          <a:lstStyle/>
          <a:p>
            <a:pPr marL="0" indent="0" algn="l">
              <a:lnSpc>
                <a:spcPts val="1800"/>
              </a:lnSpc>
              <a:buNone/>
            </a:pPr>
            <a:r>
              <a:rPr lang="en-US" sz="1500" dirty="0">
                <a:solidFill>
                  <a:srgbClr val="AA2D00"/>
                </a:solidFill>
                <a:latin typeface="Inter" pitchFamily="34" charset="0"/>
                <a:ea typeface="Inter" pitchFamily="34" charset="-122"/>
                <a:cs typeface="Inter" pitchFamily="34" charset="-120"/>
              </a:rPr>
              <a:t>3</a:t>
            </a:r>
            <a:r>
              <a:rPr lang="en-US" sz="1500" dirty="0">
                <a:solidFill>
                  <a:srgbClr val="181D26"/>
                </a:solidFill>
                <a:latin typeface="Inter" pitchFamily="34" charset="0"/>
                <a:ea typeface="Inter" pitchFamily="34" charset="-122"/>
                <a:cs typeface="Inter" pitchFamily="34" charset="-120"/>
              </a:rPr>
              <a:t> Rebuild with Carbon</a:t>
            </a:r>
            <a:endParaRPr lang="en-US" sz="1500" dirty="0"/>
          </a:p>
        </p:txBody>
      </p:sp>
      <p:sp>
        <p:nvSpPr>
          <p:cNvPr id="12" name="Text 10"/>
          <p:cNvSpPr/>
          <p:nvPr/>
        </p:nvSpPr>
        <p:spPr>
          <a:xfrm>
            <a:off x="8136434" y="2362150"/>
            <a:ext cx="3156915"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Claude checks existing patterns and allowed components, then writes React screens</a:t>
            </a:r>
            <a:endParaRPr lang="en-US" sz="1300" dirty="0"/>
          </a:p>
        </p:txBody>
      </p:sp>
      <p:sp>
        <p:nvSpPr>
          <p:cNvPr id="13" name="Shape 11"/>
          <p:cNvSpPr/>
          <p:nvPr/>
        </p:nvSpPr>
        <p:spPr>
          <a:xfrm>
            <a:off x="812800" y="3360886"/>
            <a:ext cx="3420517" cy="1106091"/>
          </a:xfrm>
          <a:prstGeom prst="roundRect">
            <a:avLst>
              <a:gd name="adj" fmla="val 9186"/>
            </a:avLst>
          </a:prstGeom>
          <a:solidFill>
            <a:srgbClr val="FEFEFC"/>
          </a:solidFill>
          <a:ln/>
        </p:spPr>
        <p:txBody>
          <a:bodyPr/>
          <a:lstStyle/>
          <a:p>
            <a:endParaRPr lang="en-US"/>
          </a:p>
        </p:txBody>
      </p:sp>
      <p:sp>
        <p:nvSpPr>
          <p:cNvPr id="14" name="Text 12"/>
          <p:cNvSpPr/>
          <p:nvPr/>
        </p:nvSpPr>
        <p:spPr>
          <a:xfrm>
            <a:off x="990600" y="3538686"/>
            <a:ext cx="3156864" cy="254000"/>
          </a:xfrm>
          <a:prstGeom prst="rect">
            <a:avLst/>
          </a:prstGeom>
          <a:noFill/>
          <a:ln/>
        </p:spPr>
        <p:txBody>
          <a:bodyPr wrap="square" lIns="0" tIns="0" rIns="0" bIns="0" rtlCol="0" anchor="t">
            <a:normAutofit/>
          </a:bodyPr>
          <a:lstStyle/>
          <a:p>
            <a:pPr marL="0" indent="0" algn="l">
              <a:lnSpc>
                <a:spcPts val="1800"/>
              </a:lnSpc>
              <a:buNone/>
            </a:pPr>
            <a:r>
              <a:rPr lang="en-US" sz="1500" dirty="0">
                <a:solidFill>
                  <a:srgbClr val="AA2D00"/>
                </a:solidFill>
                <a:latin typeface="Inter" pitchFamily="34" charset="0"/>
                <a:ea typeface="Inter" pitchFamily="34" charset="-122"/>
                <a:cs typeface="Inter" pitchFamily="34" charset="-120"/>
              </a:rPr>
              <a:t>4</a:t>
            </a:r>
            <a:r>
              <a:rPr lang="en-US" sz="1500" dirty="0">
                <a:solidFill>
                  <a:srgbClr val="181D26"/>
                </a:solidFill>
                <a:latin typeface="Inter" pitchFamily="34" charset="0"/>
                <a:ea typeface="Inter" pitchFamily="34" charset="-122"/>
                <a:cs typeface="Inter" pitchFamily="34" charset="-120"/>
              </a:rPr>
              <a:t> Validate every screen</a:t>
            </a:r>
            <a:endParaRPr lang="en-US" sz="1500" dirty="0"/>
          </a:p>
        </p:txBody>
      </p:sp>
      <p:sp>
        <p:nvSpPr>
          <p:cNvPr id="15" name="Text 13"/>
          <p:cNvSpPr/>
          <p:nvPr/>
        </p:nvSpPr>
        <p:spPr>
          <a:xfrm>
            <a:off x="990600" y="3843486"/>
            <a:ext cx="3156864"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validate_page runs on each file until it reports zero violations</a:t>
            </a:r>
            <a:endParaRPr lang="en-US" sz="1300" dirty="0"/>
          </a:p>
        </p:txBody>
      </p:sp>
      <p:sp>
        <p:nvSpPr>
          <p:cNvPr id="16" name="Shape 14"/>
          <p:cNvSpPr/>
          <p:nvPr/>
        </p:nvSpPr>
        <p:spPr>
          <a:xfrm>
            <a:off x="4385717" y="3360886"/>
            <a:ext cx="3420517" cy="1106091"/>
          </a:xfrm>
          <a:prstGeom prst="roundRect">
            <a:avLst>
              <a:gd name="adj" fmla="val 9186"/>
            </a:avLst>
          </a:prstGeom>
          <a:solidFill>
            <a:srgbClr val="FEFEFC"/>
          </a:solidFill>
          <a:ln/>
        </p:spPr>
        <p:txBody>
          <a:bodyPr/>
          <a:lstStyle/>
          <a:p>
            <a:endParaRPr lang="en-US"/>
          </a:p>
        </p:txBody>
      </p:sp>
      <p:sp>
        <p:nvSpPr>
          <p:cNvPr id="17" name="Text 15"/>
          <p:cNvSpPr/>
          <p:nvPr/>
        </p:nvSpPr>
        <p:spPr>
          <a:xfrm>
            <a:off x="4563517" y="3538686"/>
            <a:ext cx="3156864" cy="254000"/>
          </a:xfrm>
          <a:prstGeom prst="rect">
            <a:avLst/>
          </a:prstGeom>
          <a:noFill/>
          <a:ln/>
        </p:spPr>
        <p:txBody>
          <a:bodyPr wrap="square" lIns="0" tIns="0" rIns="0" bIns="0" rtlCol="0" anchor="t">
            <a:normAutofit/>
          </a:bodyPr>
          <a:lstStyle/>
          <a:p>
            <a:pPr marL="0" indent="0" algn="l">
              <a:lnSpc>
                <a:spcPts val="1800"/>
              </a:lnSpc>
              <a:buNone/>
            </a:pPr>
            <a:r>
              <a:rPr lang="en-US" sz="1500" dirty="0">
                <a:solidFill>
                  <a:srgbClr val="AA2D00"/>
                </a:solidFill>
                <a:latin typeface="Inter" pitchFamily="34" charset="0"/>
                <a:ea typeface="Inter" pitchFamily="34" charset="-122"/>
                <a:cs typeface="Inter" pitchFamily="34" charset="-120"/>
              </a:rPr>
              <a:t>5</a:t>
            </a:r>
            <a:r>
              <a:rPr lang="en-US" sz="1500" dirty="0">
                <a:solidFill>
                  <a:srgbClr val="181D26"/>
                </a:solidFill>
                <a:latin typeface="Inter" pitchFamily="34" charset="0"/>
                <a:ea typeface="Inter" pitchFamily="34" charset="-122"/>
                <a:cs typeface="Inter" pitchFamily="34" charset="-120"/>
              </a:rPr>
              <a:t> Commit and push</a:t>
            </a:r>
            <a:endParaRPr lang="en-US" sz="1500" dirty="0"/>
          </a:p>
        </p:txBody>
      </p:sp>
      <p:sp>
        <p:nvSpPr>
          <p:cNvPr id="18" name="Text 16"/>
          <p:cNvSpPr/>
          <p:nvPr/>
        </p:nvSpPr>
        <p:spPr>
          <a:xfrm>
            <a:off x="4563517" y="3843486"/>
            <a:ext cx="3156864"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Plain git to main, with a commit message that explains each change</a:t>
            </a:r>
            <a:endParaRPr lang="en-US" sz="1300" dirty="0"/>
          </a:p>
        </p:txBody>
      </p:sp>
      <p:sp>
        <p:nvSpPr>
          <p:cNvPr id="19" name="Shape 17"/>
          <p:cNvSpPr/>
          <p:nvPr/>
        </p:nvSpPr>
        <p:spPr>
          <a:xfrm>
            <a:off x="7958634" y="3360886"/>
            <a:ext cx="3420566" cy="1106091"/>
          </a:xfrm>
          <a:prstGeom prst="roundRect">
            <a:avLst>
              <a:gd name="adj" fmla="val 9186"/>
            </a:avLst>
          </a:prstGeom>
          <a:solidFill>
            <a:srgbClr val="FEFEFC"/>
          </a:solidFill>
          <a:ln/>
        </p:spPr>
        <p:txBody>
          <a:bodyPr/>
          <a:lstStyle/>
          <a:p>
            <a:endParaRPr lang="en-US"/>
          </a:p>
        </p:txBody>
      </p:sp>
      <p:sp>
        <p:nvSpPr>
          <p:cNvPr id="20" name="Text 18"/>
          <p:cNvSpPr/>
          <p:nvPr/>
        </p:nvSpPr>
        <p:spPr>
          <a:xfrm>
            <a:off x="8136434" y="3538686"/>
            <a:ext cx="3156915" cy="254000"/>
          </a:xfrm>
          <a:prstGeom prst="rect">
            <a:avLst/>
          </a:prstGeom>
          <a:noFill/>
          <a:ln/>
        </p:spPr>
        <p:txBody>
          <a:bodyPr wrap="square" lIns="0" tIns="0" rIns="0" bIns="0" rtlCol="0" anchor="t">
            <a:normAutofit/>
          </a:bodyPr>
          <a:lstStyle/>
          <a:p>
            <a:pPr marL="0" indent="0" algn="l">
              <a:lnSpc>
                <a:spcPts val="1800"/>
              </a:lnSpc>
              <a:buNone/>
            </a:pPr>
            <a:r>
              <a:rPr lang="en-US" sz="1500" dirty="0">
                <a:solidFill>
                  <a:srgbClr val="AA2D00"/>
                </a:solidFill>
                <a:latin typeface="Inter" pitchFamily="34" charset="0"/>
                <a:ea typeface="Inter" pitchFamily="34" charset="-122"/>
                <a:cs typeface="Inter" pitchFamily="34" charset="-120"/>
              </a:rPr>
              <a:t>6</a:t>
            </a:r>
            <a:r>
              <a:rPr lang="en-US" sz="1500" dirty="0">
                <a:solidFill>
                  <a:srgbClr val="181D26"/>
                </a:solidFill>
                <a:latin typeface="Inter" pitchFamily="34" charset="0"/>
                <a:ea typeface="Inter" pitchFamily="34" charset="-122"/>
                <a:cs typeface="Inter" pitchFamily="34" charset="-120"/>
              </a:rPr>
              <a:t> </a:t>
            </a:r>
            <a:r>
              <a:rPr lang="en-US" sz="1500" dirty="0" err="1">
                <a:solidFill>
                  <a:srgbClr val="181D26"/>
                </a:solidFill>
                <a:latin typeface="Inter" pitchFamily="34" charset="0"/>
                <a:ea typeface="Inter" pitchFamily="34" charset="-122"/>
                <a:cs typeface="Inter" pitchFamily="34" charset="-120"/>
              </a:rPr>
              <a:t>Vercel</a:t>
            </a:r>
            <a:r>
              <a:rPr lang="en-US" sz="1500" dirty="0">
                <a:solidFill>
                  <a:srgbClr val="181D26"/>
                </a:solidFill>
                <a:latin typeface="Inter" pitchFamily="34" charset="0"/>
                <a:ea typeface="Inter" pitchFamily="34" charset="-122"/>
                <a:cs typeface="Inter" pitchFamily="34" charset="-120"/>
              </a:rPr>
              <a:t> (</a:t>
            </a:r>
            <a:r>
              <a:rPr lang="en-US" sz="1500" dirty="0" err="1">
                <a:solidFill>
                  <a:srgbClr val="181D26"/>
                </a:solidFill>
                <a:latin typeface="Inter" pitchFamily="34" charset="0"/>
                <a:ea typeface="Inter" pitchFamily="34" charset="-122"/>
                <a:cs typeface="Inter" pitchFamily="34" charset="-120"/>
              </a:rPr>
              <a:t>ie</a:t>
            </a:r>
            <a:r>
              <a:rPr lang="en-US" sz="1500" dirty="0">
                <a:solidFill>
                  <a:srgbClr val="181D26"/>
                </a:solidFill>
                <a:latin typeface="Inter" pitchFamily="34" charset="0"/>
                <a:ea typeface="Inter" pitchFamily="34" charset="-122"/>
                <a:cs typeface="Inter" pitchFamily="34" charset="-120"/>
              </a:rPr>
              <a:t>. dev server) deploys</a:t>
            </a:r>
            <a:endParaRPr lang="en-US" sz="1500" dirty="0"/>
          </a:p>
        </p:txBody>
      </p:sp>
      <p:sp>
        <p:nvSpPr>
          <p:cNvPr id="21" name="Text 19"/>
          <p:cNvSpPr/>
          <p:nvPr/>
        </p:nvSpPr>
        <p:spPr>
          <a:xfrm>
            <a:off x="8136434" y="3843486"/>
            <a:ext cx="3156915"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The push triggers a build, and the new version is live within minutes</a:t>
            </a:r>
            <a:endParaRPr lang="en-US" sz="13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6"/>
                </a:solidFill>
                <a:latin typeface="Inter" pitchFamily="34" charset="0"/>
                <a:ea typeface="Inter" pitchFamily="34" charset="-122"/>
                <a:cs typeface="Inter" pitchFamily="34" charset="-120"/>
              </a:rPr>
              <a:t>7 · Claude Design to GitHub</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A2D00"/>
                </a:solidFill>
                <a:latin typeface="Inter" pitchFamily="34" charset="0"/>
                <a:ea typeface="Inter" pitchFamily="34" charset="-122"/>
                <a:cs typeface="Inter" pitchFamily="34" charset="-120"/>
              </a:rPr>
              <a:t>3 · APPLYING THE SYSTEM AND CHECKING IT</a:t>
            </a:r>
            <a:endParaRPr lang="en-US" sz="1200" dirty="0"/>
          </a:p>
        </p:txBody>
      </p:sp>
      <p:sp>
        <p:nvSpPr>
          <p:cNvPr id="3" name="Text 1"/>
          <p:cNvSpPr/>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181D26"/>
                </a:solidFill>
                <a:latin typeface="Inter" pitchFamily="34" charset="0"/>
                <a:ea typeface="Inter" pitchFamily="34" charset="-122"/>
                <a:cs typeface="Inter" pitchFamily="34" charset="-120"/>
              </a:rPr>
              <a:t>What validate_page checks today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10553700" cy="2041824"/>
        </p:xfrm>
        <a:graphic>
          <a:graphicData uri="http://schemas.openxmlformats.org/drawingml/2006/table">
            <a:tbl>
              <a:tblPr/>
              <a:tblGrid>
                <a:gridCol w="3271647">
                  <a:extLst>
                    <a:ext uri="{9D8B030D-6E8A-4147-A177-3AD203B41FA5}">
                      <a16:colId xmlns:a16="http://schemas.microsoft.com/office/drawing/2014/main" val="20000"/>
                    </a:ext>
                  </a:extLst>
                </a:gridCol>
                <a:gridCol w="3271647">
                  <a:extLst>
                    <a:ext uri="{9D8B030D-6E8A-4147-A177-3AD203B41FA5}">
                      <a16:colId xmlns:a16="http://schemas.microsoft.com/office/drawing/2014/main" val="20001"/>
                    </a:ext>
                  </a:extLst>
                </a:gridCol>
                <a:gridCol w="4010406">
                  <a:extLst>
                    <a:ext uri="{9D8B030D-6E8A-4147-A177-3AD203B41FA5}">
                      <a16:colId xmlns:a16="http://schemas.microsoft.com/office/drawing/2014/main" val="20002"/>
                    </a:ext>
                  </a:extLst>
                </a:gridCol>
              </a:tblGrid>
              <a:tr h="386011">
                <a:tc>
                  <a:txBody>
                    <a:bodyPr/>
                    <a:lstStyle/>
                    <a:p>
                      <a:pPr marL="0" indent="0">
                        <a:lnSpc>
                          <a:spcPts val="1960"/>
                        </a:lnSpc>
                        <a:buNone/>
                      </a:pPr>
                      <a:r>
                        <a:rPr lang="en-US" sz="1400" b="1" dirty="0">
                          <a:solidFill>
                            <a:srgbClr val="181D26"/>
                          </a:solidFill>
                          <a:latin typeface="Inter" pitchFamily="34" charset="0"/>
                          <a:ea typeface="Inter" pitchFamily="34" charset="-122"/>
                          <a:cs typeface="Inter" pitchFamily="34" charset="-120"/>
                        </a:rPr>
                        <a:t>Rule</a:t>
                      </a:r>
                      <a:endParaRPr lang="en-US" sz="1400" dirty="0">
                        <a:latin typeface="Inter" charset="0"/>
                        <a:ea typeface="Inter" charset="0"/>
                        <a:cs typeface="Inter"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1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1C0BC"/>
                      </a:solidFill>
                      <a:prstDash val="solid"/>
                      <a:round/>
                      <a:headEnd type="none" w="med" len="med"/>
                      <a:tailEnd type="none" w="med" len="med"/>
                    </a:lnB>
                    <a:solidFill>
                      <a:srgbClr val="F2F1EC"/>
                    </a:solidFill>
                  </a:tcPr>
                </a:tc>
                <a:tc>
                  <a:txBody>
                    <a:bodyPr/>
                    <a:lstStyle/>
                    <a:p>
                      <a:pPr marL="0" indent="0">
                        <a:lnSpc>
                          <a:spcPts val="1960"/>
                        </a:lnSpc>
                        <a:buNone/>
                      </a:pPr>
                      <a:r>
                        <a:rPr lang="en-US" sz="1400" b="1" dirty="0">
                          <a:solidFill>
                            <a:srgbClr val="181D26"/>
                          </a:solidFill>
                          <a:latin typeface="Inter" pitchFamily="34" charset="0"/>
                          <a:ea typeface="Inter" pitchFamily="34" charset="-122"/>
                          <a:cs typeface="Inter" pitchFamily="34" charset="-120"/>
                        </a:rPr>
                        <a:t>Catches</a:t>
                      </a:r>
                      <a:endParaRPr lang="en-US" sz="1400" dirty="0">
                        <a:latin typeface="Inter" charset="0"/>
                        <a:ea typeface="Inter" charset="0"/>
                        <a:cs typeface="Inter" charset="0"/>
                      </a:endParaRPr>
                    </a:p>
                  </a:txBody>
                  <a:tcPr marL="62230" marR="62230" marT="62230" marB="62230">
                    <a:lnL w="12700" cap="flat" cmpd="sng" algn="ctr">
                      <a:solidFill>
                        <a:srgbClr val="C1C0BC"/>
                      </a:solidFill>
                      <a:prstDash val="solid"/>
                      <a:round/>
                      <a:headEnd type="none" w="med" len="med"/>
                      <a:tailEnd type="none" w="med" len="med"/>
                    </a:lnL>
                    <a:lnR w="12700" cap="flat" cmpd="sng" algn="ctr">
                      <a:solidFill>
                        <a:srgbClr val="C1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1C0BC"/>
                      </a:solidFill>
                      <a:prstDash val="solid"/>
                      <a:round/>
                      <a:headEnd type="none" w="med" len="med"/>
                      <a:tailEnd type="none" w="med" len="med"/>
                    </a:lnB>
                    <a:solidFill>
                      <a:srgbClr val="F2F1EC"/>
                    </a:solidFill>
                  </a:tcPr>
                </a:tc>
                <a:tc>
                  <a:txBody>
                    <a:bodyPr/>
                    <a:lstStyle/>
                    <a:p>
                      <a:pPr marL="0" indent="0">
                        <a:lnSpc>
                          <a:spcPts val="1960"/>
                        </a:lnSpc>
                        <a:buNone/>
                      </a:pPr>
                      <a:r>
                        <a:rPr lang="en-US" sz="1400" b="1" dirty="0">
                          <a:solidFill>
                            <a:srgbClr val="181D26"/>
                          </a:solidFill>
                          <a:latin typeface="Inter" pitchFamily="34" charset="0"/>
                          <a:ea typeface="Inter" pitchFamily="34" charset="-122"/>
                          <a:cs typeface="Inter" pitchFamily="34" charset="-120"/>
                        </a:rPr>
                        <a:t>Why it matters</a:t>
                      </a:r>
                      <a:endParaRPr lang="en-US" sz="1400" dirty="0">
                        <a:latin typeface="Inter" charset="0"/>
                        <a:ea typeface="Inter" charset="0"/>
                        <a:cs typeface="Inter" charset="0"/>
                      </a:endParaRPr>
                    </a:p>
                  </a:txBody>
                  <a:tcPr marL="62230" marR="62230" marT="62230" marB="62230">
                    <a:lnL w="12700" cap="flat" cmpd="sng" algn="ctr">
                      <a:solidFill>
                        <a:srgbClr val="C1C0BC"/>
                      </a:solidFill>
                      <a:prstDash val="solid"/>
                      <a:round/>
                      <a:headEnd type="none" w="med" len="med"/>
                      <a:tailEnd type="none" w="med" len="med"/>
                    </a:lnL>
                    <a:lnR w="12700" cap="flat" cmpd="sng" algn="ctr">
                      <a:solidFill>
                        <a:srgbClr val="C1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1C0BC"/>
                      </a:solidFill>
                      <a:prstDash val="solid"/>
                      <a:round/>
                      <a:headEnd type="none" w="med" len="med"/>
                      <a:tailEnd type="none" w="med" len="med"/>
                    </a:lnB>
                    <a:solidFill>
                      <a:srgbClr val="F2F1EC"/>
                    </a:solidFill>
                  </a:tcPr>
                </a:tc>
                <a:extLst>
                  <a:ext uri="{0D108BD9-81ED-4DB2-BD59-A6C34878D82A}">
                    <a16:rowId xmlns:a16="http://schemas.microsoft.com/office/drawing/2014/main" val="10000"/>
                  </a:ext>
                </a:extLst>
              </a:tr>
              <a:tr h="634901">
                <a:tc>
                  <a:txBody>
                    <a:bodyPr/>
                    <a:lstStyle/>
                    <a:p>
                      <a:pPr marL="0" indent="0">
                        <a:lnSpc>
                          <a:spcPts val="1960"/>
                        </a:lnSpc>
                        <a:buNone/>
                      </a:pPr>
                      <a:r>
                        <a:rPr lang="en-US" sz="1400" dirty="0">
                          <a:solidFill>
                            <a:srgbClr val="181D26"/>
                          </a:solidFill>
                          <a:latin typeface="Inter" pitchFamily="34" charset="0"/>
                          <a:ea typeface="Inter" pitchFamily="34" charset="-122"/>
                          <a:cs typeface="Inter" pitchFamily="34" charset="-120"/>
                        </a:rPr>
                        <a:t>no-inline-hex-colors</a:t>
                      </a:r>
                      <a:endParaRPr lang="en-US" sz="1400" dirty="0">
                        <a:latin typeface="Inter" charset="0"/>
                        <a:ea typeface="Inter" charset="0"/>
                        <a:cs typeface="Inter"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1C0BC"/>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960"/>
                        </a:lnSpc>
                        <a:buNone/>
                      </a:pPr>
                      <a:r>
                        <a:rPr lang="en-US" sz="1400" dirty="0">
                          <a:solidFill>
                            <a:srgbClr val="181D26"/>
                          </a:solidFill>
                          <a:latin typeface="Inter" pitchFamily="34" charset="0"/>
                          <a:ea typeface="Inter" pitchFamily="34" charset="-122"/>
                          <a:cs typeface="Inter" pitchFamily="34" charset="-120"/>
                        </a:rPr>
                        <a:t>Any #hex color typed into page code</a:t>
                      </a:r>
                      <a:endParaRPr lang="en-US" sz="1400" dirty="0">
                        <a:latin typeface="Inter" charset="0"/>
                        <a:ea typeface="Inter" charset="0"/>
                        <a:cs typeface="Inter"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1C0BC"/>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960"/>
                        </a:lnSpc>
                        <a:buNone/>
                      </a:pPr>
                      <a:r>
                        <a:rPr lang="en-US" sz="1400" dirty="0">
                          <a:solidFill>
                            <a:srgbClr val="181D26"/>
                          </a:solidFill>
                          <a:latin typeface="Inter" pitchFamily="34" charset="0"/>
                          <a:ea typeface="Inter" pitchFamily="34" charset="-122"/>
                          <a:cs typeface="Inter" pitchFamily="34" charset="-120"/>
                        </a:rPr>
                        <a:t>Colors come from tokens, so a palette change reaches every screen</a:t>
                      </a:r>
                      <a:endParaRPr lang="en-US" sz="1400" dirty="0">
                        <a:latin typeface="Inter" charset="0"/>
                        <a:ea typeface="Inter" charset="0"/>
                        <a:cs typeface="Inter"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1C0BC"/>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1"/>
                  </a:ext>
                </a:extLst>
              </a:tr>
              <a:tr h="634901">
                <a:tc>
                  <a:txBody>
                    <a:bodyPr/>
                    <a:lstStyle/>
                    <a:p>
                      <a:pPr marL="0" indent="0">
                        <a:lnSpc>
                          <a:spcPts val="1960"/>
                        </a:lnSpc>
                        <a:buNone/>
                      </a:pPr>
                      <a:r>
                        <a:rPr lang="en-US" sz="1400" dirty="0">
                          <a:solidFill>
                            <a:srgbClr val="181D26"/>
                          </a:solidFill>
                          <a:latin typeface="Inter" pitchFamily="34" charset="0"/>
                          <a:ea typeface="Inter" pitchFamily="34" charset="-122"/>
                          <a:cs typeface="Inter" pitchFamily="34" charset="-120"/>
                        </a:rPr>
                        <a:t>no-raw-html-primitives</a:t>
                      </a:r>
                      <a:endParaRPr lang="en-US" sz="1400" dirty="0">
                        <a:latin typeface="Inter" charset="0"/>
                        <a:ea typeface="Inter" charset="0"/>
                        <a:cs typeface="Inter"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960"/>
                        </a:lnSpc>
                        <a:buNone/>
                      </a:pPr>
                      <a:r>
                        <a:rPr lang="en-US" sz="1400" dirty="0">
                          <a:solidFill>
                            <a:srgbClr val="181D26"/>
                          </a:solidFill>
                          <a:latin typeface="Inter" pitchFamily="34" charset="0"/>
                          <a:ea typeface="Inter" pitchFamily="34" charset="-122"/>
                          <a:cs typeface="Inter" pitchFamily="34" charset="-120"/>
                        </a:rPr>
                        <a:t>Raw button, input, select, textarea and table tags</a:t>
                      </a:r>
                      <a:endParaRPr lang="en-US" sz="1400" dirty="0">
                        <a:latin typeface="Inter" charset="0"/>
                        <a:ea typeface="Inter" charset="0"/>
                        <a:cs typeface="Inter"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960"/>
                        </a:lnSpc>
                        <a:buNone/>
                      </a:pPr>
                      <a:r>
                        <a:rPr lang="en-US" sz="1400" dirty="0">
                          <a:solidFill>
                            <a:srgbClr val="181D26"/>
                          </a:solidFill>
                          <a:latin typeface="Inter" pitchFamily="34" charset="0"/>
                          <a:ea typeface="Inter" pitchFamily="34" charset="-122"/>
                          <a:cs typeface="Inter" pitchFamily="34" charset="-120"/>
                        </a:rPr>
                        <a:t>Carbon's versions carry keyboard, focus and screen-reader behavior</a:t>
                      </a:r>
                      <a:endParaRPr lang="en-US" sz="1400" dirty="0">
                        <a:latin typeface="Inter" charset="0"/>
                        <a:ea typeface="Inter" charset="0"/>
                        <a:cs typeface="Inter"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181D26"/>
                          </a:solidFill>
                          <a:latin typeface="Inter" pitchFamily="34" charset="0"/>
                          <a:ea typeface="Inter" pitchFamily="34" charset="-122"/>
                          <a:cs typeface="Inter" pitchFamily="34" charset="-120"/>
                        </a:rPr>
                        <a:t>a11y-missing-alt</a:t>
                      </a:r>
                      <a:endParaRPr lang="en-US" sz="1400" dirty="0">
                        <a:latin typeface="Inter" charset="0"/>
                        <a:ea typeface="Inter" charset="0"/>
                        <a:cs typeface="Inter"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960"/>
                        </a:lnSpc>
                        <a:buNone/>
                      </a:pPr>
                      <a:r>
                        <a:rPr lang="en-US" sz="1400" dirty="0">
                          <a:solidFill>
                            <a:srgbClr val="181D26"/>
                          </a:solidFill>
                          <a:latin typeface="Inter" pitchFamily="34" charset="0"/>
                          <a:ea typeface="Inter" pitchFamily="34" charset="-122"/>
                          <a:cs typeface="Inter" pitchFamily="34" charset="-120"/>
                        </a:rPr>
                        <a:t>Images without alt text</a:t>
                      </a:r>
                      <a:endParaRPr lang="en-US" sz="1400" dirty="0">
                        <a:latin typeface="Inter" charset="0"/>
                        <a:ea typeface="Inter" charset="0"/>
                        <a:cs typeface="Inter"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960"/>
                        </a:lnSpc>
                        <a:buNone/>
                      </a:pPr>
                      <a:r>
                        <a:rPr lang="en-US" sz="1400" dirty="0">
                          <a:solidFill>
                            <a:srgbClr val="181D26"/>
                          </a:solidFill>
                          <a:latin typeface="Inter" pitchFamily="34" charset="0"/>
                          <a:ea typeface="Inter" pitchFamily="34" charset="-122"/>
                          <a:cs typeface="Inter" pitchFamily="34" charset="-120"/>
                        </a:rPr>
                        <a:t>Screen readers need a description</a:t>
                      </a:r>
                      <a:endParaRPr lang="en-US" sz="1400" dirty="0">
                        <a:latin typeface="Inter" charset="0"/>
                        <a:ea typeface="Inter" charset="0"/>
                        <a:cs typeface="Inter"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831850" y="4238873"/>
            <a:ext cx="0" cy="846981"/>
          </a:xfrm>
          <a:prstGeom prst="line">
            <a:avLst/>
          </a:prstGeom>
          <a:noFill/>
          <a:ln w="38100">
            <a:solidFill>
              <a:srgbClr val="0F62FE"/>
            </a:solidFill>
            <a:prstDash val="solid"/>
          </a:ln>
        </p:spPr>
        <p:txBody>
          <a:bodyPr/>
          <a:lstStyle/>
          <a:p>
            <a:endParaRPr lang="en-US"/>
          </a:p>
        </p:txBody>
      </p:sp>
      <p:sp>
        <p:nvSpPr>
          <p:cNvPr id="6" name="Text 3"/>
          <p:cNvSpPr/>
          <p:nvPr/>
        </p:nvSpPr>
        <p:spPr>
          <a:xfrm>
            <a:off x="1054100" y="4289673"/>
            <a:ext cx="487921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81D26"/>
                </a:solidFill>
                <a:latin typeface="Inter" pitchFamily="34" charset="0"/>
                <a:ea typeface="Inter" pitchFamily="34" charset="-122"/>
                <a:cs typeface="Inter" pitchFamily="34" charset="-120"/>
              </a:rPr>
              <a:t>Deterministic</a:t>
            </a:r>
            <a:endParaRPr lang="en-US" sz="1400" dirty="0"/>
          </a:p>
        </p:txBody>
      </p:sp>
      <p:sp>
        <p:nvSpPr>
          <p:cNvPr id="7" name="Text 4"/>
          <p:cNvSpPr/>
          <p:nvPr/>
        </p:nvSpPr>
        <p:spPr>
          <a:xfrm>
            <a:off x="1054100" y="4589363"/>
            <a:ext cx="4879213"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The same code always gets the same result. No AI judgment in the check.</a:t>
            </a:r>
            <a:endParaRPr lang="en-US" sz="1300" dirty="0"/>
          </a:p>
        </p:txBody>
      </p:sp>
      <p:sp>
        <p:nvSpPr>
          <p:cNvPr id="8" name="Shape 5"/>
          <p:cNvSpPr/>
          <p:nvPr/>
        </p:nvSpPr>
        <p:spPr>
          <a:xfrm>
            <a:off x="6216650" y="4238873"/>
            <a:ext cx="0" cy="846981"/>
          </a:xfrm>
          <a:prstGeom prst="line">
            <a:avLst/>
          </a:prstGeom>
          <a:noFill/>
          <a:ln w="38100">
            <a:solidFill>
              <a:srgbClr val="AA2D00"/>
            </a:solidFill>
            <a:prstDash val="solid"/>
          </a:ln>
        </p:spPr>
        <p:txBody>
          <a:bodyPr/>
          <a:lstStyle/>
          <a:p>
            <a:endParaRPr lang="en-US"/>
          </a:p>
        </p:txBody>
      </p:sp>
      <p:sp>
        <p:nvSpPr>
          <p:cNvPr id="9" name="Text 6"/>
          <p:cNvSpPr/>
          <p:nvPr/>
        </p:nvSpPr>
        <p:spPr>
          <a:xfrm>
            <a:off x="6438900" y="4289673"/>
            <a:ext cx="487921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81D26"/>
                </a:solidFill>
                <a:latin typeface="Inter" pitchFamily="34" charset="0"/>
                <a:ea typeface="Inter" pitchFamily="34" charset="-122"/>
                <a:cs typeface="Inter" pitchFamily="34" charset="-120"/>
              </a:rPr>
              <a:t>Hex lives in one file</a:t>
            </a:r>
            <a:endParaRPr lang="en-US" sz="1400" dirty="0"/>
          </a:p>
        </p:txBody>
      </p:sp>
      <p:sp>
        <p:nvSpPr>
          <p:cNvPr id="10" name="Text 7"/>
          <p:cNvSpPr/>
          <p:nvPr/>
        </p:nvSpPr>
        <p:spPr>
          <a:xfrm>
            <a:off x="6438900" y="4589363"/>
            <a:ext cx="4879213"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Every color value is named once in theme.scss; pages only reference tokens.</a:t>
            </a:r>
            <a:endParaRPr lang="en-US" sz="13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6"/>
                </a:solidFill>
                <a:latin typeface="Inter" pitchFamily="34" charset="0"/>
                <a:ea typeface="Inter" pitchFamily="34" charset="-122"/>
                <a:cs typeface="Inter" pitchFamily="34" charset="-120"/>
              </a:rPr>
              <a:t>8 · Applying and checking</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A2D00"/>
                </a:solidFill>
                <a:latin typeface="Inter" pitchFamily="34" charset="0"/>
                <a:ea typeface="Inter" pitchFamily="34" charset="-122"/>
                <a:cs typeface="Inter" pitchFamily="34" charset="-120"/>
              </a:rPr>
              <a:t>3 · APPLYING THE SYSTEM AND CHECKING IT</a:t>
            </a:r>
            <a:endParaRPr lang="en-US" sz="1200" dirty="0"/>
          </a:p>
        </p:txBody>
      </p:sp>
      <p:sp>
        <p:nvSpPr>
          <p:cNvPr id="3" name="Text 1"/>
          <p:cNvSpPr/>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181D26"/>
                </a:solidFill>
                <a:latin typeface="Inter" pitchFamily="34" charset="0"/>
                <a:ea typeface="Inter" pitchFamily="34" charset="-122"/>
                <a:cs typeface="Inter" pitchFamily="34" charset="-120"/>
              </a:rPr>
              <a:t>The style loop: annotate, map, rebuild, compare</a:t>
            </a:r>
            <a:endParaRPr lang="en-US" sz="3200" dirty="0"/>
          </a:p>
        </p:txBody>
      </p:sp>
      <p:sp>
        <p:nvSpPr>
          <p:cNvPr id="4" name="Shape 2"/>
          <p:cNvSpPr/>
          <p:nvPr/>
        </p:nvSpPr>
        <p:spPr>
          <a:xfrm>
            <a:off x="815975" y="1933525"/>
            <a:ext cx="2292350" cy="1964482"/>
          </a:xfrm>
          <a:prstGeom prst="roundRect">
            <a:avLst>
              <a:gd name="adj" fmla="val 5010"/>
            </a:avLst>
          </a:prstGeom>
          <a:solidFill>
            <a:srgbClr val="FEFEFC"/>
          </a:solidFill>
          <a:ln w="6350">
            <a:solidFill>
              <a:srgbClr val="DDDBD5"/>
            </a:solidFill>
            <a:prstDash val="solid"/>
          </a:ln>
        </p:spPr>
        <p:txBody>
          <a:bodyPr/>
          <a:lstStyle/>
          <a:p>
            <a:endParaRPr lang="en-US"/>
          </a:p>
        </p:txBody>
      </p:sp>
      <p:sp>
        <p:nvSpPr>
          <p:cNvPr id="5" name="Text 3"/>
          <p:cNvSpPr/>
          <p:nvPr/>
        </p:nvSpPr>
        <p:spPr>
          <a:xfrm>
            <a:off x="1022350" y="2139900"/>
            <a:ext cx="19359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A2D00"/>
                </a:solidFill>
                <a:latin typeface="Inter" pitchFamily="34" charset="0"/>
                <a:ea typeface="Inter" pitchFamily="34" charset="-122"/>
                <a:cs typeface="Inter" pitchFamily="34" charset="-120"/>
              </a:rPr>
              <a:t>Designer</a:t>
            </a:r>
            <a:endParaRPr lang="en-US" sz="1200" dirty="0"/>
          </a:p>
        </p:txBody>
      </p:sp>
      <p:sp>
        <p:nvSpPr>
          <p:cNvPr id="6" name="Text 4"/>
          <p:cNvSpPr/>
          <p:nvPr/>
        </p:nvSpPr>
        <p:spPr>
          <a:xfrm>
            <a:off x="1022350" y="2454821"/>
            <a:ext cx="1935988" cy="26923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81D26"/>
                </a:solidFill>
                <a:latin typeface="Inter" pitchFamily="34" charset="0"/>
                <a:ea typeface="Inter" pitchFamily="34" charset="-122"/>
                <a:cs typeface="Inter" pitchFamily="34" charset="-120"/>
              </a:rPr>
              <a:t>Annotate</a:t>
            </a:r>
            <a:endParaRPr lang="en-US" sz="1600" dirty="0"/>
          </a:p>
        </p:txBody>
      </p:sp>
      <p:sp>
        <p:nvSpPr>
          <p:cNvPr id="7" name="Text 5"/>
          <p:cNvSpPr/>
          <p:nvPr/>
        </p:nvSpPr>
        <p:spPr>
          <a:xfrm>
            <a:off x="1022350" y="2800251"/>
            <a:ext cx="1935988" cy="91678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Place the current build next to the Airtable target and label each difference</a:t>
            </a:r>
            <a:endParaRPr lang="en-US" sz="1300" dirty="0"/>
          </a:p>
        </p:txBody>
      </p:sp>
      <p:pic>
        <p:nvPicPr>
          <p:cNvPr id="8" name="Image 0" descr="arrow-right"/>
          <p:cNvPicPr>
            <a:picLocks noChangeAspect="1"/>
          </p:cNvPicPr>
          <p:nvPr/>
        </p:nvPicPr>
        <p:blipFill>
          <a:blip r:embed="rId3"/>
          <a:srcRect/>
          <a:stretch/>
        </p:blipFill>
        <p:spPr>
          <a:xfrm>
            <a:off x="3213100" y="2852241"/>
            <a:ext cx="254000" cy="127000"/>
          </a:xfrm>
          <a:prstGeom prst="rect">
            <a:avLst/>
          </a:prstGeom>
        </p:spPr>
      </p:pic>
      <p:sp>
        <p:nvSpPr>
          <p:cNvPr id="9" name="Shape 6"/>
          <p:cNvSpPr/>
          <p:nvPr/>
        </p:nvSpPr>
        <p:spPr>
          <a:xfrm>
            <a:off x="3571875" y="1933525"/>
            <a:ext cx="2292350" cy="1964482"/>
          </a:xfrm>
          <a:prstGeom prst="roundRect">
            <a:avLst>
              <a:gd name="adj" fmla="val 5010"/>
            </a:avLst>
          </a:prstGeom>
          <a:solidFill>
            <a:srgbClr val="FEFEFC"/>
          </a:solidFill>
          <a:ln w="6350">
            <a:solidFill>
              <a:srgbClr val="DDDBD5"/>
            </a:solidFill>
            <a:prstDash val="solid"/>
          </a:ln>
        </p:spPr>
        <p:txBody>
          <a:bodyPr/>
          <a:lstStyle/>
          <a:p>
            <a:endParaRPr lang="en-US"/>
          </a:p>
        </p:txBody>
      </p:sp>
      <p:sp>
        <p:nvSpPr>
          <p:cNvPr id="10" name="Text 7"/>
          <p:cNvSpPr/>
          <p:nvPr/>
        </p:nvSpPr>
        <p:spPr>
          <a:xfrm>
            <a:off x="3778250" y="2139900"/>
            <a:ext cx="19359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62FE"/>
                </a:solidFill>
                <a:latin typeface="Inter" pitchFamily="34" charset="0"/>
                <a:ea typeface="Inter" pitchFamily="34" charset="-122"/>
                <a:cs typeface="Inter" pitchFamily="34" charset="-120"/>
              </a:rPr>
              <a:t>Claude Code</a:t>
            </a:r>
            <a:endParaRPr lang="en-US" sz="1200" dirty="0"/>
          </a:p>
        </p:txBody>
      </p:sp>
      <p:sp>
        <p:nvSpPr>
          <p:cNvPr id="11" name="Text 8"/>
          <p:cNvSpPr/>
          <p:nvPr/>
        </p:nvSpPr>
        <p:spPr>
          <a:xfrm>
            <a:off x="3778250" y="2454821"/>
            <a:ext cx="1935988" cy="26923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81D26"/>
                </a:solidFill>
                <a:latin typeface="Inter" pitchFamily="34" charset="0"/>
                <a:ea typeface="Inter" pitchFamily="34" charset="-122"/>
                <a:cs typeface="Inter" pitchFamily="34" charset="-120"/>
              </a:rPr>
              <a:t>Map</a:t>
            </a:r>
            <a:endParaRPr lang="en-US" sz="1600" dirty="0"/>
          </a:p>
        </p:txBody>
      </p:sp>
      <p:sp>
        <p:nvSpPr>
          <p:cNvPr id="12" name="Text 9"/>
          <p:cNvSpPr/>
          <p:nvPr/>
        </p:nvSpPr>
        <p:spPr>
          <a:xfrm>
            <a:off x="3778250" y="2800251"/>
            <a:ext cx="1935988"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Turn each label into a token change or a scoped override</a:t>
            </a:r>
            <a:endParaRPr lang="en-US" sz="1300" dirty="0"/>
          </a:p>
        </p:txBody>
      </p:sp>
      <p:pic>
        <p:nvPicPr>
          <p:cNvPr id="13" name="Image 1" descr="arrow-right"/>
          <p:cNvPicPr>
            <a:picLocks noChangeAspect="1"/>
          </p:cNvPicPr>
          <p:nvPr/>
        </p:nvPicPr>
        <p:blipFill>
          <a:blip r:embed="rId3"/>
          <a:srcRect/>
          <a:stretch/>
        </p:blipFill>
        <p:spPr>
          <a:xfrm>
            <a:off x="5969000" y="2852241"/>
            <a:ext cx="254000" cy="127000"/>
          </a:xfrm>
          <a:prstGeom prst="rect">
            <a:avLst/>
          </a:prstGeom>
        </p:spPr>
      </p:pic>
      <p:sp>
        <p:nvSpPr>
          <p:cNvPr id="14" name="Shape 10"/>
          <p:cNvSpPr/>
          <p:nvPr/>
        </p:nvSpPr>
        <p:spPr>
          <a:xfrm>
            <a:off x="6327775" y="1933525"/>
            <a:ext cx="2292350" cy="1964482"/>
          </a:xfrm>
          <a:prstGeom prst="roundRect">
            <a:avLst>
              <a:gd name="adj" fmla="val 5010"/>
            </a:avLst>
          </a:prstGeom>
          <a:solidFill>
            <a:srgbClr val="FEFEFC"/>
          </a:solidFill>
          <a:ln w="6350">
            <a:solidFill>
              <a:srgbClr val="DDDBD5"/>
            </a:solidFill>
            <a:prstDash val="solid"/>
          </a:ln>
        </p:spPr>
        <p:txBody>
          <a:bodyPr/>
          <a:lstStyle/>
          <a:p>
            <a:endParaRPr lang="en-US"/>
          </a:p>
        </p:txBody>
      </p:sp>
      <p:sp>
        <p:nvSpPr>
          <p:cNvPr id="15" name="Text 11"/>
          <p:cNvSpPr/>
          <p:nvPr/>
        </p:nvSpPr>
        <p:spPr>
          <a:xfrm>
            <a:off x="6534150" y="2139900"/>
            <a:ext cx="19359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62FE"/>
                </a:solidFill>
                <a:latin typeface="Inter" pitchFamily="34" charset="0"/>
                <a:ea typeface="Inter" pitchFamily="34" charset="-122"/>
                <a:cs typeface="Inter" pitchFamily="34" charset="-120"/>
              </a:rPr>
              <a:t>Claude Code</a:t>
            </a:r>
            <a:endParaRPr lang="en-US" sz="1200" dirty="0"/>
          </a:p>
        </p:txBody>
      </p:sp>
      <p:sp>
        <p:nvSpPr>
          <p:cNvPr id="16" name="Text 12"/>
          <p:cNvSpPr/>
          <p:nvPr/>
        </p:nvSpPr>
        <p:spPr>
          <a:xfrm>
            <a:off x="6534150" y="2454821"/>
            <a:ext cx="1935988" cy="26923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81D26"/>
                </a:solidFill>
                <a:latin typeface="Inter" pitchFamily="34" charset="0"/>
                <a:ea typeface="Inter" pitchFamily="34" charset="-122"/>
                <a:cs typeface="Inter" pitchFamily="34" charset="-120"/>
              </a:rPr>
              <a:t>Rebuild</a:t>
            </a:r>
            <a:endParaRPr lang="en-US" sz="1600" dirty="0"/>
          </a:p>
        </p:txBody>
      </p:sp>
      <p:sp>
        <p:nvSpPr>
          <p:cNvPr id="17" name="Text 13"/>
          <p:cNvSpPr/>
          <p:nvPr/>
        </p:nvSpPr>
        <p:spPr>
          <a:xfrm>
            <a:off x="6534150" y="2800251"/>
            <a:ext cx="1935988" cy="91678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Build, screenshot in headless Chrome, compare with the target, fix gaps</a:t>
            </a:r>
            <a:endParaRPr lang="en-US" sz="1300" dirty="0"/>
          </a:p>
        </p:txBody>
      </p:sp>
      <p:pic>
        <p:nvPicPr>
          <p:cNvPr id="18" name="Image 2" descr="arrow-right"/>
          <p:cNvPicPr>
            <a:picLocks noChangeAspect="1"/>
          </p:cNvPicPr>
          <p:nvPr/>
        </p:nvPicPr>
        <p:blipFill>
          <a:blip r:embed="rId3"/>
          <a:srcRect/>
          <a:stretch/>
        </p:blipFill>
        <p:spPr>
          <a:xfrm>
            <a:off x="8724900" y="2852241"/>
            <a:ext cx="254000" cy="127000"/>
          </a:xfrm>
          <a:prstGeom prst="rect">
            <a:avLst/>
          </a:prstGeom>
        </p:spPr>
      </p:pic>
      <p:sp>
        <p:nvSpPr>
          <p:cNvPr id="19" name="Shape 14"/>
          <p:cNvSpPr/>
          <p:nvPr/>
        </p:nvSpPr>
        <p:spPr>
          <a:xfrm>
            <a:off x="9083675" y="1933525"/>
            <a:ext cx="2292350" cy="1964482"/>
          </a:xfrm>
          <a:prstGeom prst="roundRect">
            <a:avLst>
              <a:gd name="adj" fmla="val 5010"/>
            </a:avLst>
          </a:prstGeom>
          <a:solidFill>
            <a:srgbClr val="FEFEFC"/>
          </a:solidFill>
          <a:ln w="6350">
            <a:solidFill>
              <a:srgbClr val="DDDBD5"/>
            </a:solidFill>
            <a:prstDash val="solid"/>
          </a:ln>
        </p:spPr>
        <p:txBody>
          <a:bodyPr/>
          <a:lstStyle/>
          <a:p>
            <a:endParaRPr lang="en-US"/>
          </a:p>
        </p:txBody>
      </p:sp>
      <p:sp>
        <p:nvSpPr>
          <p:cNvPr id="20" name="Text 15"/>
          <p:cNvSpPr/>
          <p:nvPr/>
        </p:nvSpPr>
        <p:spPr>
          <a:xfrm>
            <a:off x="9290050" y="2139900"/>
            <a:ext cx="19359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A2D00"/>
                </a:solidFill>
                <a:latin typeface="Inter" pitchFamily="34" charset="0"/>
                <a:ea typeface="Inter" pitchFamily="34" charset="-122"/>
                <a:cs typeface="Inter" pitchFamily="34" charset="-120"/>
              </a:rPr>
              <a:t>Designer</a:t>
            </a:r>
            <a:endParaRPr lang="en-US" sz="1200" dirty="0"/>
          </a:p>
        </p:txBody>
      </p:sp>
      <p:sp>
        <p:nvSpPr>
          <p:cNvPr id="21" name="Text 16"/>
          <p:cNvSpPr/>
          <p:nvPr/>
        </p:nvSpPr>
        <p:spPr>
          <a:xfrm>
            <a:off x="9290050" y="2454821"/>
            <a:ext cx="1935988" cy="26923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81D26"/>
                </a:solidFill>
                <a:latin typeface="Inter" pitchFamily="34" charset="0"/>
                <a:ea typeface="Inter" pitchFamily="34" charset="-122"/>
                <a:cs typeface="Inter" pitchFamily="34" charset="-120"/>
              </a:rPr>
              <a:t>Review live</a:t>
            </a:r>
            <a:endParaRPr lang="en-US" sz="1600" dirty="0"/>
          </a:p>
        </p:txBody>
      </p:sp>
      <p:sp>
        <p:nvSpPr>
          <p:cNvPr id="22" name="Text 17"/>
          <p:cNvSpPr/>
          <p:nvPr/>
        </p:nvSpPr>
        <p:spPr>
          <a:xfrm>
            <a:off x="9290050" y="2800251"/>
            <a:ext cx="1935988" cy="91678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1454D"/>
                </a:solidFill>
                <a:latin typeface="Inter" pitchFamily="34" charset="0"/>
                <a:ea typeface="Inter" pitchFamily="34" charset="-122"/>
                <a:cs typeface="Inter" pitchFamily="34" charset="-120"/>
              </a:rPr>
              <a:t>Validate, push, and check the Vercel deploy; annotate again if needed</a:t>
            </a:r>
            <a:endParaRPr lang="en-US" sz="1300" dirty="0"/>
          </a:p>
        </p:txBody>
      </p:sp>
      <p:sp>
        <p:nvSpPr>
          <p:cNvPr id="23" name="Text 18"/>
          <p:cNvSpPr/>
          <p:nvPr/>
        </p:nvSpPr>
        <p:spPr>
          <a:xfrm>
            <a:off x="812800" y="4256782"/>
            <a:ext cx="948372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81D26"/>
                </a:solidFill>
                <a:latin typeface="Inter" pitchFamily="34" charset="0"/>
                <a:ea typeface="Inter" pitchFamily="34" charset="-122"/>
                <a:cs typeface="Inter" pitchFamily="34" charset="-120"/>
              </a:rPr>
              <a:t>The designer's feedback stays visual: screenshots with labels. Claude turns it into precise code changes.</a:t>
            </a:r>
            <a:endParaRPr lang="en-US" sz="1500" dirty="0"/>
          </a:p>
        </p:txBody>
      </p:sp>
      <p:sp>
        <p:nvSpPr>
          <p:cNvPr id="24" name="Text 1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6"/>
                </a:solidFill>
                <a:latin typeface="Inter" pitchFamily="34" charset="0"/>
                <a:ea typeface="Inter" pitchFamily="34" charset="-122"/>
                <a:cs typeface="Inter" pitchFamily="34" charset="-120"/>
              </a:rPr>
              <a:t>9 · Applying and checking</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A2D00"/>
                </a:solidFill>
                <a:latin typeface="Inter" pitchFamily="34" charset="0"/>
                <a:ea typeface="Inter" pitchFamily="34" charset="-122"/>
                <a:cs typeface="Inter" pitchFamily="34" charset="-120"/>
              </a:rPr>
              <a:t>3 · APPLYING THE SYSTEM AND CHECKING IT</a:t>
            </a:r>
            <a:endParaRPr lang="en-US" sz="1200" dirty="0"/>
          </a:p>
        </p:txBody>
      </p:sp>
      <p:sp>
        <p:nvSpPr>
          <p:cNvPr id="3" name="Text 1"/>
          <p:cNvSpPr/>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181D26"/>
                </a:solidFill>
                <a:latin typeface="Inter" pitchFamily="34" charset="0"/>
                <a:ea typeface="Inter" pitchFamily="34" charset="-122"/>
                <a:cs typeface="Inter" pitchFamily="34" charset="-120"/>
              </a:rPr>
              <a:t>Round two: each annotation and its fix</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41450"/>
          <a:ext cx="10553700" cy="2874568"/>
        </p:xfrm>
        <a:graphic>
          <a:graphicData uri="http://schemas.openxmlformats.org/drawingml/2006/table">
            <a:tbl>
              <a:tblPr/>
              <a:tblGrid>
                <a:gridCol w="3799332">
                  <a:extLst>
                    <a:ext uri="{9D8B030D-6E8A-4147-A177-3AD203B41FA5}">
                      <a16:colId xmlns:a16="http://schemas.microsoft.com/office/drawing/2014/main" val="20000"/>
                    </a:ext>
                  </a:extLst>
                </a:gridCol>
                <a:gridCol w="6754368">
                  <a:extLst>
                    <a:ext uri="{9D8B030D-6E8A-4147-A177-3AD203B41FA5}">
                      <a16:colId xmlns:a16="http://schemas.microsoft.com/office/drawing/2014/main" val="20001"/>
                    </a:ext>
                  </a:extLst>
                </a:gridCol>
              </a:tblGrid>
              <a:tr h="359321">
                <a:tc>
                  <a:txBody>
                    <a:bodyPr/>
                    <a:lstStyle/>
                    <a:p>
                      <a:pPr marL="0" indent="0">
                        <a:lnSpc>
                          <a:spcPts val="1820"/>
                        </a:lnSpc>
                        <a:buNone/>
                      </a:pPr>
                      <a:r>
                        <a:rPr lang="en-US" sz="1300" b="1" dirty="0">
                          <a:solidFill>
                            <a:srgbClr val="181D26"/>
                          </a:solidFill>
                          <a:latin typeface="Inter" pitchFamily="34" charset="0"/>
                          <a:ea typeface="Inter" pitchFamily="34" charset="-122"/>
                          <a:cs typeface="Inter" pitchFamily="34" charset="-120"/>
                        </a:rPr>
                        <a:t>Designer's annotation</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1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1C0BC"/>
                      </a:solidFill>
                      <a:prstDash val="solid"/>
                      <a:round/>
                      <a:headEnd type="none" w="med" len="med"/>
                      <a:tailEnd type="none" w="med" len="med"/>
                    </a:lnB>
                    <a:solidFill>
                      <a:srgbClr val="F2F1EC"/>
                    </a:solidFill>
                  </a:tcPr>
                </a:tc>
                <a:tc>
                  <a:txBody>
                    <a:bodyPr/>
                    <a:lstStyle/>
                    <a:p>
                      <a:pPr marL="0" indent="0">
                        <a:lnSpc>
                          <a:spcPts val="1820"/>
                        </a:lnSpc>
                        <a:buNone/>
                      </a:pPr>
                      <a:r>
                        <a:rPr lang="en-US" sz="1300" b="1" dirty="0">
                          <a:solidFill>
                            <a:srgbClr val="181D26"/>
                          </a:solidFill>
                          <a:latin typeface="Inter" pitchFamily="34" charset="0"/>
                          <a:ea typeface="Inter" pitchFamily="34" charset="-122"/>
                          <a:cs typeface="Inter" pitchFamily="34" charset="-120"/>
                        </a:rPr>
                        <a:t>Change in code</a:t>
                      </a:r>
                      <a:endParaRPr lang="en-US" sz="1300" dirty="0">
                        <a:latin typeface="Inter" charset="0"/>
                        <a:ea typeface="Inter" charset="0"/>
                        <a:cs typeface="Inter" charset="0"/>
                      </a:endParaRPr>
                    </a:p>
                  </a:txBody>
                  <a:tcPr marL="57785" marR="57785" marT="57785" marB="57785">
                    <a:lnL w="12700" cap="flat" cmpd="sng" algn="ctr">
                      <a:solidFill>
                        <a:srgbClr val="C1C0BC"/>
                      </a:solidFill>
                      <a:prstDash val="solid"/>
                      <a:round/>
                      <a:headEnd type="none" w="med" len="med"/>
                      <a:tailEnd type="none" w="med" len="med"/>
                    </a:lnL>
                    <a:lnR w="12700" cap="flat" cmpd="sng" algn="ctr">
                      <a:solidFill>
                        <a:srgbClr val="C1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1C0BC"/>
                      </a:solidFill>
                      <a:prstDash val="solid"/>
                      <a:round/>
                      <a:headEnd type="none" w="med" len="med"/>
                      <a:tailEnd type="none" w="med" len="med"/>
                    </a:lnB>
                    <a:solidFill>
                      <a:srgbClr val="F2F1EC"/>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Different default button color</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1C0BC"/>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Secondary buttons become white with a hairline border</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1C0BC"/>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Selected tab background</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The in-progress pipeline stage turns signature coral</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Different table highlight</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Gray header band removed; table framed as a rounded white card</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Different badge style</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Small rounded chips; "Inferred" turns yellow; Carbon's extra outline removed</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Active and inactive menu tabs</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Gray fill marks the active item; ink text replaces link blue</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5"/>
                  </a:ext>
                </a:extLst>
              </a:tr>
              <a:tr h="359321">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Open graph link missing</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Added, styled as a link on an allowed Carbon Button</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6"/>
                  </a:ext>
                </a:extLst>
              </a:tr>
              <a:tr h="359321">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White containers, spacing, status colors</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Entity cards, connectors pinned to the bottom, brighter status dot</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6"/>
                </a:solidFill>
                <a:latin typeface="Inter" pitchFamily="34" charset="0"/>
                <a:ea typeface="Inter" pitchFamily="34" charset="-122"/>
                <a:cs typeface="Inter" pitchFamily="34" charset="-120"/>
              </a:rPr>
              <a:t>10 · Applying and checking · one commit, 8 files, deployed the same day</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1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A2D00"/>
                </a:solidFill>
                <a:latin typeface="Inter" pitchFamily="34" charset="0"/>
                <a:ea typeface="Inter" pitchFamily="34" charset="-122"/>
                <a:cs typeface="Inter" pitchFamily="34" charset="-120"/>
              </a:rPr>
              <a:t>4 · WHY CARBON, WHY AIRTABLE</a:t>
            </a:r>
            <a:endParaRPr lang="en-US" sz="1200" dirty="0"/>
          </a:p>
        </p:txBody>
      </p:sp>
      <p:sp>
        <p:nvSpPr>
          <p:cNvPr id="3" name="Text 1"/>
          <p:cNvSpPr/>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181D26"/>
                </a:solidFill>
                <a:latin typeface="Inter" pitchFamily="34" charset="0"/>
                <a:ea typeface="Inter" pitchFamily="34" charset="-122"/>
                <a:cs typeface="Inter" pitchFamily="34" charset="-120"/>
              </a:rPr>
              <a:t>Why Carbon is the foundation</a:t>
            </a:r>
            <a:endParaRPr lang="en-US" sz="3200" dirty="0"/>
          </a:p>
        </p:txBody>
      </p:sp>
      <p:sp>
        <p:nvSpPr>
          <p:cNvPr id="4" name="Shape 2"/>
          <p:cNvSpPr/>
          <p:nvPr/>
        </p:nvSpPr>
        <p:spPr>
          <a:xfrm>
            <a:off x="812800" y="1879550"/>
            <a:ext cx="5207000" cy="1277590"/>
          </a:xfrm>
          <a:prstGeom prst="roundRect">
            <a:avLst>
              <a:gd name="adj" fmla="val 7952"/>
            </a:avLst>
          </a:prstGeom>
          <a:solidFill>
            <a:srgbClr val="FEFEFC"/>
          </a:solidFill>
          <a:ln/>
        </p:spPr>
        <p:txBody>
          <a:bodyPr/>
          <a:lstStyle/>
          <a:p>
            <a:endParaRPr lang="en-US"/>
          </a:p>
        </p:txBody>
      </p:sp>
      <p:sp>
        <p:nvSpPr>
          <p:cNvPr id="5" name="Shape 3"/>
          <p:cNvSpPr/>
          <p:nvPr/>
        </p:nvSpPr>
        <p:spPr>
          <a:xfrm>
            <a:off x="812800" y="1879550"/>
            <a:ext cx="5207000" cy="1277590"/>
          </a:xfrm>
          <a:custGeom>
            <a:avLst/>
            <a:gdLst/>
            <a:ahLst/>
            <a:cxnLst/>
            <a:rect l="l" t="t" r="r" b="b"/>
            <a:pathLst>
              <a:path w="5207000" h="1277590">
                <a:moveTo>
                  <a:pt x="0" y="101600"/>
                </a:moveTo>
                <a:lnTo>
                  <a:pt x="0" y="101600"/>
                </a:lnTo>
                <a:arcTo wR="101600" hR="101600" stAng="10800000" swAng="5400000"/>
                <a:lnTo>
                  <a:pt x="5105400" y="0"/>
                </a:lnTo>
                <a:arcTo wR="101600" hR="101600" stAng="16200000" swAng="5400000"/>
                <a:lnTo>
                  <a:pt x="5207000" y="101600"/>
                </a:lnTo>
                <a:arcTo wR="101600" hR="63500" stAng="0" swAng="-5400000"/>
                <a:lnTo>
                  <a:pt x="101600" y="38100"/>
                </a:lnTo>
                <a:arcTo wR="101600" hR="63500" stAng="16200000" swAng="-5400000"/>
                <a:close/>
              </a:path>
            </a:pathLst>
          </a:custGeom>
          <a:solidFill>
            <a:srgbClr val="0F62FE"/>
          </a:solidFill>
          <a:ln/>
        </p:spPr>
        <p:txBody>
          <a:bodyPr/>
          <a:lstStyle/>
          <a:p>
            <a:endParaRPr lang="en-US"/>
          </a:p>
        </p:txBody>
      </p:sp>
      <p:sp>
        <p:nvSpPr>
          <p:cNvPr id="6" name="Text 4"/>
          <p:cNvSpPr/>
          <p:nvPr/>
        </p:nvSpPr>
        <p:spPr>
          <a:xfrm>
            <a:off x="1041400" y="2146250"/>
            <a:ext cx="4892294" cy="26923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81D26"/>
                </a:solidFill>
                <a:latin typeface="Inter" pitchFamily="34" charset="0"/>
                <a:ea typeface="Inter" pitchFamily="34" charset="-122"/>
                <a:cs typeface="Inter" pitchFamily="34" charset="-120"/>
              </a:rPr>
              <a:t>Open source and complete</a:t>
            </a:r>
            <a:endParaRPr lang="en-US" sz="1600" dirty="0"/>
          </a:p>
        </p:txBody>
      </p:sp>
      <p:sp>
        <p:nvSpPr>
          <p:cNvPr id="7" name="Text 5"/>
          <p:cNvSpPr/>
          <p:nvPr/>
        </p:nvSpPr>
        <p:spPr>
          <a:xfrm>
            <a:off x="1041400" y="2466280"/>
            <a:ext cx="4892294"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1454D"/>
                </a:solidFill>
                <a:latin typeface="Inter" pitchFamily="34" charset="0"/>
                <a:ea typeface="Inter" pitchFamily="34" charset="-122"/>
                <a:cs typeface="Inter" pitchFamily="34" charset="-120"/>
              </a:rPr>
              <a:t>A mature React library with what data-heavy apps need: tables, tabs, tiles, forms</a:t>
            </a:r>
            <a:endParaRPr lang="en-US" sz="1300" dirty="0"/>
          </a:p>
        </p:txBody>
      </p:sp>
      <p:sp>
        <p:nvSpPr>
          <p:cNvPr id="8" name="Shape 6"/>
          <p:cNvSpPr/>
          <p:nvPr/>
        </p:nvSpPr>
        <p:spPr>
          <a:xfrm>
            <a:off x="6172200" y="1879550"/>
            <a:ext cx="5207000" cy="1277590"/>
          </a:xfrm>
          <a:prstGeom prst="roundRect">
            <a:avLst>
              <a:gd name="adj" fmla="val 7952"/>
            </a:avLst>
          </a:prstGeom>
          <a:solidFill>
            <a:srgbClr val="FEFEFC"/>
          </a:solidFill>
          <a:ln/>
        </p:spPr>
        <p:txBody>
          <a:bodyPr/>
          <a:lstStyle/>
          <a:p>
            <a:endParaRPr lang="en-US"/>
          </a:p>
        </p:txBody>
      </p:sp>
      <p:sp>
        <p:nvSpPr>
          <p:cNvPr id="9" name="Shape 7"/>
          <p:cNvSpPr/>
          <p:nvPr/>
        </p:nvSpPr>
        <p:spPr>
          <a:xfrm>
            <a:off x="6172200" y="1879550"/>
            <a:ext cx="5207000" cy="1277590"/>
          </a:xfrm>
          <a:custGeom>
            <a:avLst/>
            <a:gdLst/>
            <a:ahLst/>
            <a:cxnLst/>
            <a:rect l="l" t="t" r="r" b="b"/>
            <a:pathLst>
              <a:path w="5207000" h="1277590">
                <a:moveTo>
                  <a:pt x="0" y="101600"/>
                </a:moveTo>
                <a:lnTo>
                  <a:pt x="0" y="101600"/>
                </a:lnTo>
                <a:arcTo wR="101600" hR="101600" stAng="10800000" swAng="5400000"/>
                <a:lnTo>
                  <a:pt x="5105400" y="0"/>
                </a:lnTo>
                <a:arcTo wR="101600" hR="101600" stAng="16200000" swAng="5400000"/>
                <a:lnTo>
                  <a:pt x="5207000" y="101600"/>
                </a:lnTo>
                <a:arcTo wR="101600" hR="63500" stAng="0" swAng="-5400000"/>
                <a:lnTo>
                  <a:pt x="101600" y="38100"/>
                </a:lnTo>
                <a:arcTo wR="101600" hR="63500" stAng="16200000" swAng="-5400000"/>
                <a:close/>
              </a:path>
            </a:pathLst>
          </a:custGeom>
          <a:solidFill>
            <a:srgbClr val="0F62FE"/>
          </a:solidFill>
          <a:ln/>
        </p:spPr>
        <p:txBody>
          <a:bodyPr/>
          <a:lstStyle/>
          <a:p>
            <a:endParaRPr lang="en-US"/>
          </a:p>
        </p:txBody>
      </p:sp>
      <p:sp>
        <p:nvSpPr>
          <p:cNvPr id="10" name="Text 8"/>
          <p:cNvSpPr/>
          <p:nvPr/>
        </p:nvSpPr>
        <p:spPr>
          <a:xfrm>
            <a:off x="6400800" y="2146250"/>
            <a:ext cx="4892294" cy="26923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81D26"/>
                </a:solidFill>
                <a:latin typeface="Inter" pitchFamily="34" charset="0"/>
                <a:ea typeface="Inter" pitchFamily="34" charset="-122"/>
                <a:cs typeface="Inter" pitchFamily="34" charset="-120"/>
              </a:rPr>
              <a:t>Accessibility built in</a:t>
            </a:r>
            <a:endParaRPr lang="en-US" sz="1600" dirty="0"/>
          </a:p>
        </p:txBody>
      </p:sp>
      <p:sp>
        <p:nvSpPr>
          <p:cNvPr id="11" name="Text 9"/>
          <p:cNvSpPr/>
          <p:nvPr/>
        </p:nvSpPr>
        <p:spPr>
          <a:xfrm>
            <a:off x="6400800" y="2466280"/>
            <a:ext cx="4892294"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1454D"/>
                </a:solidFill>
                <a:latin typeface="Inter" pitchFamily="34" charset="0"/>
                <a:ea typeface="Inter" pitchFamily="34" charset="-122"/>
                <a:cs typeface="Inter" pitchFamily="34" charset="-120"/>
              </a:rPr>
              <a:t>Keyboard, focus and screen-reader behavior ship with the components</a:t>
            </a:r>
            <a:endParaRPr lang="en-US" sz="1300" dirty="0"/>
          </a:p>
        </p:txBody>
      </p:sp>
      <p:sp>
        <p:nvSpPr>
          <p:cNvPr id="12" name="Shape 10"/>
          <p:cNvSpPr/>
          <p:nvPr/>
        </p:nvSpPr>
        <p:spPr>
          <a:xfrm>
            <a:off x="812800" y="3309541"/>
            <a:ext cx="5207000" cy="1277590"/>
          </a:xfrm>
          <a:prstGeom prst="roundRect">
            <a:avLst>
              <a:gd name="adj" fmla="val 7952"/>
            </a:avLst>
          </a:prstGeom>
          <a:solidFill>
            <a:srgbClr val="FEFEFC"/>
          </a:solidFill>
          <a:ln/>
        </p:spPr>
        <p:txBody>
          <a:bodyPr/>
          <a:lstStyle/>
          <a:p>
            <a:endParaRPr lang="en-US"/>
          </a:p>
        </p:txBody>
      </p:sp>
      <p:sp>
        <p:nvSpPr>
          <p:cNvPr id="13" name="Shape 11"/>
          <p:cNvSpPr/>
          <p:nvPr/>
        </p:nvSpPr>
        <p:spPr>
          <a:xfrm>
            <a:off x="812800" y="3309541"/>
            <a:ext cx="5207000" cy="1277590"/>
          </a:xfrm>
          <a:custGeom>
            <a:avLst/>
            <a:gdLst/>
            <a:ahLst/>
            <a:cxnLst/>
            <a:rect l="l" t="t" r="r" b="b"/>
            <a:pathLst>
              <a:path w="5207000" h="1277590">
                <a:moveTo>
                  <a:pt x="0" y="101600"/>
                </a:moveTo>
                <a:lnTo>
                  <a:pt x="0" y="101600"/>
                </a:lnTo>
                <a:arcTo wR="101600" hR="101600" stAng="10800000" swAng="5400000"/>
                <a:lnTo>
                  <a:pt x="5105400" y="0"/>
                </a:lnTo>
                <a:arcTo wR="101600" hR="101600" stAng="16200000" swAng="5400000"/>
                <a:lnTo>
                  <a:pt x="5207000" y="101600"/>
                </a:lnTo>
                <a:arcTo wR="101600" hR="63500" stAng="0" swAng="-5400000"/>
                <a:lnTo>
                  <a:pt x="101600" y="38100"/>
                </a:lnTo>
                <a:arcTo wR="101600" hR="63500" stAng="16200000" swAng="-5400000"/>
                <a:close/>
              </a:path>
            </a:pathLst>
          </a:custGeom>
          <a:solidFill>
            <a:srgbClr val="0F62FE"/>
          </a:solidFill>
          <a:ln/>
        </p:spPr>
        <p:txBody>
          <a:bodyPr/>
          <a:lstStyle/>
          <a:p>
            <a:endParaRPr lang="en-US"/>
          </a:p>
        </p:txBody>
      </p:sp>
      <p:sp>
        <p:nvSpPr>
          <p:cNvPr id="14" name="Text 12"/>
          <p:cNvSpPr/>
          <p:nvPr/>
        </p:nvSpPr>
        <p:spPr>
          <a:xfrm>
            <a:off x="1041400" y="3576241"/>
            <a:ext cx="4892294" cy="26923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81D26"/>
                </a:solidFill>
                <a:latin typeface="Inter" pitchFamily="34" charset="0"/>
                <a:ea typeface="Inter" pitchFamily="34" charset="-122"/>
                <a:cs typeface="Inter" pitchFamily="34" charset="-120"/>
              </a:rPr>
              <a:t>Built on tokens</a:t>
            </a:r>
            <a:endParaRPr lang="en-US" sz="1600" dirty="0"/>
          </a:p>
        </p:txBody>
      </p:sp>
      <p:sp>
        <p:nvSpPr>
          <p:cNvPr id="15" name="Text 13"/>
          <p:cNvSpPr/>
          <p:nvPr/>
        </p:nvSpPr>
        <p:spPr>
          <a:xfrm>
            <a:off x="1041400" y="3896271"/>
            <a:ext cx="4892294"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1454D"/>
                </a:solidFill>
                <a:latin typeface="Inter" pitchFamily="34" charset="0"/>
                <a:ea typeface="Inter" pitchFamily="34" charset="-122"/>
                <a:cs typeface="Inter" pitchFamily="34" charset="-120"/>
              </a:rPr>
              <a:t>Components read color through --cds-* properties, so they can be restyled without forking</a:t>
            </a:r>
            <a:endParaRPr lang="en-US" sz="1300" dirty="0"/>
          </a:p>
        </p:txBody>
      </p:sp>
      <p:sp>
        <p:nvSpPr>
          <p:cNvPr id="16" name="Shape 14"/>
          <p:cNvSpPr/>
          <p:nvPr/>
        </p:nvSpPr>
        <p:spPr>
          <a:xfrm>
            <a:off x="6172200" y="3309541"/>
            <a:ext cx="5207000" cy="1277590"/>
          </a:xfrm>
          <a:prstGeom prst="roundRect">
            <a:avLst>
              <a:gd name="adj" fmla="val 7952"/>
            </a:avLst>
          </a:prstGeom>
          <a:solidFill>
            <a:srgbClr val="FEFEFC"/>
          </a:solidFill>
          <a:ln/>
        </p:spPr>
        <p:txBody>
          <a:bodyPr/>
          <a:lstStyle/>
          <a:p>
            <a:endParaRPr lang="en-US"/>
          </a:p>
        </p:txBody>
      </p:sp>
      <p:sp>
        <p:nvSpPr>
          <p:cNvPr id="17" name="Shape 15"/>
          <p:cNvSpPr/>
          <p:nvPr/>
        </p:nvSpPr>
        <p:spPr>
          <a:xfrm>
            <a:off x="6172200" y="3309541"/>
            <a:ext cx="5207000" cy="1277590"/>
          </a:xfrm>
          <a:custGeom>
            <a:avLst/>
            <a:gdLst/>
            <a:ahLst/>
            <a:cxnLst/>
            <a:rect l="l" t="t" r="r" b="b"/>
            <a:pathLst>
              <a:path w="5207000" h="1277590">
                <a:moveTo>
                  <a:pt x="0" y="101600"/>
                </a:moveTo>
                <a:lnTo>
                  <a:pt x="0" y="101600"/>
                </a:lnTo>
                <a:arcTo wR="101600" hR="101600" stAng="10800000" swAng="5400000"/>
                <a:lnTo>
                  <a:pt x="5105400" y="0"/>
                </a:lnTo>
                <a:arcTo wR="101600" hR="101600" stAng="16200000" swAng="5400000"/>
                <a:lnTo>
                  <a:pt x="5207000" y="101600"/>
                </a:lnTo>
                <a:arcTo wR="101600" hR="63500" stAng="0" swAng="-5400000"/>
                <a:lnTo>
                  <a:pt x="101600" y="38100"/>
                </a:lnTo>
                <a:arcTo wR="101600" hR="63500" stAng="16200000" swAng="-5400000"/>
                <a:close/>
              </a:path>
            </a:pathLst>
          </a:custGeom>
          <a:solidFill>
            <a:srgbClr val="0F62FE"/>
          </a:solidFill>
          <a:ln/>
        </p:spPr>
        <p:txBody>
          <a:bodyPr/>
          <a:lstStyle/>
          <a:p>
            <a:endParaRPr lang="en-US"/>
          </a:p>
        </p:txBody>
      </p:sp>
      <p:sp>
        <p:nvSpPr>
          <p:cNvPr id="18" name="Text 16"/>
          <p:cNvSpPr/>
          <p:nvPr/>
        </p:nvSpPr>
        <p:spPr>
          <a:xfrm>
            <a:off x="6400800" y="3576241"/>
            <a:ext cx="4892294" cy="26923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81D26"/>
                </a:solidFill>
                <a:latin typeface="Inter" pitchFamily="34" charset="0"/>
                <a:ea typeface="Inter" pitchFamily="34" charset="-122"/>
                <a:cs typeface="Inter" pitchFamily="34" charset="-120"/>
              </a:rPr>
              <a:t>Easy for a machine to check</a:t>
            </a:r>
            <a:endParaRPr lang="en-US" sz="1600" dirty="0"/>
          </a:p>
        </p:txBody>
      </p:sp>
      <p:sp>
        <p:nvSpPr>
          <p:cNvPr id="19" name="Text 17"/>
          <p:cNvSpPr/>
          <p:nvPr/>
        </p:nvSpPr>
        <p:spPr>
          <a:xfrm>
            <a:off x="6400800" y="3896271"/>
            <a:ext cx="4892294"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1454D"/>
                </a:solidFill>
                <a:latin typeface="Inter" pitchFamily="34" charset="0"/>
                <a:ea typeface="Inter" pitchFamily="34" charset="-122"/>
                <a:cs typeface="Inter" pitchFamily="34" charset="-120"/>
              </a:rPr>
              <a:t>A fixed component list and named tokens make "on-system" something a script can verify</a:t>
            </a:r>
            <a:endParaRPr lang="en-US" sz="13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6"/>
                </a:solidFill>
                <a:latin typeface="Inter" pitchFamily="34" charset="0"/>
                <a:ea typeface="Inter" pitchFamily="34" charset="-122"/>
                <a:cs typeface="Inter" pitchFamily="34" charset="-120"/>
              </a:rPr>
              <a:t>11 · Why Carbon</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A2D00"/>
                </a:solidFill>
                <a:latin typeface="Inter" pitchFamily="34" charset="0"/>
                <a:ea typeface="Inter" pitchFamily="34" charset="-122"/>
                <a:cs typeface="Inter" pitchFamily="34" charset="-120"/>
              </a:rPr>
              <a:t>4 · WHY CARBON, WHY AIRTABLE</a:t>
            </a:r>
            <a:endParaRPr lang="en-US" sz="1200" dirty="0"/>
          </a:p>
        </p:txBody>
      </p:sp>
      <p:sp>
        <p:nvSpPr>
          <p:cNvPr id="3" name="Text 1"/>
          <p:cNvSpPr/>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181D26"/>
                </a:solidFill>
                <a:latin typeface="Inter" pitchFamily="34" charset="0"/>
                <a:ea typeface="Inter" pitchFamily="34" charset="-122"/>
                <a:cs typeface="Inter" pitchFamily="34" charset="-120"/>
              </a:rPr>
              <a:t>Why an Airtable layer on top</a:t>
            </a:r>
            <a:endParaRPr lang="en-US" sz="3200" dirty="0"/>
          </a:p>
        </p:txBody>
      </p:sp>
      <p:sp>
        <p:nvSpPr>
          <p:cNvPr id="4" name="Text 2"/>
          <p:cNvSpPr/>
          <p:nvPr/>
        </p:nvSpPr>
        <p:spPr>
          <a:xfrm>
            <a:off x="812800" y="1828750"/>
            <a:ext cx="10137775"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1454D"/>
                </a:solidFill>
                <a:latin typeface="Inter" pitchFamily="34" charset="0"/>
                <a:ea typeface="Inter" pitchFamily="34" charset="-122"/>
                <a:cs typeface="Inter" pitchFamily="34" charset="-120"/>
              </a:rPr>
              <a:t>Carbon gets behavior right, but its look reads as IBM enterprise. Airtable's DESIGN.md is a documented, token-based style that is warmer and more editorial, so we kept Carbon's structure and swapped the skin where the two differ.</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895550"/>
          <a:ext cx="10553700" cy="2155926"/>
        </p:xfrm>
        <a:graphic>
          <a:graphicData uri="http://schemas.openxmlformats.org/drawingml/2006/table">
            <a:tbl>
              <a:tblPr/>
              <a:tblGrid>
                <a:gridCol w="2321814">
                  <a:extLst>
                    <a:ext uri="{9D8B030D-6E8A-4147-A177-3AD203B41FA5}">
                      <a16:colId xmlns:a16="http://schemas.microsoft.com/office/drawing/2014/main" val="20000"/>
                    </a:ext>
                  </a:extLst>
                </a:gridCol>
                <a:gridCol w="3799332">
                  <a:extLst>
                    <a:ext uri="{9D8B030D-6E8A-4147-A177-3AD203B41FA5}">
                      <a16:colId xmlns:a16="http://schemas.microsoft.com/office/drawing/2014/main" val="20001"/>
                    </a:ext>
                  </a:extLst>
                </a:gridCol>
                <a:gridCol w="4432554">
                  <a:extLst>
                    <a:ext uri="{9D8B030D-6E8A-4147-A177-3AD203B41FA5}">
                      <a16:colId xmlns:a16="http://schemas.microsoft.com/office/drawing/2014/main" val="20002"/>
                    </a:ext>
                  </a:extLst>
                </a:gridCol>
              </a:tblGrid>
              <a:tr h="359321">
                <a:tc>
                  <a:txBody>
                    <a:bodyPr/>
                    <a:lstStyle/>
                    <a:p>
                      <a:pPr marL="0" indent="0">
                        <a:lnSpc>
                          <a:spcPts val="1820"/>
                        </a:lnSpc>
                        <a:buNone/>
                      </a:pPr>
                      <a:r>
                        <a:rPr lang="en-US" sz="1300" b="1" dirty="0">
                          <a:solidFill>
                            <a:srgbClr val="181D26"/>
                          </a:solidFill>
                          <a:latin typeface="Inter" pitchFamily="34" charset="0"/>
                          <a:ea typeface="Inter" pitchFamily="34" charset="-122"/>
                          <a:cs typeface="Inter" pitchFamily="34" charset="-120"/>
                        </a:rPr>
                        <a:t>Situation</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1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1C0BC"/>
                      </a:solidFill>
                      <a:prstDash val="solid"/>
                      <a:round/>
                      <a:headEnd type="none" w="med" len="med"/>
                      <a:tailEnd type="none" w="med" len="med"/>
                    </a:lnB>
                    <a:solidFill>
                      <a:srgbClr val="F2F1EC"/>
                    </a:solidFill>
                  </a:tcPr>
                </a:tc>
                <a:tc>
                  <a:txBody>
                    <a:bodyPr/>
                    <a:lstStyle/>
                    <a:p>
                      <a:pPr marL="0" indent="0">
                        <a:lnSpc>
                          <a:spcPts val="1820"/>
                        </a:lnSpc>
                        <a:buNone/>
                      </a:pPr>
                      <a:r>
                        <a:rPr lang="en-US" sz="1300" b="1" dirty="0">
                          <a:solidFill>
                            <a:srgbClr val="0F62FE"/>
                          </a:solidFill>
                          <a:latin typeface="Inter" pitchFamily="34" charset="0"/>
                          <a:ea typeface="Inter" pitchFamily="34" charset="-122"/>
                          <a:cs typeface="Inter" pitchFamily="34" charset="-120"/>
                        </a:rPr>
                        <a:t>Carbon default</a:t>
                      </a:r>
                      <a:endParaRPr lang="en-US" sz="1300" dirty="0">
                        <a:latin typeface="Inter" charset="0"/>
                        <a:ea typeface="Inter" charset="0"/>
                        <a:cs typeface="Inter" charset="0"/>
                      </a:endParaRPr>
                    </a:p>
                  </a:txBody>
                  <a:tcPr marL="57785" marR="57785" marT="57785" marB="57785">
                    <a:lnL w="12700" cap="flat" cmpd="sng" algn="ctr">
                      <a:solidFill>
                        <a:srgbClr val="C1C0BC"/>
                      </a:solidFill>
                      <a:prstDash val="solid"/>
                      <a:round/>
                      <a:headEnd type="none" w="med" len="med"/>
                      <a:tailEnd type="none" w="med" len="med"/>
                    </a:lnL>
                    <a:lnR w="12700" cap="flat" cmpd="sng" algn="ctr">
                      <a:solidFill>
                        <a:srgbClr val="C1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1C0BC"/>
                      </a:solidFill>
                      <a:prstDash val="solid"/>
                      <a:round/>
                      <a:headEnd type="none" w="med" len="med"/>
                      <a:tailEnd type="none" w="med" len="med"/>
                    </a:lnB>
                    <a:solidFill>
                      <a:srgbClr val="F2F1EC"/>
                    </a:solidFill>
                  </a:tcPr>
                </a:tc>
                <a:tc>
                  <a:txBody>
                    <a:bodyPr/>
                    <a:lstStyle/>
                    <a:p>
                      <a:pPr marL="0" indent="0">
                        <a:lnSpc>
                          <a:spcPts val="1820"/>
                        </a:lnSpc>
                        <a:buNone/>
                      </a:pPr>
                      <a:r>
                        <a:rPr lang="en-US" sz="1300" b="1" dirty="0">
                          <a:solidFill>
                            <a:srgbClr val="AA2D00"/>
                          </a:solidFill>
                          <a:latin typeface="Inter" pitchFamily="34" charset="0"/>
                          <a:ea typeface="Inter" pitchFamily="34" charset="-122"/>
                          <a:cs typeface="Inter" pitchFamily="34" charset="-120"/>
                        </a:rPr>
                        <a:t>Airtable style we use</a:t>
                      </a:r>
                      <a:endParaRPr lang="en-US" sz="1300" dirty="0">
                        <a:latin typeface="Inter" charset="0"/>
                        <a:ea typeface="Inter" charset="0"/>
                        <a:cs typeface="Inter" charset="0"/>
                      </a:endParaRPr>
                    </a:p>
                  </a:txBody>
                  <a:tcPr marL="57785" marR="57785" marT="57785" marB="57785">
                    <a:lnL w="12700" cap="flat" cmpd="sng" algn="ctr">
                      <a:solidFill>
                        <a:srgbClr val="C1C0BC"/>
                      </a:solidFill>
                      <a:prstDash val="solid"/>
                      <a:round/>
                      <a:headEnd type="none" w="med" len="med"/>
                      <a:tailEnd type="none" w="med" len="med"/>
                    </a:lnL>
                    <a:lnR w="12700" cap="flat" cmpd="sng" algn="ctr">
                      <a:solidFill>
                        <a:srgbClr val="C1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1C0BC"/>
                      </a:solidFill>
                      <a:prstDash val="solid"/>
                      <a:round/>
                      <a:headEnd type="none" w="med" len="med"/>
                      <a:tailEnd type="none" w="med" len="med"/>
                    </a:lnB>
                    <a:solidFill>
                      <a:srgbClr val="F2F1EC"/>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Buttons</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1C0BC"/>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Square, blue and gray fills</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1C0BC"/>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White with a hairline outline; near-black primary</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1C0BC"/>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Status badges</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Pill-shaped tags, generic palette</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Small rounded chips; yellow for "Inferred"</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Selection</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Blue outline or underline</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Gray fill in navigation; coral for the active stage</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Tables</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Gray header band</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White card with hairline dividers</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Cards</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Flat gray tiles</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marL="0" indent="0">
                        <a:lnSpc>
                          <a:spcPts val="1820"/>
                        </a:lnSpc>
                        <a:buNone/>
                      </a:pPr>
                      <a:r>
                        <a:rPr lang="en-US" sz="1300" dirty="0">
                          <a:solidFill>
                            <a:srgbClr val="181D26"/>
                          </a:solidFill>
                          <a:latin typeface="Inter" pitchFamily="34" charset="0"/>
                          <a:ea typeface="Inter" pitchFamily="34" charset="-122"/>
                          <a:cs typeface="Inter" pitchFamily="34" charset="-120"/>
                        </a:rPr>
                        <a:t>White bordered cards on a soft rail</a:t>
                      </a:r>
                      <a:endParaRPr lang="en-US" sz="1300" dirty="0">
                        <a:latin typeface="Inter" charset="0"/>
                        <a:ea typeface="Inter" charset="0"/>
                        <a:cs typeface="Inter"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6"/>
                </a:solidFill>
                <a:latin typeface="Inter" pitchFamily="34" charset="0"/>
                <a:ea typeface="Inter" pitchFamily="34" charset="-122"/>
                <a:cs typeface="Inter" pitchFamily="34" charset="-120"/>
              </a:rPr>
              <a:t>12 · Why Airtable</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A2D00"/>
                </a:solidFill>
                <a:latin typeface="Inter" pitchFamily="34" charset="0"/>
                <a:ea typeface="Inter" pitchFamily="34" charset="-122"/>
                <a:cs typeface="Inter" pitchFamily="34" charset="-120"/>
              </a:rPr>
              <a:t>WHAT WE LEARNED</a:t>
            </a:r>
            <a:endParaRPr lang="en-US" sz="1200" dirty="0"/>
          </a:p>
        </p:txBody>
      </p:sp>
      <p:sp>
        <p:nvSpPr>
          <p:cNvPr id="3" name="Text 1"/>
          <p:cNvSpPr/>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181D26"/>
                </a:solidFill>
                <a:latin typeface="Inter" pitchFamily="34" charset="0"/>
                <a:ea typeface="Inter" pitchFamily="34" charset="-122"/>
                <a:cs typeface="Inter" pitchFamily="34" charset="-120"/>
              </a:rPr>
              <a:t>Four lessons from the pilot</a:t>
            </a:r>
            <a:endParaRPr lang="en-US" sz="3200" dirty="0"/>
          </a:p>
        </p:txBody>
      </p:sp>
      <p:sp>
        <p:nvSpPr>
          <p:cNvPr id="4" name="Shape 2"/>
          <p:cNvSpPr/>
          <p:nvPr/>
        </p:nvSpPr>
        <p:spPr>
          <a:xfrm>
            <a:off x="815975" y="1882725"/>
            <a:ext cx="5200650" cy="1245840"/>
          </a:xfrm>
          <a:prstGeom prst="roundRect">
            <a:avLst>
              <a:gd name="adj" fmla="val 7900"/>
            </a:avLst>
          </a:prstGeom>
          <a:solidFill>
            <a:srgbClr val="FEFEFC"/>
          </a:solidFill>
          <a:ln w="6350">
            <a:solidFill>
              <a:srgbClr val="DDDBD5"/>
            </a:solidFill>
            <a:prstDash val="solid"/>
          </a:ln>
        </p:spPr>
        <p:txBody>
          <a:bodyPr/>
          <a:lstStyle/>
          <a:p>
            <a:endParaRPr lang="en-US"/>
          </a:p>
        </p:txBody>
      </p:sp>
      <p:sp>
        <p:nvSpPr>
          <p:cNvPr id="5" name="Text 3"/>
          <p:cNvSpPr/>
          <p:nvPr/>
        </p:nvSpPr>
        <p:spPr>
          <a:xfrm>
            <a:off x="1047750" y="2114500"/>
            <a:ext cx="4879213" cy="26923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81D26"/>
                </a:solidFill>
                <a:latin typeface="Inter" pitchFamily="34" charset="0"/>
                <a:ea typeface="Inter" pitchFamily="34" charset="-122"/>
                <a:cs typeface="Inter" pitchFamily="34" charset="-120"/>
              </a:rPr>
              <a:t>Re-point tokens first</a:t>
            </a:r>
            <a:endParaRPr lang="en-US" sz="1600" dirty="0"/>
          </a:p>
        </p:txBody>
      </p:sp>
      <p:sp>
        <p:nvSpPr>
          <p:cNvPr id="6" name="Text 4"/>
          <p:cNvSpPr/>
          <p:nvPr/>
        </p:nvSpPr>
        <p:spPr>
          <a:xfrm>
            <a:off x="1047750" y="2434530"/>
            <a:ext cx="4879213"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1454D"/>
                </a:solidFill>
                <a:latin typeface="Inter" pitchFamily="34" charset="0"/>
                <a:ea typeface="Inter" pitchFamily="34" charset="-122"/>
                <a:cs typeface="Inter" pitchFamily="34" charset="-120"/>
              </a:rPr>
              <a:t>Mapping Carbon's tokens to Airtable values restyled most components with no per-screen code</a:t>
            </a:r>
            <a:endParaRPr lang="en-US" sz="1300" dirty="0"/>
          </a:p>
        </p:txBody>
      </p:sp>
      <p:sp>
        <p:nvSpPr>
          <p:cNvPr id="7" name="Shape 5"/>
          <p:cNvSpPr/>
          <p:nvPr/>
        </p:nvSpPr>
        <p:spPr>
          <a:xfrm>
            <a:off x="6175375" y="1882725"/>
            <a:ext cx="5200650" cy="1245840"/>
          </a:xfrm>
          <a:prstGeom prst="roundRect">
            <a:avLst>
              <a:gd name="adj" fmla="val 7900"/>
            </a:avLst>
          </a:prstGeom>
          <a:solidFill>
            <a:srgbClr val="FEFEFC"/>
          </a:solidFill>
          <a:ln w="6350">
            <a:solidFill>
              <a:srgbClr val="DDDBD5"/>
            </a:solidFill>
            <a:prstDash val="solid"/>
          </a:ln>
        </p:spPr>
        <p:txBody>
          <a:bodyPr/>
          <a:lstStyle/>
          <a:p>
            <a:endParaRPr lang="en-US"/>
          </a:p>
        </p:txBody>
      </p:sp>
      <p:sp>
        <p:nvSpPr>
          <p:cNvPr id="8" name="Text 6"/>
          <p:cNvSpPr/>
          <p:nvPr/>
        </p:nvSpPr>
        <p:spPr>
          <a:xfrm>
            <a:off x="6407150" y="2114500"/>
            <a:ext cx="4879213" cy="26923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81D26"/>
                </a:solidFill>
                <a:latin typeface="Inter" pitchFamily="34" charset="0"/>
                <a:ea typeface="Inter" pitchFamily="34" charset="-122"/>
                <a:cs typeface="Inter" pitchFamily="34" charset="-120"/>
              </a:rPr>
              <a:t>Carbon's internals push back</a:t>
            </a:r>
            <a:endParaRPr lang="en-US" sz="1600" dirty="0"/>
          </a:p>
        </p:txBody>
      </p:sp>
      <p:sp>
        <p:nvSpPr>
          <p:cNvPr id="9" name="Text 7"/>
          <p:cNvSpPr/>
          <p:nvPr/>
        </p:nvSpPr>
        <p:spPr>
          <a:xfrm>
            <a:off x="6407150" y="2434530"/>
            <a:ext cx="4879213"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1454D"/>
                </a:solidFill>
                <a:latin typeface="Inter" pitchFamily="34" charset="0"/>
                <a:ea typeface="Inter" pitchFamily="34" charset="-122"/>
                <a:cs typeface="Inter" pitchFamily="34" charset="-120"/>
              </a:rPr>
              <a:t>Some styles are baked in, like an inset outline on tags, and need targeted overrides</a:t>
            </a:r>
            <a:endParaRPr lang="en-US" sz="1300" dirty="0"/>
          </a:p>
        </p:txBody>
      </p:sp>
      <p:sp>
        <p:nvSpPr>
          <p:cNvPr id="10" name="Shape 8"/>
          <p:cNvSpPr/>
          <p:nvPr/>
        </p:nvSpPr>
        <p:spPr>
          <a:xfrm>
            <a:off x="815975" y="3287316"/>
            <a:ext cx="5200650" cy="1245840"/>
          </a:xfrm>
          <a:prstGeom prst="roundRect">
            <a:avLst>
              <a:gd name="adj" fmla="val 7900"/>
            </a:avLst>
          </a:prstGeom>
          <a:solidFill>
            <a:srgbClr val="FEFEFC"/>
          </a:solidFill>
          <a:ln w="6350">
            <a:solidFill>
              <a:srgbClr val="DDDBD5"/>
            </a:solidFill>
            <a:prstDash val="solid"/>
          </a:ln>
        </p:spPr>
        <p:txBody>
          <a:bodyPr/>
          <a:lstStyle/>
          <a:p>
            <a:endParaRPr lang="en-US"/>
          </a:p>
        </p:txBody>
      </p:sp>
      <p:sp>
        <p:nvSpPr>
          <p:cNvPr id="11" name="Text 9"/>
          <p:cNvSpPr/>
          <p:nvPr/>
        </p:nvSpPr>
        <p:spPr>
          <a:xfrm>
            <a:off x="1047750" y="3519091"/>
            <a:ext cx="4879213" cy="26923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81D26"/>
                </a:solidFill>
                <a:latin typeface="Inter" pitchFamily="34" charset="0"/>
                <a:ea typeface="Inter" pitchFamily="34" charset="-122"/>
                <a:cs typeface="Inter" pitchFamily="34" charset="-120"/>
              </a:rPr>
              <a:t>Web specs need app sizes</a:t>
            </a:r>
            <a:endParaRPr lang="en-US" sz="1600" dirty="0"/>
          </a:p>
        </p:txBody>
      </p:sp>
      <p:sp>
        <p:nvSpPr>
          <p:cNvPr id="12" name="Text 10"/>
          <p:cNvSpPr/>
          <p:nvPr/>
        </p:nvSpPr>
        <p:spPr>
          <a:xfrm>
            <a:off x="1047750" y="3839121"/>
            <a:ext cx="4879213"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1454D"/>
                </a:solidFill>
                <a:latin typeface="Inter" pitchFamily="34" charset="0"/>
                <a:ea typeface="Inter" pitchFamily="34" charset="-122"/>
                <a:cs typeface="Inter" pitchFamily="34" charset="-120"/>
              </a:rPr>
              <a:t>Airtable's spec is built for marketing pages; the app needed 12px and 14px type roles it lacks</a:t>
            </a:r>
            <a:endParaRPr lang="en-US" sz="1300" dirty="0"/>
          </a:p>
        </p:txBody>
      </p:sp>
      <p:sp>
        <p:nvSpPr>
          <p:cNvPr id="13" name="Shape 11"/>
          <p:cNvSpPr/>
          <p:nvPr/>
        </p:nvSpPr>
        <p:spPr>
          <a:xfrm>
            <a:off x="6175375" y="3287316"/>
            <a:ext cx="5200650" cy="1245840"/>
          </a:xfrm>
          <a:prstGeom prst="roundRect">
            <a:avLst>
              <a:gd name="adj" fmla="val 7900"/>
            </a:avLst>
          </a:prstGeom>
          <a:solidFill>
            <a:srgbClr val="FEFEFC"/>
          </a:solidFill>
          <a:ln w="6350">
            <a:solidFill>
              <a:srgbClr val="DDDBD5"/>
            </a:solidFill>
            <a:prstDash val="solid"/>
          </a:ln>
        </p:spPr>
        <p:txBody>
          <a:bodyPr/>
          <a:lstStyle/>
          <a:p>
            <a:endParaRPr lang="en-US"/>
          </a:p>
        </p:txBody>
      </p:sp>
      <p:sp>
        <p:nvSpPr>
          <p:cNvPr id="14" name="Text 12"/>
          <p:cNvSpPr/>
          <p:nvPr/>
        </p:nvSpPr>
        <p:spPr>
          <a:xfrm>
            <a:off x="6407150" y="3519091"/>
            <a:ext cx="4879213" cy="26923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81D26"/>
                </a:solidFill>
                <a:latin typeface="Inter" pitchFamily="34" charset="0"/>
                <a:ea typeface="Inter" pitchFamily="34" charset="-122"/>
                <a:cs typeface="Inter" pitchFamily="34" charset="-120"/>
              </a:rPr>
              <a:t>The allow-list shapes choices</a:t>
            </a:r>
            <a:endParaRPr lang="en-US" sz="1600" dirty="0"/>
          </a:p>
        </p:txBody>
      </p:sp>
      <p:sp>
        <p:nvSpPr>
          <p:cNvPr id="15" name="Text 13"/>
          <p:cNvSpPr/>
          <p:nvPr/>
        </p:nvSpPr>
        <p:spPr>
          <a:xfrm>
            <a:off x="6407150" y="3839121"/>
            <a:ext cx="4879213"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1454D"/>
                </a:solidFill>
                <a:latin typeface="Inter" pitchFamily="34" charset="0"/>
                <a:ea typeface="Inter" pitchFamily="34" charset="-122"/>
                <a:cs typeface="Inter" pitchFamily="34" charset="-120"/>
              </a:rPr>
              <a:t>With no Link component allowed, links became styled Buttons; keep the list and the style in step</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6"/>
                </a:solidFill>
                <a:latin typeface="Inter" pitchFamily="34" charset="0"/>
                <a:ea typeface="Inter" pitchFamily="34" charset="-122"/>
                <a:cs typeface="Inter" pitchFamily="34" charset="-120"/>
              </a:rPr>
              <a:t>13 · Lessons</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1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A2D00"/>
                </a:solidFill>
                <a:latin typeface="Inter" pitchFamily="34" charset="0"/>
                <a:ea typeface="Inter" pitchFamily="34" charset="-122"/>
                <a:cs typeface="Inter" pitchFamily="34" charset="-120"/>
              </a:rPr>
              <a:t>NEXT</a:t>
            </a:r>
            <a:endParaRPr lang="en-US" sz="1200" dirty="0"/>
          </a:p>
        </p:txBody>
      </p:sp>
      <p:sp>
        <p:nvSpPr>
          <p:cNvPr id="3" name="Text 1"/>
          <p:cNvSpPr/>
          <p:nvPr/>
        </p:nvSpPr>
        <p:spPr>
          <a:xfrm>
            <a:off x="812800" y="1127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181D26"/>
                </a:solidFill>
                <a:latin typeface="Inter" pitchFamily="34" charset="0"/>
                <a:ea typeface="Inter" pitchFamily="34" charset="-122"/>
                <a:cs typeface="Inter" pitchFamily="34" charset="-120"/>
              </a:rPr>
              <a:t>Teach the MCP server the Airtable rules</a:t>
            </a:r>
            <a:endParaRPr lang="en-US" sz="3200" dirty="0"/>
          </a:p>
        </p:txBody>
      </p:sp>
      <p:sp>
        <p:nvSpPr>
          <p:cNvPr id="4" name="Shape 2"/>
          <p:cNvSpPr/>
          <p:nvPr/>
        </p:nvSpPr>
        <p:spPr>
          <a:xfrm>
            <a:off x="812800" y="1879550"/>
            <a:ext cx="5181600" cy="1678930"/>
          </a:xfrm>
          <a:prstGeom prst="roundRect">
            <a:avLst>
              <a:gd name="adj" fmla="val 6051"/>
            </a:avLst>
          </a:prstGeom>
          <a:solidFill>
            <a:srgbClr val="FEFEFC"/>
          </a:solidFill>
          <a:ln/>
        </p:spPr>
        <p:txBody>
          <a:bodyPr/>
          <a:lstStyle/>
          <a:p>
            <a:endParaRPr lang="en-US"/>
          </a:p>
        </p:txBody>
      </p:sp>
      <p:sp>
        <p:nvSpPr>
          <p:cNvPr id="5" name="Text 3"/>
          <p:cNvSpPr/>
          <p:nvPr/>
        </p:nvSpPr>
        <p:spPr>
          <a:xfrm>
            <a:off x="1066800" y="2133550"/>
            <a:ext cx="4813808" cy="26923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AA2D00"/>
                </a:solidFill>
                <a:latin typeface="Inter" pitchFamily="34" charset="0"/>
                <a:ea typeface="Inter" pitchFamily="34" charset="-122"/>
                <a:cs typeface="Inter" pitchFamily="34" charset="-120"/>
              </a:rPr>
              <a:t>New validation checks</a:t>
            </a:r>
            <a:endParaRPr lang="en-US" sz="1600" dirty="0"/>
          </a:p>
        </p:txBody>
      </p:sp>
      <p:sp>
        <p:nvSpPr>
          <p:cNvPr id="6" name="Text 4"/>
          <p:cNvSpPr/>
          <p:nvPr/>
        </p:nvSpPr>
        <p:spPr>
          <a:xfrm>
            <a:off x="1066800" y="2504380"/>
            <a:ext cx="4813808" cy="825500"/>
          </a:xfrm>
          <a:prstGeom prst="rect">
            <a:avLst/>
          </a:prstGeom>
          <a:noFill/>
          <a:ln/>
        </p:spPr>
        <p:txBody>
          <a:bodyPr wrap="square" lIns="0" tIns="0" rIns="0" bIns="0" rtlCol="0" anchor="t">
            <a:normAutofit/>
          </a:bodyPr>
          <a:lstStyle/>
          <a:p>
            <a:pPr marL="213360" indent="-169418" algn="l">
              <a:lnSpc>
                <a:spcPts val="2100"/>
              </a:lnSpc>
              <a:buSzPct val="100000"/>
              <a:buChar char="•"/>
            </a:pPr>
            <a:r>
              <a:rPr lang="en-US" sz="1400" dirty="0">
                <a:solidFill>
                  <a:srgbClr val="41454D"/>
                </a:solidFill>
                <a:latin typeface="Inter" pitchFamily="34" charset="0"/>
                <a:ea typeface="Inter" pitchFamily="34" charset="-122"/>
                <a:cs typeface="Inter" pitchFamily="34" charset="-120"/>
              </a:rPr>
              <a:t>Colors only through --at-* or --cds-* tokens</a:t>
            </a:r>
            <a:endParaRPr lang="en-US" sz="1400" dirty="0"/>
          </a:p>
          <a:p>
            <a:pPr marL="213360" indent="-169418" algn="l">
              <a:lnSpc>
                <a:spcPts val="2100"/>
              </a:lnSpc>
              <a:buSzPct val="100000"/>
              <a:buChar char="•"/>
            </a:pPr>
            <a:r>
              <a:rPr lang="en-US" sz="1400" dirty="0">
                <a:solidFill>
                  <a:srgbClr val="41454D"/>
                </a:solidFill>
                <a:latin typeface="Inter" pitchFamily="34" charset="0"/>
                <a:ea typeface="Inter" pitchFamily="34" charset="-122"/>
                <a:cs typeface="Inter" pitchFamily="34" charset="-120"/>
              </a:rPr>
              <a:t>No pill shapes outside a pricing page</a:t>
            </a:r>
            <a:endParaRPr lang="en-US" sz="1400" dirty="0"/>
          </a:p>
          <a:p>
            <a:pPr marL="213360" indent="-169418" algn="l">
              <a:lnSpc>
                <a:spcPts val="2100"/>
              </a:lnSpc>
              <a:buSzPct val="100000"/>
              <a:buChar char="•"/>
            </a:pPr>
            <a:r>
              <a:rPr lang="en-US" sz="1400" dirty="0">
                <a:solidFill>
                  <a:srgbClr val="41454D"/>
                </a:solidFill>
                <a:latin typeface="Inter" pitchFamily="34" charset="0"/>
                <a:ea typeface="Inter" pitchFamily="34" charset="-122"/>
                <a:cs typeface="Inter" pitchFamily="34" charset="-120"/>
              </a:rPr>
              <a:t>Status badges only through the shared component</a:t>
            </a:r>
            <a:endParaRPr lang="en-US" sz="1400" dirty="0"/>
          </a:p>
        </p:txBody>
      </p:sp>
      <p:sp>
        <p:nvSpPr>
          <p:cNvPr id="7" name="Shape 5"/>
          <p:cNvSpPr/>
          <p:nvPr/>
        </p:nvSpPr>
        <p:spPr>
          <a:xfrm>
            <a:off x="6197600" y="1879550"/>
            <a:ext cx="5181600" cy="1678930"/>
          </a:xfrm>
          <a:prstGeom prst="roundRect">
            <a:avLst>
              <a:gd name="adj" fmla="val 6051"/>
            </a:avLst>
          </a:prstGeom>
          <a:solidFill>
            <a:srgbClr val="FEFEFC"/>
          </a:solidFill>
          <a:ln/>
        </p:spPr>
        <p:txBody>
          <a:bodyPr/>
          <a:lstStyle/>
          <a:p>
            <a:endParaRPr lang="en-US"/>
          </a:p>
        </p:txBody>
      </p:sp>
      <p:sp>
        <p:nvSpPr>
          <p:cNvPr id="8" name="Text 6"/>
          <p:cNvSpPr/>
          <p:nvPr/>
        </p:nvSpPr>
        <p:spPr>
          <a:xfrm>
            <a:off x="6451600" y="2133550"/>
            <a:ext cx="4813808" cy="26923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0F62FE"/>
                </a:solidFill>
                <a:latin typeface="Inter" pitchFamily="34" charset="0"/>
                <a:ea typeface="Inter" pitchFamily="34" charset="-122"/>
                <a:cs typeface="Inter" pitchFamily="34" charset="-120"/>
              </a:rPr>
              <a:t>Registry and rollout</a:t>
            </a:r>
            <a:endParaRPr lang="en-US" sz="1600" dirty="0"/>
          </a:p>
        </p:txBody>
      </p:sp>
      <p:sp>
        <p:nvSpPr>
          <p:cNvPr id="9" name="Text 7"/>
          <p:cNvSpPr/>
          <p:nvPr/>
        </p:nvSpPr>
        <p:spPr>
          <a:xfrm>
            <a:off x="6451600" y="2504380"/>
            <a:ext cx="4813808" cy="825500"/>
          </a:xfrm>
          <a:prstGeom prst="rect">
            <a:avLst/>
          </a:prstGeom>
          <a:noFill/>
          <a:ln/>
        </p:spPr>
        <p:txBody>
          <a:bodyPr wrap="square" lIns="0" tIns="0" rIns="0" bIns="0" rtlCol="0" anchor="t">
            <a:normAutofit/>
          </a:bodyPr>
          <a:lstStyle/>
          <a:p>
            <a:pPr marL="213360" indent="-169418" algn="l">
              <a:lnSpc>
                <a:spcPts val="2100"/>
              </a:lnSpc>
              <a:buSzPct val="100000"/>
              <a:buChar char="•"/>
            </a:pPr>
            <a:r>
              <a:rPr lang="en-US" sz="1400" dirty="0">
                <a:solidFill>
                  <a:srgbClr val="41454D"/>
                </a:solidFill>
                <a:latin typeface="Inter" pitchFamily="34" charset="0"/>
                <a:ea typeface="Inter" pitchFamily="34" charset="-122"/>
                <a:cs typeface="Inter" pitchFamily="34" charset="-120"/>
              </a:rPr>
              <a:t>Describe the Airtable layer in the token guide</a:t>
            </a:r>
            <a:endParaRPr lang="en-US" sz="1400" dirty="0"/>
          </a:p>
          <a:p>
            <a:pPr marL="213360" indent="-169418" algn="l">
              <a:lnSpc>
                <a:spcPts val="2100"/>
              </a:lnSpc>
              <a:buSzPct val="100000"/>
              <a:buChar char="•"/>
            </a:pPr>
            <a:r>
              <a:rPr lang="en-US" sz="1400" dirty="0">
                <a:solidFill>
                  <a:srgbClr val="41454D"/>
                </a:solidFill>
                <a:latin typeface="Inter" pitchFamily="34" charset="0"/>
                <a:ea typeface="Inter" pitchFamily="34" charset="-122"/>
                <a:cs typeface="Inter" pitchFamily="34" charset="-120"/>
              </a:rPr>
              <a:t>Register the Whirl screens as patterns</a:t>
            </a:r>
            <a:endParaRPr lang="en-US" sz="1400" dirty="0"/>
          </a:p>
          <a:p>
            <a:pPr marL="213360" indent="-169418" algn="l">
              <a:lnSpc>
                <a:spcPts val="2100"/>
              </a:lnSpc>
              <a:buSzPct val="100000"/>
              <a:buChar char="•"/>
            </a:pPr>
            <a:r>
              <a:rPr lang="en-US" sz="1400" dirty="0">
                <a:solidFill>
                  <a:srgbClr val="41454D"/>
                </a:solidFill>
                <a:latin typeface="Inter" pitchFamily="34" charset="0"/>
                <a:ea typeface="Inter" pitchFamily="34" charset="-122"/>
                <a:cs typeface="Inter" pitchFamily="34" charset="-120"/>
              </a:rPr>
              <a:t>Run the pipeline on the next test app</a:t>
            </a:r>
            <a:endParaRPr lang="en-US" sz="1400" dirty="0"/>
          </a:p>
        </p:txBody>
      </p:sp>
      <p:sp>
        <p:nvSpPr>
          <p:cNvPr id="10" name="Text 8"/>
          <p:cNvSpPr/>
          <p:nvPr/>
        </p:nvSpPr>
        <p:spPr>
          <a:xfrm>
            <a:off x="812800" y="3863280"/>
            <a:ext cx="948372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81D26"/>
                </a:solidFill>
                <a:latin typeface="Inter" pitchFamily="34" charset="0"/>
                <a:ea typeface="Inter" pitchFamily="34" charset="-122"/>
                <a:cs typeface="Inter" pitchFamily="34" charset="-120"/>
              </a:rPr>
              <a:t>Each test app will surface small tweaks. The goal is for each one to become a rule, so the next app starts closer.</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F76"/>
                </a:solidFill>
                <a:latin typeface="Inter" pitchFamily="34" charset="0"/>
                <a:ea typeface="Inter" pitchFamily="34" charset="-122"/>
                <a:cs typeface="Inter" pitchFamily="34" charset="-120"/>
              </a:rPr>
              <a:t>14 · Next steps (proposed)</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81D26"/>
        </a:solidFill>
        <a:effectLst/>
      </p:bgPr>
    </p:bg>
    <p:spTree>
      <p:nvGrpSpPr>
        <p:cNvPr id="1" name=""/>
        <p:cNvGrpSpPr/>
        <p:nvPr/>
      </p:nvGrpSpPr>
      <p:grpSpPr>
        <a:xfrm>
          <a:off x="0" y="0"/>
          <a:ext cx="0" cy="0"/>
          <a:chOff x="0" y="0"/>
          <a:chExt cx="0" cy="0"/>
        </a:xfrm>
      </p:grpSpPr>
      <p:sp>
        <p:nvSpPr>
          <p:cNvPr id="2" name="Text 0"/>
          <p:cNvSpPr/>
          <p:nvPr/>
        </p:nvSpPr>
        <p:spPr>
          <a:xfrm>
            <a:off x="812800" y="2246015"/>
            <a:ext cx="10883392" cy="47243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F5F3EE"/>
                </a:solidFill>
                <a:latin typeface="Inter" pitchFamily="34" charset="0"/>
                <a:ea typeface="Inter" pitchFamily="34" charset="-122"/>
                <a:cs typeface="Inter" pitchFamily="34" charset="-120"/>
              </a:rPr>
              <a:t>What this means for each role</a:t>
            </a:r>
            <a:endParaRPr lang="en-US" sz="3200" dirty="0"/>
          </a:p>
        </p:txBody>
      </p:sp>
      <p:sp>
        <p:nvSpPr>
          <p:cNvPr id="3" name="Shape 1"/>
          <p:cNvSpPr/>
          <p:nvPr/>
        </p:nvSpPr>
        <p:spPr>
          <a:xfrm>
            <a:off x="812800" y="3112145"/>
            <a:ext cx="5130800" cy="0"/>
          </a:xfrm>
          <a:prstGeom prst="line">
            <a:avLst/>
          </a:prstGeom>
          <a:noFill/>
          <a:ln w="25400">
            <a:solidFill>
              <a:srgbClr val="FCAB79"/>
            </a:solidFill>
            <a:prstDash val="solid"/>
          </a:ln>
        </p:spPr>
        <p:txBody>
          <a:bodyPr/>
          <a:lstStyle/>
          <a:p>
            <a:endParaRPr lang="en-US"/>
          </a:p>
        </p:txBody>
      </p:sp>
      <p:sp>
        <p:nvSpPr>
          <p:cNvPr id="4" name="Text 2"/>
          <p:cNvSpPr/>
          <p:nvPr/>
        </p:nvSpPr>
        <p:spPr>
          <a:xfrm>
            <a:off x="812800" y="3328045"/>
            <a:ext cx="5284724" cy="299690"/>
          </a:xfrm>
          <a:prstGeom prst="rect">
            <a:avLst/>
          </a:prstGeom>
          <a:noFill/>
          <a:ln/>
        </p:spPr>
        <p:txBody>
          <a:bodyPr wrap="square" lIns="0" tIns="0" rIns="0" bIns="0" rtlCol="0" anchor="t">
            <a:normAutofit/>
          </a:bodyPr>
          <a:lstStyle/>
          <a:p>
            <a:pPr marL="0" indent="0" algn="l">
              <a:lnSpc>
                <a:spcPts val="2160"/>
              </a:lnSpc>
              <a:buNone/>
            </a:pPr>
            <a:r>
              <a:rPr lang="en-US" sz="1800" dirty="0">
                <a:solidFill>
                  <a:srgbClr val="FCAB79"/>
                </a:solidFill>
                <a:latin typeface="Inter" pitchFamily="34" charset="0"/>
                <a:ea typeface="Inter" pitchFamily="34" charset="-122"/>
                <a:cs typeface="Inter" pitchFamily="34" charset="-120"/>
              </a:rPr>
              <a:t>For designers</a:t>
            </a:r>
            <a:endParaRPr lang="en-US" sz="1800" dirty="0"/>
          </a:p>
        </p:txBody>
      </p:sp>
      <p:sp>
        <p:nvSpPr>
          <p:cNvPr id="5" name="Text 3"/>
          <p:cNvSpPr/>
          <p:nvPr/>
        </p:nvSpPr>
        <p:spPr>
          <a:xfrm>
            <a:off x="812800" y="3754735"/>
            <a:ext cx="5284724" cy="882650"/>
          </a:xfrm>
          <a:prstGeom prst="rect">
            <a:avLst/>
          </a:prstGeom>
          <a:noFill/>
          <a:ln/>
        </p:spPr>
        <p:txBody>
          <a:bodyPr wrap="square" lIns="0" tIns="0" rIns="0" bIns="0" rtlCol="0" anchor="t">
            <a:normAutofit/>
          </a:bodyPr>
          <a:lstStyle/>
          <a:p>
            <a:pPr marL="228600" indent="-176530" algn="l">
              <a:lnSpc>
                <a:spcPts val="2250"/>
              </a:lnSpc>
              <a:buSzPct val="100000"/>
              <a:buChar char="•"/>
            </a:pPr>
            <a:r>
              <a:rPr lang="en-US" sz="1500" dirty="0">
                <a:solidFill>
                  <a:srgbClr val="C9CDD4"/>
                </a:solidFill>
                <a:latin typeface="Inter" pitchFamily="34" charset="0"/>
                <a:ea typeface="Inter" pitchFamily="34" charset="-122"/>
                <a:cs typeface="Inter" pitchFamily="34" charset="-120"/>
              </a:rPr>
              <a:t>Your prototype is the spec</a:t>
            </a:r>
            <a:endParaRPr lang="en-US" sz="1500" dirty="0"/>
          </a:p>
          <a:p>
            <a:pPr marL="228600" indent="-176530" algn="l">
              <a:lnSpc>
                <a:spcPts val="2250"/>
              </a:lnSpc>
              <a:buSzPct val="100000"/>
              <a:buChar char="•"/>
            </a:pPr>
            <a:r>
              <a:rPr lang="en-US" sz="1500" dirty="0">
                <a:solidFill>
                  <a:srgbClr val="C9CDD4"/>
                </a:solidFill>
                <a:latin typeface="Inter" pitchFamily="34" charset="0"/>
                <a:ea typeface="Inter" pitchFamily="34" charset="-122"/>
                <a:cs typeface="Inter" pitchFamily="34" charset="-120"/>
              </a:rPr>
              <a:t>Annotated screenshots become code in one pass</a:t>
            </a:r>
            <a:endParaRPr lang="en-US" sz="1500" dirty="0"/>
          </a:p>
          <a:p>
            <a:pPr marL="228600" indent="-176530" algn="l">
              <a:lnSpc>
                <a:spcPts val="2250"/>
              </a:lnSpc>
              <a:buSzPct val="100000"/>
              <a:buChar char="•"/>
            </a:pPr>
            <a:r>
              <a:rPr lang="en-US" sz="1500" dirty="0">
                <a:solidFill>
                  <a:srgbClr val="C9CDD4"/>
                </a:solidFill>
                <a:latin typeface="Inter" pitchFamily="34" charset="0"/>
                <a:ea typeface="Inter" pitchFamily="34" charset="-122"/>
                <a:cs typeface="Inter" pitchFamily="34" charset="-120"/>
              </a:rPr>
              <a:t>Style decisions live once, as named tokens</a:t>
            </a:r>
            <a:endParaRPr lang="en-US" sz="1500" dirty="0"/>
          </a:p>
        </p:txBody>
      </p:sp>
      <p:sp>
        <p:nvSpPr>
          <p:cNvPr id="6" name="Shape 4"/>
          <p:cNvSpPr/>
          <p:nvPr/>
        </p:nvSpPr>
        <p:spPr>
          <a:xfrm>
            <a:off x="6248400" y="3112145"/>
            <a:ext cx="5130800" cy="0"/>
          </a:xfrm>
          <a:prstGeom prst="line">
            <a:avLst/>
          </a:prstGeom>
          <a:noFill/>
          <a:ln w="25400">
            <a:solidFill>
              <a:srgbClr val="78A9FF"/>
            </a:solidFill>
            <a:prstDash val="solid"/>
          </a:ln>
        </p:spPr>
        <p:txBody>
          <a:bodyPr/>
          <a:lstStyle/>
          <a:p>
            <a:endParaRPr lang="en-US"/>
          </a:p>
        </p:txBody>
      </p:sp>
      <p:sp>
        <p:nvSpPr>
          <p:cNvPr id="7" name="Text 5"/>
          <p:cNvSpPr/>
          <p:nvPr/>
        </p:nvSpPr>
        <p:spPr>
          <a:xfrm>
            <a:off x="6248400" y="3328045"/>
            <a:ext cx="5284724" cy="299690"/>
          </a:xfrm>
          <a:prstGeom prst="rect">
            <a:avLst/>
          </a:prstGeom>
          <a:noFill/>
          <a:ln/>
        </p:spPr>
        <p:txBody>
          <a:bodyPr wrap="square" lIns="0" tIns="0" rIns="0" bIns="0" rtlCol="0" anchor="t">
            <a:normAutofit/>
          </a:bodyPr>
          <a:lstStyle/>
          <a:p>
            <a:pPr marL="0" indent="0" algn="l">
              <a:lnSpc>
                <a:spcPts val="2160"/>
              </a:lnSpc>
              <a:buNone/>
            </a:pPr>
            <a:r>
              <a:rPr lang="en-US" sz="1800" dirty="0">
                <a:solidFill>
                  <a:srgbClr val="78A9FF"/>
                </a:solidFill>
                <a:latin typeface="Inter" pitchFamily="34" charset="0"/>
                <a:ea typeface="Inter" pitchFamily="34" charset="-122"/>
                <a:cs typeface="Inter" pitchFamily="34" charset="-120"/>
              </a:rPr>
              <a:t>For engineers</a:t>
            </a:r>
            <a:endParaRPr lang="en-US" sz="1800" dirty="0"/>
          </a:p>
        </p:txBody>
      </p:sp>
      <p:sp>
        <p:nvSpPr>
          <p:cNvPr id="8" name="Text 6"/>
          <p:cNvSpPr/>
          <p:nvPr/>
        </p:nvSpPr>
        <p:spPr>
          <a:xfrm>
            <a:off x="6248400" y="3754735"/>
            <a:ext cx="5284724" cy="882650"/>
          </a:xfrm>
          <a:prstGeom prst="rect">
            <a:avLst/>
          </a:prstGeom>
          <a:noFill/>
          <a:ln/>
        </p:spPr>
        <p:txBody>
          <a:bodyPr wrap="square" lIns="0" tIns="0" rIns="0" bIns="0" rtlCol="0" anchor="t">
            <a:normAutofit/>
          </a:bodyPr>
          <a:lstStyle/>
          <a:p>
            <a:pPr marL="228600" indent="-176530" algn="l">
              <a:lnSpc>
                <a:spcPts val="2250"/>
              </a:lnSpc>
              <a:buSzPct val="100000"/>
              <a:buChar char="•"/>
            </a:pPr>
            <a:r>
              <a:rPr lang="en-US" sz="1500" dirty="0">
                <a:solidFill>
                  <a:srgbClr val="C9CDD4"/>
                </a:solidFill>
                <a:latin typeface="Inter" pitchFamily="34" charset="0"/>
                <a:ea typeface="Inter" pitchFamily="34" charset="-122"/>
                <a:cs typeface="Inter" pitchFamily="34" charset="-120"/>
              </a:rPr>
              <a:t>Deterministic checks before every commit</a:t>
            </a:r>
            <a:endParaRPr lang="en-US" sz="1500" dirty="0"/>
          </a:p>
          <a:p>
            <a:pPr marL="228600" indent="-176530" algn="l">
              <a:lnSpc>
                <a:spcPts val="2250"/>
              </a:lnSpc>
              <a:buSzPct val="100000"/>
              <a:buChar char="•"/>
            </a:pPr>
            <a:r>
              <a:rPr lang="en-US" sz="1500" dirty="0">
                <a:solidFill>
                  <a:srgbClr val="C9CDD4"/>
                </a:solidFill>
                <a:latin typeface="Inter" pitchFamily="34" charset="0"/>
                <a:ea typeface="Inter" pitchFamily="34" charset="-122"/>
                <a:cs typeface="Inter" pitchFamily="34" charset="-120"/>
              </a:rPr>
              <a:t>Standard Carbon React, restyled but not forked</a:t>
            </a:r>
            <a:endParaRPr lang="en-US" sz="1500" dirty="0"/>
          </a:p>
          <a:p>
            <a:pPr marL="228600" indent="-176530" algn="l">
              <a:lnSpc>
                <a:spcPts val="2250"/>
              </a:lnSpc>
              <a:buSzPct val="100000"/>
              <a:buChar char="•"/>
            </a:pPr>
            <a:r>
              <a:rPr lang="en-US" sz="1500" dirty="0">
                <a:solidFill>
                  <a:srgbClr val="C9CDD4"/>
                </a:solidFill>
                <a:latin typeface="Inter" pitchFamily="34" charset="0"/>
                <a:ea typeface="Inter" pitchFamily="34" charset="-122"/>
                <a:cs typeface="Inter" pitchFamily="34" charset="-120"/>
              </a:rPr>
              <a:t>Every change is a readable commit with a live preview</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2356</Words>
  <Application>Microsoft Macintosh PowerPoint</Application>
  <PresentationFormat>Widescreen</PresentationFormat>
  <Paragraphs>249</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Inter</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Design-to-Code Pipeline</dc:title>
  <dc:subject>PptxGenJS Presentation</dc:subject>
  <dc:creator>PptxGenJS</dc:creator>
  <cp:lastModifiedBy>David Garrett</cp:lastModifiedBy>
  <cp:revision>2</cp:revision>
  <dcterms:created xsi:type="dcterms:W3CDTF">2026-09-28T21:20:51Z</dcterms:created>
  <dcterms:modified xsi:type="dcterms:W3CDTF">2026-10-12T20:21:49Z</dcterms:modified>
</cp:coreProperties>
</file>