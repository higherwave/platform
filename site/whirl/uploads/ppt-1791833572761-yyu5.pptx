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how I approach design projects.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steps in four phases.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by understanding the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Preliminary work before screens.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Explore a couple of options, then choose.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and validate, ideally with customers.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Refine details and release.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 after launch.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1333500"/>
            <a:ext cx="16764000" cy="384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168" kern="0" dirty="0">
                <a:solidFill>
                  <a:srgbClr val="8A6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DESIGN PROCESS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524000" y="3049826"/>
            <a:ext cx="13735050" cy="289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842"/>
              </a:lnSpc>
              <a:buNone/>
            </a:pPr>
            <a:r>
              <a:rPr lang="en-US" sz="11250" b="1" spc="-337" kern="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 approach design projects</a:t>
            </a:r>
            <a:endParaRPr lang="en-US" sz="11250" dirty="0"/>
          </a:p>
        </p:txBody>
      </p:sp>
      <p:sp>
        <p:nvSpPr>
          <p:cNvPr id="4" name="Text 2"/>
          <p:cNvSpPr/>
          <p:nvPr/>
        </p:nvSpPr>
        <p:spPr>
          <a:xfrm>
            <a:off x="1524000" y="6364499"/>
            <a:ext cx="11772900" cy="110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784"/>
              </a:lnSpc>
              <a:buNone/>
            </a:pPr>
            <a:r>
              <a:rPr lang="en-US" sz="3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steps from problem to measured impact, then back around.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524000" y="8801154"/>
            <a:ext cx="1143000" cy="152346"/>
          </a:xfrm>
          <a:prstGeom prst="rect">
            <a:avLst/>
          </a:prstGeom>
          <a:solidFill>
            <a:srgbClr val="F0AD82"/>
          </a:solidFill>
          <a:ln/>
        </p:spPr>
      </p:sp>
      <p:sp>
        <p:nvSpPr>
          <p:cNvPr id="6" name="Shape 4"/>
          <p:cNvSpPr/>
          <p:nvPr/>
        </p:nvSpPr>
        <p:spPr>
          <a:xfrm>
            <a:off x="2819346" y="8801154"/>
            <a:ext cx="1143000" cy="152346"/>
          </a:xfrm>
          <a:prstGeom prst="rect">
            <a:avLst/>
          </a:prstGeom>
          <a:solidFill>
            <a:srgbClr val="B2D8C7"/>
          </a:solidFill>
          <a:ln/>
        </p:spPr>
      </p:sp>
      <p:sp>
        <p:nvSpPr>
          <p:cNvPr id="7" name="Shape 5"/>
          <p:cNvSpPr/>
          <p:nvPr/>
        </p:nvSpPr>
        <p:spPr>
          <a:xfrm>
            <a:off x="4114692" y="8801154"/>
            <a:ext cx="1143000" cy="152346"/>
          </a:xfrm>
          <a:prstGeom prst="rect">
            <a:avLst/>
          </a:prstGeom>
          <a:solidFill>
            <a:srgbClr val="F0D468"/>
          </a:solidFill>
          <a:ln/>
        </p:spPr>
      </p:sp>
      <p:sp>
        <p:nvSpPr>
          <p:cNvPr id="8" name="Shape 6"/>
          <p:cNvSpPr/>
          <p:nvPr/>
        </p:nvSpPr>
        <p:spPr>
          <a:xfrm>
            <a:off x="5410037" y="8801154"/>
            <a:ext cx="1143000" cy="152346"/>
          </a:xfrm>
          <a:prstGeom prst="rect">
            <a:avLst/>
          </a:prstGeom>
          <a:solidFill>
            <a:srgbClr val="D0A85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739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process at a glance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143000" y="1939636"/>
            <a:ext cx="2155369" cy="6309095"/>
          </a:xfrm>
          <a:prstGeom prst="roundRect">
            <a:avLst>
              <a:gd name="adj" fmla="val 7071"/>
            </a:avLst>
          </a:prstGeom>
          <a:solidFill>
            <a:srgbClr val="F0AD82"/>
          </a:solidFill>
          <a:ln/>
        </p:spPr>
      </p:sp>
      <p:sp>
        <p:nvSpPr>
          <p:cNvPr id="4" name="Text 2"/>
          <p:cNvSpPr/>
          <p:nvPr/>
        </p:nvSpPr>
        <p:spPr>
          <a:xfrm>
            <a:off x="1371586" y="2206309"/>
            <a:ext cx="1868016" cy="367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371586" y="6518942"/>
            <a:ext cx="1774396" cy="1501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296"/>
              </a:lnSpc>
              <a:buNone/>
            </a:pPr>
            <a:r>
              <a:rPr lang="en-US" sz="24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framing and user research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450715" y="1939636"/>
            <a:ext cx="2155437" cy="6309095"/>
          </a:xfrm>
          <a:prstGeom prst="roundRect">
            <a:avLst>
              <a:gd name="adj" fmla="val 7070"/>
            </a:avLst>
          </a:prstGeom>
          <a:solidFill>
            <a:srgbClr val="B2D8C7"/>
          </a:solidFill>
          <a:ln/>
        </p:spPr>
      </p:sp>
      <p:sp>
        <p:nvSpPr>
          <p:cNvPr id="7" name="Text 5"/>
          <p:cNvSpPr/>
          <p:nvPr/>
        </p:nvSpPr>
        <p:spPr>
          <a:xfrm>
            <a:off x="3679302" y="2206309"/>
            <a:ext cx="1868090" cy="367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3679302" y="6884721"/>
            <a:ext cx="1774464" cy="11354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296"/>
              </a:lnSpc>
              <a:buNone/>
            </a:pPr>
            <a:r>
              <a:rPr lang="en-US" sz="24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and preliminary work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758498" y="1939636"/>
            <a:ext cx="2155437" cy="6309095"/>
          </a:xfrm>
          <a:prstGeom prst="roundRect">
            <a:avLst>
              <a:gd name="adj" fmla="val 7070"/>
            </a:avLst>
          </a:prstGeom>
          <a:solidFill>
            <a:srgbClr val="F4E8D6"/>
          </a:solidFill>
          <a:ln/>
        </p:spPr>
      </p:sp>
      <p:sp>
        <p:nvSpPr>
          <p:cNvPr id="10" name="Text 8"/>
          <p:cNvSpPr/>
          <p:nvPr/>
        </p:nvSpPr>
        <p:spPr>
          <a:xfrm>
            <a:off x="5987085" y="2206309"/>
            <a:ext cx="1868090" cy="367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5987085" y="6518942"/>
            <a:ext cx="1774464" cy="1501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296"/>
              </a:lnSpc>
              <a:buNone/>
            </a:pPr>
            <a:r>
              <a:rPr lang="en-US" sz="24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options, narrow to one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066281" y="1939636"/>
            <a:ext cx="2155369" cy="6309095"/>
          </a:xfrm>
          <a:prstGeom prst="roundRect">
            <a:avLst>
              <a:gd name="adj" fmla="val 7071"/>
            </a:avLst>
          </a:prstGeom>
          <a:solidFill>
            <a:srgbClr val="D0A850"/>
          </a:solidFill>
          <a:ln/>
        </p:spPr>
      </p:sp>
      <p:sp>
        <p:nvSpPr>
          <p:cNvPr id="13" name="Text 11"/>
          <p:cNvSpPr/>
          <p:nvPr/>
        </p:nvSpPr>
        <p:spPr>
          <a:xfrm>
            <a:off x="8294868" y="2206309"/>
            <a:ext cx="1868016" cy="367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8294868" y="7250500"/>
            <a:ext cx="1774396" cy="769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296"/>
              </a:lnSpc>
              <a:buNone/>
            </a:pPr>
            <a:r>
              <a:rPr lang="en-US" sz="24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and validate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0373996" y="1939636"/>
            <a:ext cx="2155437" cy="6309095"/>
          </a:xfrm>
          <a:prstGeom prst="roundRect">
            <a:avLst>
              <a:gd name="adj" fmla="val 7070"/>
            </a:avLst>
          </a:prstGeom>
          <a:solidFill>
            <a:srgbClr val="F0D468"/>
          </a:solidFill>
          <a:ln/>
        </p:spPr>
      </p:sp>
      <p:sp>
        <p:nvSpPr>
          <p:cNvPr id="16" name="Text 14"/>
          <p:cNvSpPr/>
          <p:nvPr/>
        </p:nvSpPr>
        <p:spPr>
          <a:xfrm>
            <a:off x="10602583" y="2206309"/>
            <a:ext cx="1868090" cy="367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0602583" y="7250500"/>
            <a:ext cx="1774464" cy="769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296"/>
              </a:lnSpc>
              <a:buNone/>
            </a:pPr>
            <a:r>
              <a:rPr lang="en-US" sz="24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Polish and ship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2681779" y="1939636"/>
            <a:ext cx="2155437" cy="6309095"/>
          </a:xfrm>
          <a:prstGeom prst="roundRect">
            <a:avLst>
              <a:gd name="adj" fmla="val 7070"/>
            </a:avLst>
          </a:prstGeom>
          <a:solidFill>
            <a:srgbClr val="B2D8C7"/>
          </a:solidFill>
          <a:ln/>
        </p:spPr>
      </p:sp>
      <p:sp>
        <p:nvSpPr>
          <p:cNvPr id="19" name="Text 17"/>
          <p:cNvSpPr/>
          <p:nvPr/>
        </p:nvSpPr>
        <p:spPr>
          <a:xfrm>
            <a:off x="12910365" y="2206309"/>
            <a:ext cx="1868090" cy="367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2910365" y="7616279"/>
            <a:ext cx="1868090" cy="4038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296"/>
              </a:lnSpc>
              <a:buNone/>
            </a:pPr>
            <a:r>
              <a:rPr lang="en-US" sz="24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14989562" y="1939636"/>
            <a:ext cx="2155437" cy="6309095"/>
          </a:xfrm>
          <a:prstGeom prst="roundRect">
            <a:avLst>
              <a:gd name="adj" fmla="val 7070"/>
            </a:avLst>
          </a:prstGeom>
          <a:solidFill>
            <a:srgbClr val="F0AD82"/>
          </a:solidFill>
          <a:ln/>
        </p:spPr>
      </p:sp>
      <p:sp>
        <p:nvSpPr>
          <p:cNvPr id="22" name="Text 20"/>
          <p:cNvSpPr/>
          <p:nvPr/>
        </p:nvSpPr>
        <p:spPr>
          <a:xfrm>
            <a:off x="15218149" y="2206309"/>
            <a:ext cx="1868090" cy="367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5218149" y="7616279"/>
            <a:ext cx="1868090" cy="4038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296"/>
              </a:lnSpc>
              <a:buNone/>
            </a:pPr>
            <a:r>
              <a:rPr lang="en-US" sz="24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143000" y="8629731"/>
            <a:ext cx="16482060" cy="83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579"/>
              </a:lnSpc>
              <a:buNone/>
            </a:pPr>
            <a:r>
              <a:rPr lang="en-US" sz="22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1-2 build understanding. Step 3 is design. Steps 4-5 are development and final review. Steps 6-7 close the loop with data and feedback.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6000" cy="10287000"/>
          </a:xfrm>
          <a:prstGeom prst="rect">
            <a:avLst/>
          </a:prstGeom>
          <a:solidFill>
            <a:srgbClr val="F0AD8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952500"/>
            <a:ext cx="5029200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29"/>
              </a:lnSpc>
              <a:buNone/>
            </a:pPr>
            <a:r>
              <a:rPr lang="en-US" sz="150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762000" y="8598477"/>
            <a:ext cx="4709160" cy="774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180" kern="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PROBLEM AND IMPACT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7239000" y="2115321"/>
            <a:ext cx="10203180" cy="1718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528"/>
              </a:lnSpc>
              <a:buNone/>
            </a:pPr>
            <a:r>
              <a:rPr lang="en-US" sz="6300" b="1" spc="-126" kern="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framing and user research</a:t>
            </a:r>
            <a:endParaRPr lang="en-US" sz="6300" dirty="0"/>
          </a:p>
        </p:txBody>
      </p:sp>
      <p:sp>
        <p:nvSpPr>
          <p:cNvPr id="6" name="Text 4"/>
          <p:cNvSpPr/>
          <p:nvPr/>
        </p:nvSpPr>
        <p:spPr>
          <a:xfrm>
            <a:off x="7239000" y="4252628"/>
            <a:ext cx="10896600" cy="501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17"/>
              </a:lnSpc>
              <a:buNone/>
            </a:pPr>
            <a:r>
              <a:rPr lang="en-US" sz="2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early context and list the questions that need answers.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239000" y="4982224"/>
            <a:ext cx="10203180" cy="963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17"/>
              </a:lnSpc>
              <a:buNone/>
            </a:pPr>
            <a:r>
              <a:rPr lang="en-US" sz="2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research into themes and apply 5W1H: who, what, when, where, why, how.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239000" y="6174743"/>
            <a:ext cx="10203180" cy="963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17"/>
              </a:lnSpc>
              <a:buNone/>
            </a:pPr>
            <a:r>
              <a:rPr lang="en-US" sz="2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problems by impact and give the team a grounded reference.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7239000" y="7557763"/>
            <a:ext cx="9906000" cy="17318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10" name="Text 8"/>
          <p:cNvSpPr/>
          <p:nvPr/>
        </p:nvSpPr>
        <p:spPr>
          <a:xfrm>
            <a:off x="7239000" y="7803681"/>
            <a:ext cx="10203180" cy="4060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B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a prioritized problem statement the team agrees on.</a:t>
            </a:r>
            <a:endParaRPr lang="en-US" sz="2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6000" cy="10287000"/>
          </a:xfrm>
          <a:prstGeom prst="rect">
            <a:avLst/>
          </a:prstGeom>
          <a:solidFill>
            <a:srgbClr val="B2D8C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952500"/>
            <a:ext cx="5029200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29"/>
              </a:lnSpc>
              <a:buNone/>
            </a:pPr>
            <a:r>
              <a:rPr lang="en-US" sz="150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762000" y="8598477"/>
            <a:ext cx="4709160" cy="774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180" kern="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PROBLEM AND IMPACT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7239000" y="2346749"/>
            <a:ext cx="10203180" cy="1718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528"/>
              </a:lnSpc>
              <a:buNone/>
            </a:pPr>
            <a:r>
              <a:rPr lang="en-US" sz="6300" b="1" spc="-126" kern="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and preliminary work</a:t>
            </a:r>
            <a:endParaRPr lang="en-US" sz="6300" dirty="0"/>
          </a:p>
        </p:txBody>
      </p:sp>
      <p:sp>
        <p:nvSpPr>
          <p:cNvPr id="6" name="Text 4"/>
          <p:cNvSpPr/>
          <p:nvPr/>
        </p:nvSpPr>
        <p:spPr>
          <a:xfrm>
            <a:off x="7239000" y="4484056"/>
            <a:ext cx="10896600" cy="501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17"/>
              </a:lnSpc>
              <a:buNone/>
            </a:pPr>
            <a:r>
              <a:rPr lang="en-US" sz="2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Clarify what is needed before drawing screens.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239000" y="5213652"/>
            <a:ext cx="10203180" cy="963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17"/>
              </a:lnSpc>
              <a:buNone/>
            </a:pPr>
            <a:r>
              <a:rPr lang="en-US" sz="2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user flows, requirements, constraints and dependencies with product and engineering.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239000" y="6406171"/>
            <a:ext cx="10896600" cy="501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17"/>
              </a:lnSpc>
              <a:buNone/>
            </a:pPr>
            <a:r>
              <a:rPr lang="en-US" sz="2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 on what success looks like.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7239000" y="7326267"/>
            <a:ext cx="9906000" cy="17318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10" name="Text 8"/>
          <p:cNvSpPr/>
          <p:nvPr/>
        </p:nvSpPr>
        <p:spPr>
          <a:xfrm>
            <a:off x="7239000" y="7572186"/>
            <a:ext cx="10203180" cy="4060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B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scope, flows and open questions resolved.</a:t>
            </a:r>
            <a:endParaRPr lang="en-US" sz="2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6000" cy="10287000"/>
          </a:xfrm>
          <a:prstGeom prst="rect">
            <a:avLst/>
          </a:prstGeom>
          <a:solidFill>
            <a:srgbClr val="D0A850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952500"/>
            <a:ext cx="5029200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29"/>
              </a:lnSpc>
              <a:buNone/>
            </a:pPr>
            <a:r>
              <a:rPr lang="en-US" sz="150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762000" y="8966488"/>
            <a:ext cx="5029200" cy="406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180" kern="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7239000" y="2346749"/>
            <a:ext cx="10203180" cy="1718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528"/>
              </a:lnSpc>
              <a:buNone/>
            </a:pPr>
            <a:r>
              <a:rPr lang="en-US" sz="6300" b="1" spc="-126" kern="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options and narrow to one approach</a:t>
            </a:r>
            <a:endParaRPr lang="en-US" sz="6300" dirty="0"/>
          </a:p>
        </p:txBody>
      </p:sp>
      <p:sp>
        <p:nvSpPr>
          <p:cNvPr id="6" name="Text 4"/>
          <p:cNvSpPr/>
          <p:nvPr/>
        </p:nvSpPr>
        <p:spPr>
          <a:xfrm>
            <a:off x="7239000" y="4484056"/>
            <a:ext cx="10896600" cy="501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17"/>
              </a:lnSpc>
              <a:buNone/>
            </a:pPr>
            <a:r>
              <a:rPr lang="en-US" sz="2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from existing patterns and explore a couple of options.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239000" y="5213652"/>
            <a:ext cx="10203180" cy="963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17"/>
              </a:lnSpc>
              <a:buNone/>
            </a:pPr>
            <a:r>
              <a:rPr lang="en-US" sz="2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one approach and state its benefits and trade-offs as you go.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239000" y="6406171"/>
            <a:ext cx="10896600" cy="501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17"/>
              </a:lnSpc>
              <a:buNone/>
            </a:pPr>
            <a:r>
              <a:rPr lang="en-US" sz="2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options few so decisions stay fast.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7239000" y="7326267"/>
            <a:ext cx="9906000" cy="17318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10" name="Text 8"/>
          <p:cNvSpPr/>
          <p:nvPr/>
        </p:nvSpPr>
        <p:spPr>
          <a:xfrm>
            <a:off x="7239000" y="7572186"/>
            <a:ext cx="10203180" cy="4060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B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one approach with its rationale written down.</a:t>
            </a:r>
            <a:endParaRPr lang="en-US" sz="2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6000" cy="10287000"/>
          </a:xfrm>
          <a:prstGeom prst="rect">
            <a:avLst/>
          </a:prstGeom>
          <a:solidFill>
            <a:srgbClr val="B2D8C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952500"/>
            <a:ext cx="5029200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29"/>
              </a:lnSpc>
              <a:buNone/>
            </a:pPr>
            <a:r>
              <a:rPr lang="en-US" sz="150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762000" y="8966488"/>
            <a:ext cx="5029200" cy="406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180" kern="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AND FINAL REVIEW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7239000" y="2535355"/>
            <a:ext cx="10896600" cy="878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528"/>
              </a:lnSpc>
              <a:buNone/>
            </a:pPr>
            <a:r>
              <a:rPr lang="en-US" sz="6300" b="1" spc="-126" kern="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and validate</a:t>
            </a:r>
            <a:endParaRPr lang="en-US" sz="6300" dirty="0"/>
          </a:p>
        </p:txBody>
      </p:sp>
      <p:sp>
        <p:nvSpPr>
          <p:cNvPr id="6" name="Text 4"/>
          <p:cNvSpPr/>
          <p:nvPr/>
        </p:nvSpPr>
        <p:spPr>
          <a:xfrm>
            <a:off x="7239000" y="3832595"/>
            <a:ext cx="10203180" cy="963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17"/>
              </a:lnSpc>
              <a:buNone/>
            </a:pPr>
            <a:r>
              <a:rPr lang="en-US" sz="2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working version early and test it, preferably with customers.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239000" y="5025114"/>
            <a:ext cx="10203180" cy="963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17"/>
              </a:lnSpc>
              <a:buNone/>
            </a:pPr>
            <a:r>
              <a:rPr lang="en-US" sz="2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with engineering during the build to resolve gaps as they appear.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239000" y="6217633"/>
            <a:ext cx="10896600" cy="501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17"/>
              </a:lnSpc>
              <a:buNone/>
            </a:pPr>
            <a:r>
              <a:rPr lang="en-US" sz="2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 the approach when validation says so.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7239000" y="7137729"/>
            <a:ext cx="9906000" cy="17318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10" name="Text 8"/>
          <p:cNvSpPr/>
          <p:nvPr/>
        </p:nvSpPr>
        <p:spPr>
          <a:xfrm>
            <a:off x="7239000" y="7383647"/>
            <a:ext cx="10203180" cy="4060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B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a validated build and the changes it requires.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6000" cy="10287000"/>
          </a:xfrm>
          <a:prstGeom prst="rect">
            <a:avLst/>
          </a:prstGeom>
          <a:solidFill>
            <a:srgbClr val="F0D468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952500"/>
            <a:ext cx="5029200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29"/>
              </a:lnSpc>
              <a:buNone/>
            </a:pPr>
            <a:r>
              <a:rPr lang="en-US" sz="150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762000" y="8966488"/>
            <a:ext cx="5029200" cy="406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180" kern="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AND FINAL REVIEW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7239000" y="2998278"/>
            <a:ext cx="10896600" cy="878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528"/>
              </a:lnSpc>
              <a:buNone/>
            </a:pPr>
            <a:r>
              <a:rPr lang="en-US" sz="6300" b="1" spc="-126" kern="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Polish and ship</a:t>
            </a:r>
            <a:endParaRPr lang="en-US" sz="6300" dirty="0"/>
          </a:p>
        </p:txBody>
      </p:sp>
      <p:sp>
        <p:nvSpPr>
          <p:cNvPr id="6" name="Text 4"/>
          <p:cNvSpPr/>
          <p:nvPr/>
        </p:nvSpPr>
        <p:spPr>
          <a:xfrm>
            <a:off x="7239000" y="4295518"/>
            <a:ext cx="10896600" cy="501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17"/>
              </a:lnSpc>
              <a:buNone/>
            </a:pPr>
            <a:r>
              <a:rPr lang="en-US" sz="2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 details: spacing, states, copy and accessibility.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239000" y="5025114"/>
            <a:ext cx="10896600" cy="501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17"/>
              </a:lnSpc>
              <a:buNone/>
            </a:pPr>
            <a:r>
              <a:rPr lang="en-US" sz="2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 final review against the agreed approach.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239000" y="5754710"/>
            <a:ext cx="10896600" cy="501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17"/>
              </a:lnSpc>
              <a:buNone/>
            </a:pPr>
            <a:r>
              <a:rPr lang="en-US" sz="2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Release.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7239000" y="6674806"/>
            <a:ext cx="9906000" cy="17318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10" name="Text 8"/>
          <p:cNvSpPr/>
          <p:nvPr/>
        </p:nvSpPr>
        <p:spPr>
          <a:xfrm>
            <a:off x="7239000" y="6920724"/>
            <a:ext cx="10203180" cy="4060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B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a shipped release.</a:t>
            </a:r>
            <a:endParaRPr lang="en-US" sz="2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6000" cy="10287000"/>
          </a:xfrm>
          <a:prstGeom prst="rect">
            <a:avLst/>
          </a:prstGeom>
          <a:solidFill>
            <a:srgbClr val="F4E8D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952500"/>
            <a:ext cx="5029200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29"/>
              </a:lnSpc>
              <a:buNone/>
            </a:pPr>
            <a:r>
              <a:rPr lang="en-US" sz="150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762000" y="8966488"/>
            <a:ext cx="5029200" cy="406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180" kern="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7239000" y="2998278"/>
            <a:ext cx="10896600" cy="878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528"/>
              </a:lnSpc>
              <a:buNone/>
            </a:pPr>
            <a:r>
              <a:rPr lang="en-US" sz="6300" b="1" spc="-126" kern="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6300" dirty="0"/>
          </a:p>
        </p:txBody>
      </p:sp>
      <p:sp>
        <p:nvSpPr>
          <p:cNvPr id="6" name="Text 4"/>
          <p:cNvSpPr/>
          <p:nvPr/>
        </p:nvSpPr>
        <p:spPr>
          <a:xfrm>
            <a:off x="7239000" y="4295518"/>
            <a:ext cx="10896600" cy="501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17"/>
              </a:lnSpc>
              <a:buNone/>
            </a:pPr>
            <a:r>
              <a:rPr lang="en-US" sz="2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Adoption: are people using it?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239000" y="5025114"/>
            <a:ext cx="10896600" cy="501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17"/>
              </a:lnSpc>
              <a:buNone/>
            </a:pPr>
            <a:r>
              <a:rPr lang="en-US" sz="2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Engagement: how often and how deeply?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239000" y="5754710"/>
            <a:ext cx="10896600" cy="501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17"/>
              </a:lnSpc>
              <a:buNone/>
            </a:pPr>
            <a:r>
              <a:rPr lang="en-US" sz="2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feedback: what do telemetry and further research say?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7239000" y="6674806"/>
            <a:ext cx="9906000" cy="17318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10" name="Text 8"/>
          <p:cNvSpPr/>
          <p:nvPr/>
        </p:nvSpPr>
        <p:spPr>
          <a:xfrm>
            <a:off x="7239000" y="6920724"/>
            <a:ext cx="10203180" cy="4060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B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evidence compared against the success criteria from step 2.</a:t>
            </a:r>
            <a:endParaRPr lang="en-US" sz="2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1143000"/>
            <a:ext cx="16764000" cy="406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180" kern="0" dirty="0">
                <a:solidFill>
                  <a:srgbClr val="F0A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REPEAT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524000" y="3289304"/>
            <a:ext cx="13735050" cy="24382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184"/>
              </a:lnSpc>
              <a:buNone/>
            </a:pPr>
            <a:r>
              <a:rPr lang="en-US" sz="9000" b="1" spc="-180" kern="0" dirty="0">
                <a:solidFill>
                  <a:srgbClr val="FBF6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to optimize with user feedback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1524000" y="6146669"/>
            <a:ext cx="12753975" cy="110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784"/>
              </a:lnSpc>
              <a:buNone/>
            </a:pPr>
            <a:r>
              <a:rPr lang="en-US" sz="3000" dirty="0">
                <a:solidFill>
                  <a:srgbClr val="E6DC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from measurement become the inputs to the next round of problem framing.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524000" y="8991654"/>
            <a:ext cx="1143000" cy="152346"/>
          </a:xfrm>
          <a:prstGeom prst="rect">
            <a:avLst/>
          </a:prstGeom>
          <a:solidFill>
            <a:srgbClr val="F0AD82"/>
          </a:solidFill>
          <a:ln/>
        </p:spPr>
      </p:sp>
      <p:sp>
        <p:nvSpPr>
          <p:cNvPr id="6" name="Shape 4"/>
          <p:cNvSpPr/>
          <p:nvPr/>
        </p:nvSpPr>
        <p:spPr>
          <a:xfrm>
            <a:off x="2819346" y="8991654"/>
            <a:ext cx="1143000" cy="152346"/>
          </a:xfrm>
          <a:prstGeom prst="rect">
            <a:avLst/>
          </a:prstGeom>
          <a:solidFill>
            <a:srgbClr val="B2D8C7"/>
          </a:solidFill>
          <a:ln/>
        </p:spPr>
      </p:sp>
      <p:sp>
        <p:nvSpPr>
          <p:cNvPr id="7" name="Shape 5"/>
          <p:cNvSpPr/>
          <p:nvPr/>
        </p:nvSpPr>
        <p:spPr>
          <a:xfrm>
            <a:off x="4114692" y="8991654"/>
            <a:ext cx="1143000" cy="152346"/>
          </a:xfrm>
          <a:prstGeom prst="rect">
            <a:avLst/>
          </a:prstGeom>
          <a:solidFill>
            <a:srgbClr val="F0D468"/>
          </a:solidFill>
          <a:ln/>
        </p:spPr>
      </p:sp>
      <p:sp>
        <p:nvSpPr>
          <p:cNvPr id="8" name="Shape 6"/>
          <p:cNvSpPr/>
          <p:nvPr/>
        </p:nvSpPr>
        <p:spPr>
          <a:xfrm>
            <a:off x="5410037" y="8991654"/>
            <a:ext cx="1143000" cy="152346"/>
          </a:xfrm>
          <a:prstGeom prst="rect">
            <a:avLst/>
          </a:prstGeom>
          <a:solidFill>
            <a:srgbClr val="D0A85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2026-10-12T16:45:20Z</dcterms:created>
  <dcterms:modified xsi:type="dcterms:W3CDTF">2026-10-12T16:45:20Z</dcterms:modified>
</cp:coreProperties>
</file>