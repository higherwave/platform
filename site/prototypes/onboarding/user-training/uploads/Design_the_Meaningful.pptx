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This isn't a verdict or a plan to change everything — it's a shared read on where we are and an honest conversation about where we could go. Two ideas run through everything: automate the repetitive, design the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start: staying grounded and solving the right problems. Built heavily on the 5W1H framework — simple strategies to move beyond tribal knowledge so the whole team stays grounded as the company grows. The top row is the loop we run; below it, the same idea gets slightly more concrete — five parts, each a living artifact we grow over time. Parts 1–4 are about knowing our world; Part 5 is about how we build, and it's where the where-we're-going conversation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a successful product has seven ingredients, and design has a hand in every one. This grounds the framework — we're not just making screens, we're influencing the whole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framework and questions turn into a working habit. Before I touch a screen I'm answering one thing: do I understand the problem well enough to solve the right one? Six moves, from objective to how it scales. The throughline: objective, the system around it, constraints and tradeoffs, and a scalable, incremental path — grounded in evidence and shared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decision-making layer. These are the questions we should always be able to answer. The two columns keep us grounded in the business and the platform; the usability row is the lens on the screen itself — perceive, think, act. If a row is thin, that's not a failure, it's the next place to point our attention. An invitation, not an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into the AI half. Same questions from the last slide — but here's where AI can do the repetitive gathering so we spend our time interpreting. Two buckets: general process improvements we can adopt now, and AI aimed at specific questions we always want answered. The point isn't to replace judgment or real user research — it's to turn one-off research projects into standing signals, and to generate strong starting points we then validate and prune.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gear-shift. Everything so far was about staying grounded and solving the right problem — where we are. From here on, we're looking at process: how AI can take the repetitive translation work off our plates so we spend our time on the meaningful part. This is the 'where we're going' half, offered as a direction to explore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honestly. Here's where a lot of our time goes today. Almost none of this loop is design work — it's translation. Saying the same thing twice in two languages, then checking the translation. This is the shared problem, not anyone's 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where-we're-going part, offered as a real proposal but not a mandate. The idea: instead of handing AI a folder of files and saying good luck, give it a librarian that understands the design system and returns the approved answer. MCP is just a standard way for AI tools to ask our systems questions and get trusted answers back. Invite reactions.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that could look like: one direction, no loop back. Review happens on staging, where the team evaluates the real thing — not a translation of it. Emphasize this is a sketch of a flow to react to, not a rollout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and the part I care most about. The hours don't disappear — they move up the ladder. The bottom rungs become a governed, automated layer, and our attention climbs to where the decisions actually matter: patterns written as judgment, at the flow and page level where product leaders, engineers, and end users actually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we climb the ladder. Nobody outside the design team thinks in atoms. Product leaders plan in flows and journeys, engineers build features and pages, end users just complete tasks. Patterns written at the template, page, and flow level speak the language everyone already thinks in — which is exactly where our attention should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making it concrete. These are examples of the flow- and page-level patterns we'd write — the kind Apple, Shopify, and others publish as named experience patterns rather than components. Each one encodes judgment: not what it looks like, but how it should behave and why. This is the work that climbs the ladder. These are starters, not a mandate — I'd want us to pick the first few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as an open door. This isn't a decision I'm announcing — it's a direction I'd like us to pressure-test together. A small, low-risk pilot on a pre-existing design system would tell us a lot. And the framework itself is a living reference we keep adding to. End on: automate the repetitive, design the meaningful — and invite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wrap-up. Everything we just walked through collapses into three simple things. The framework and the questions make our strategy more informed. The 5W1H and evidence make our design process grounded. And the MCP handoff plus pattern work simplifies hand-off and design-system management. If people remember nothing else, this is the picture to leave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D26"/>
        </a:solidFill>
      </p:bgPr>
    </p:bg>
    <p:spTree>
      <p:nvGrpSpPr>
        <p:cNvPr id="1" name=""/>
        <p:cNvGrpSpPr/>
        <p:nvPr/>
      </p:nvGrpSpPr>
      <p:grpSpPr>
        <a:xfrm>
          <a:off x="0" y="0"/>
          <a:ext cx="0" cy="0"/>
          <a:chOff x="0" y="0"/>
          <a:chExt cx="0" cy="0"/>
        </a:xfrm>
      </p:grpSpPr>
      <p:sp>
        <p:nvSpPr>
          <p:cNvPr id="2" name="Text 0"/>
          <p:cNvSpPr/>
          <p:nvPr/>
        </p:nvSpPr>
        <p:spPr>
          <a:xfrm>
            <a:off x="1333500" y="1143000"/>
            <a:ext cx="2200079" cy="224790"/>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297A0"/>
                </a:solidFill>
                <a:latin typeface="Arial" pitchFamily="34" charset="0"/>
                <a:ea typeface="Arial" pitchFamily="34" charset="-122"/>
                <a:cs typeface="Arial" pitchFamily="34" charset="-120"/>
              </a:rPr>
              <a:t>SKAN AI · DESIGN</a:t>
            </a:r>
            <a:endParaRPr lang="en-US" sz="1200" dirty="0"/>
          </a:p>
        </p:txBody>
      </p:sp>
      <p:sp>
        <p:nvSpPr>
          <p:cNvPr id="3" name="Text 1"/>
          <p:cNvSpPr/>
          <p:nvPr/>
        </p:nvSpPr>
        <p:spPr>
          <a:xfrm>
            <a:off x="13362206" y="1143000"/>
            <a:ext cx="3951524" cy="224790"/>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297A0"/>
                </a:solidFill>
                <a:latin typeface="Arial" pitchFamily="34" charset="0"/>
                <a:ea typeface="Arial" pitchFamily="34" charset="-122"/>
                <a:cs typeface="Arial" pitchFamily="34" charset="-120"/>
              </a:rPr>
              <a:t>A CONVERSATION, NOT A VERDICT</a:t>
            </a:r>
            <a:endParaRPr lang="en-US" sz="1200" dirty="0"/>
          </a:p>
        </p:txBody>
      </p:sp>
      <p:sp>
        <p:nvSpPr>
          <p:cNvPr id="4" name="Text 2"/>
          <p:cNvSpPr/>
          <p:nvPr/>
        </p:nvSpPr>
        <p:spPr>
          <a:xfrm>
            <a:off x="1333500" y="3008709"/>
            <a:ext cx="13620750" cy="220980"/>
          </a:xfrm>
          <a:prstGeom prst="rect">
            <a:avLst/>
          </a:prstGeom>
          <a:noFill/>
          <a:ln/>
        </p:spPr>
        <p:txBody>
          <a:bodyPr wrap="square" lIns="25400" tIns="25400" rIns="25400" bIns="25400" rtlCol="0" anchor="t">
            <a:normAutofit/>
          </a:bodyPr>
          <a:lstStyle/>
          <a:p>
            <a:pPr algn="l" indent="0" marL="0">
              <a:buNone/>
            </a:pPr>
            <a:r>
              <a:rPr lang="en-US" sz="1275" b="1" spc="306" kern="0" dirty="0">
                <a:solidFill>
                  <a:srgbClr val="FCAB79"/>
                </a:solidFill>
                <a:latin typeface="Arial" pitchFamily="34" charset="0"/>
                <a:ea typeface="Arial" pitchFamily="34" charset="-122"/>
                <a:cs typeface="Arial" pitchFamily="34" charset="-120"/>
              </a:rPr>
              <a:t>WHERE WE ARE, WHERE WE'RE GOING</a:t>
            </a:r>
            <a:endParaRPr lang="en-US" sz="1275" dirty="0"/>
          </a:p>
        </p:txBody>
      </p:sp>
      <p:sp>
        <p:nvSpPr>
          <p:cNvPr id="5" name="Text 3"/>
          <p:cNvSpPr/>
          <p:nvPr/>
        </p:nvSpPr>
        <p:spPr>
          <a:xfrm>
            <a:off x="1333500" y="3572589"/>
            <a:ext cx="12753975" cy="2058829"/>
          </a:xfrm>
          <a:prstGeom prst="rect">
            <a:avLst/>
          </a:prstGeom>
          <a:noFill/>
          <a:ln/>
        </p:spPr>
        <p:txBody>
          <a:bodyPr wrap="square" lIns="25400" tIns="25400" rIns="25400" bIns="25400" rtlCol="0" anchor="t">
            <a:normAutofit/>
          </a:bodyPr>
          <a:lstStyle/>
          <a:p>
            <a:pPr algn="l" indent="0" marL="0">
              <a:lnSpc>
                <a:spcPct val="88696"/>
              </a:lnSpc>
              <a:buNone/>
            </a:pPr>
            <a:r>
              <a:rPr lang="en-US" sz="7800" spc="-156" kern="0" dirty="0">
                <a:solidFill>
                  <a:srgbClr val="FFFFFF"/>
                </a:solidFill>
                <a:latin typeface="Arial" pitchFamily="34" charset="0"/>
                <a:ea typeface="Arial" pitchFamily="34" charset="-122"/>
                <a:cs typeface="Arial" pitchFamily="34" charset="-120"/>
              </a:rPr>
              <a:t>Automate the repetitive. </a:t>
            </a:r>
            <a:pPr algn="l" indent="0" marL="0">
              <a:lnSpc>
                <a:spcPct val="88696"/>
              </a:lnSpc>
              <a:buNone/>
            </a:pPr>
            <a:r>
              <a:rPr lang="en-US" sz="7800" spc="-156" kern="0" dirty="0">
                <a:solidFill>
                  <a:srgbClr val="FCAB79"/>
                </a:solidFill>
                <a:latin typeface="Arial" pitchFamily="34" charset="0"/>
                <a:ea typeface="Arial" pitchFamily="34" charset="-122"/>
                <a:cs typeface="Arial" pitchFamily="34" charset="-120"/>
              </a:rPr>
              <a:t>Design the meaningful.</a:t>
            </a:r>
            <a:endParaRPr lang="en-US" sz="7800" dirty="0"/>
          </a:p>
        </p:txBody>
      </p:sp>
      <p:sp>
        <p:nvSpPr>
          <p:cNvPr id="6" name="Text 4"/>
          <p:cNvSpPr/>
          <p:nvPr/>
        </p:nvSpPr>
        <p:spPr>
          <a:xfrm>
            <a:off x="1333500" y="6012418"/>
            <a:ext cx="10595610" cy="1281113"/>
          </a:xfrm>
          <a:prstGeom prst="rect">
            <a:avLst/>
          </a:prstGeom>
          <a:noFill/>
          <a:ln/>
        </p:spPr>
        <p:txBody>
          <a:bodyPr wrap="square" lIns="25400" tIns="25400" rIns="25400" bIns="25400" rtlCol="0" anchor="t">
            <a:normAutofit/>
          </a:bodyPr>
          <a:lstStyle/>
          <a:p>
            <a:pPr algn="l" indent="0" marL="0">
              <a:lnSpc>
                <a:spcPct val="126453"/>
              </a:lnSpc>
              <a:buNone/>
            </a:pPr>
            <a:r>
              <a:rPr lang="en-US" sz="2250" dirty="0">
                <a:solidFill>
                  <a:srgbClr val="C7CBD1"/>
                </a:solidFill>
                <a:latin typeface="Arial" pitchFamily="34" charset="0"/>
                <a:ea typeface="Arial" pitchFamily="34" charset="-122"/>
                <a:cs typeface="Arial" pitchFamily="34" charset="-120"/>
              </a:rPr>
              <a:t>A shared home for the questions, knowledge, and process that keep our design decisions grounded — and one direction I'd like us to explore together.</a:t>
            </a:r>
            <a:endParaRPr lang="en-US" sz="2250" dirty="0"/>
          </a:p>
        </p:txBody>
      </p:sp>
      <p:sp>
        <p:nvSpPr>
          <p:cNvPr id="7" name="Text 5"/>
          <p:cNvSpPr/>
          <p:nvPr/>
        </p:nvSpPr>
        <p:spPr>
          <a:xfrm>
            <a:off x="1333500" y="8934450"/>
            <a:ext cx="1718310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9297A0"/>
                </a:solidFill>
                <a:latin typeface="Arial" pitchFamily="34" charset="0"/>
                <a:ea typeface="Arial" pitchFamily="34" charset="-122"/>
                <a:cs typeface="Arial" pitchFamily="34" charset="-120"/>
              </a:rPr>
              <a:t>A living reference, not a one-time presentation.</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333500" y="1745813"/>
            <a:ext cx="17183100" cy="209550"/>
          </a:xfrm>
          <a:prstGeom prst="rect">
            <a:avLst/>
          </a:prstGeom>
          <a:noFill/>
          <a:ln/>
        </p:spPr>
        <p:txBody>
          <a:bodyPr wrap="square" lIns="25400" tIns="25400" rIns="25400" bIns="25400" rtlCol="0" anchor="t">
            <a:normAutofit/>
          </a:bodyPr>
          <a:lstStyle/>
          <a:p>
            <a:pPr algn="l" indent="0" marL="0">
              <a:buNone/>
            </a:pPr>
            <a:r>
              <a:rPr lang="en-US" sz="1200" b="1" spc="240" kern="0" dirty="0">
                <a:solidFill>
                  <a:srgbClr val="9297A0"/>
                </a:solidFill>
                <a:latin typeface="Arial" pitchFamily="34" charset="0"/>
                <a:ea typeface="Arial" pitchFamily="34" charset="-122"/>
                <a:cs typeface="Arial" pitchFamily="34" charset="-120"/>
              </a:rPr>
              <a:t>THE FRAME</a:t>
            </a:r>
            <a:endParaRPr lang="en-US" sz="1200" dirty="0"/>
          </a:p>
        </p:txBody>
      </p:sp>
      <p:sp>
        <p:nvSpPr>
          <p:cNvPr id="3" name="Text 1"/>
          <p:cNvSpPr/>
          <p:nvPr/>
        </p:nvSpPr>
        <p:spPr>
          <a:xfrm>
            <a:off x="1333500" y="2126813"/>
            <a:ext cx="13620750" cy="563106"/>
          </a:xfrm>
          <a:prstGeom prst="rect">
            <a:avLst/>
          </a:prstGeom>
          <a:noFill/>
          <a:ln/>
        </p:spPr>
        <p:txBody>
          <a:bodyPr wrap="square" lIns="25400" tIns="25400" rIns="25400" bIns="25400" rtlCol="0" anchor="t">
            <a:normAutofit/>
          </a:bodyPr>
          <a:lstStyle/>
          <a:p>
            <a:pPr algn="l" indent="0" marL="0">
              <a:lnSpc>
                <a:spcPct val="91867"/>
              </a:lnSpc>
              <a:buNone/>
            </a:pPr>
            <a:r>
              <a:rPr lang="en-US" sz="3900" spc="-58" kern="0" dirty="0">
                <a:solidFill>
                  <a:srgbClr val="181D26"/>
                </a:solidFill>
                <a:latin typeface="Arial" pitchFamily="34" charset="0"/>
                <a:ea typeface="Arial" pitchFamily="34" charset="-122"/>
                <a:cs typeface="Arial" pitchFamily="34" charset="-120"/>
              </a:rPr>
              <a:t>Staying grounded, and solving the right problems.</a:t>
            </a:r>
            <a:endParaRPr lang="en-US" sz="3900" dirty="0"/>
          </a:p>
        </p:txBody>
      </p:sp>
      <p:sp>
        <p:nvSpPr>
          <p:cNvPr id="4" name="Text 2"/>
          <p:cNvSpPr/>
          <p:nvPr/>
        </p:nvSpPr>
        <p:spPr>
          <a:xfrm>
            <a:off x="1333500" y="2766120"/>
            <a:ext cx="12992100"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333840"/>
                </a:solidFill>
                <a:latin typeface="Arial" pitchFamily="34" charset="0"/>
                <a:ea typeface="Arial" pitchFamily="34" charset="-122"/>
                <a:cs typeface="Arial" pitchFamily="34" charset="-120"/>
              </a:rPr>
              <a:t>Simple strategies to go beyond tribal knowledge — a loop we run, made concrete in five living artifacts.</a:t>
            </a:r>
            <a:endParaRPr lang="en-US" sz="1725" dirty="0"/>
          </a:p>
        </p:txBody>
      </p:sp>
      <p:sp>
        <p:nvSpPr>
          <p:cNvPr id="5" name="Shape 3"/>
          <p:cNvSpPr/>
          <p:nvPr/>
        </p:nvSpPr>
        <p:spPr>
          <a:xfrm>
            <a:off x="1333500" y="3464778"/>
            <a:ext cx="3790950" cy="1304449"/>
          </a:xfrm>
          <a:prstGeom prst="roundRect">
            <a:avLst>
              <a:gd name="adj" fmla="val 8762"/>
            </a:avLst>
          </a:prstGeom>
          <a:solidFill>
            <a:srgbClr val="F8FAFC"/>
          </a:solidFill>
          <a:ln/>
        </p:spPr>
      </p:sp>
      <p:sp>
        <p:nvSpPr>
          <p:cNvPr id="6" name="Text 4"/>
          <p:cNvSpPr/>
          <p:nvPr/>
        </p:nvSpPr>
        <p:spPr>
          <a:xfrm>
            <a:off x="1581150" y="3693378"/>
            <a:ext cx="3625215" cy="209550"/>
          </a:xfrm>
          <a:prstGeom prst="rect">
            <a:avLst/>
          </a:prstGeom>
          <a:noFill/>
          <a:ln/>
        </p:spPr>
        <p:txBody>
          <a:bodyPr wrap="square" lIns="25400" tIns="25400" rIns="25400" bIns="25400" rtlCol="0" anchor="t">
            <a:normAutofit/>
          </a:bodyPr>
          <a:lstStyle/>
          <a:p>
            <a:pPr algn="l" indent="0" marL="0">
              <a:buNone/>
            </a:pPr>
            <a:r>
              <a:rPr lang="en-US" sz="1200" b="1" dirty="0">
                <a:solidFill>
                  <a:srgbClr val="AA2D00"/>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1581150" y="3979128"/>
            <a:ext cx="3625215" cy="304800"/>
          </a:xfrm>
          <a:prstGeom prst="rect">
            <a:avLst/>
          </a:prstGeom>
          <a:noFill/>
          <a:ln/>
        </p:spPr>
        <p:txBody>
          <a:bodyPr wrap="square" lIns="25400" tIns="25400" rIns="25400" bIns="25400" rtlCol="0" anchor="t">
            <a:normAutofit/>
          </a:bodyPr>
          <a:lstStyle/>
          <a:p>
            <a:pPr algn="l" indent="0" marL="0">
              <a:buNone/>
            </a:pPr>
            <a:r>
              <a:rPr lang="en-US" sz="1725" dirty="0">
                <a:solidFill>
                  <a:srgbClr val="181D26"/>
                </a:solidFill>
                <a:latin typeface="Arial" pitchFamily="34" charset="0"/>
                <a:ea typeface="Arial" pitchFamily="34" charset="-122"/>
                <a:cs typeface="Arial" pitchFamily="34" charset="-120"/>
              </a:rPr>
              <a:t>Discover</a:t>
            </a:r>
            <a:endParaRPr lang="en-US" sz="1725" dirty="0"/>
          </a:p>
        </p:txBody>
      </p:sp>
      <p:sp>
        <p:nvSpPr>
          <p:cNvPr id="8" name="Text 6"/>
          <p:cNvSpPr/>
          <p:nvPr/>
        </p:nvSpPr>
        <p:spPr>
          <a:xfrm>
            <a:off x="1581150" y="4322028"/>
            <a:ext cx="3625215" cy="256699"/>
          </a:xfrm>
          <a:prstGeom prst="rect">
            <a:avLst/>
          </a:prstGeom>
          <a:noFill/>
          <a:ln/>
        </p:spPr>
        <p:txBody>
          <a:bodyPr wrap="square" lIns="25400" tIns="25400" rIns="25400" bIns="25400" rtlCol="0" anchor="t">
            <a:normAutofit/>
          </a:bodyPr>
          <a:lstStyle/>
          <a:p>
            <a:pPr algn="l" indent="0" marL="0">
              <a:lnSpc>
                <a:spcPct val="119531"/>
              </a:lnSpc>
              <a:buNone/>
            </a:pPr>
            <a:r>
              <a:rPr lang="en-US" sz="1275" dirty="0">
                <a:solidFill>
                  <a:srgbClr val="41454D"/>
                </a:solidFill>
                <a:latin typeface="Arial" pitchFamily="34" charset="0"/>
                <a:ea typeface="Arial" pitchFamily="34" charset="-122"/>
                <a:cs typeface="Arial" pitchFamily="34" charset="-120"/>
              </a:rPr>
              <a:t>Surface what we already know.</a:t>
            </a:r>
            <a:endParaRPr lang="en-US" sz="1275" dirty="0"/>
          </a:p>
        </p:txBody>
      </p:sp>
      <p:sp>
        <p:nvSpPr>
          <p:cNvPr id="9" name="Shape 7"/>
          <p:cNvSpPr/>
          <p:nvPr/>
        </p:nvSpPr>
        <p:spPr>
          <a:xfrm>
            <a:off x="5276850" y="3464778"/>
            <a:ext cx="3790950" cy="1304449"/>
          </a:xfrm>
          <a:prstGeom prst="roundRect">
            <a:avLst>
              <a:gd name="adj" fmla="val 8762"/>
            </a:avLst>
          </a:prstGeom>
          <a:solidFill>
            <a:srgbClr val="F8FAFC"/>
          </a:solidFill>
          <a:ln/>
        </p:spPr>
      </p:sp>
      <p:sp>
        <p:nvSpPr>
          <p:cNvPr id="10" name="Text 8"/>
          <p:cNvSpPr/>
          <p:nvPr/>
        </p:nvSpPr>
        <p:spPr>
          <a:xfrm>
            <a:off x="5524500" y="3693378"/>
            <a:ext cx="3625215" cy="209550"/>
          </a:xfrm>
          <a:prstGeom prst="rect">
            <a:avLst/>
          </a:prstGeom>
          <a:noFill/>
          <a:ln/>
        </p:spPr>
        <p:txBody>
          <a:bodyPr wrap="square" lIns="25400" tIns="25400" rIns="25400" bIns="25400" rtlCol="0" anchor="t">
            <a:normAutofit/>
          </a:bodyPr>
          <a:lstStyle/>
          <a:p>
            <a:pPr algn="l" indent="0" marL="0">
              <a:buNone/>
            </a:pPr>
            <a:r>
              <a:rPr lang="en-US" sz="1200" b="1" dirty="0">
                <a:solidFill>
                  <a:srgbClr val="AA2D00"/>
                </a:solidFill>
                <a:latin typeface="Arial" pitchFamily="34" charset="0"/>
                <a:ea typeface="Arial" pitchFamily="34" charset="-122"/>
                <a:cs typeface="Arial" pitchFamily="34" charset="-120"/>
              </a:rPr>
              <a:t>02</a:t>
            </a:r>
            <a:endParaRPr lang="en-US" sz="1200" dirty="0"/>
          </a:p>
        </p:txBody>
      </p:sp>
      <p:sp>
        <p:nvSpPr>
          <p:cNvPr id="11" name="Text 9"/>
          <p:cNvSpPr/>
          <p:nvPr/>
        </p:nvSpPr>
        <p:spPr>
          <a:xfrm>
            <a:off x="5524500" y="3979128"/>
            <a:ext cx="3625215" cy="304800"/>
          </a:xfrm>
          <a:prstGeom prst="rect">
            <a:avLst/>
          </a:prstGeom>
          <a:noFill/>
          <a:ln/>
        </p:spPr>
        <p:txBody>
          <a:bodyPr wrap="square" lIns="25400" tIns="25400" rIns="25400" bIns="25400" rtlCol="0" anchor="t">
            <a:normAutofit/>
          </a:bodyPr>
          <a:lstStyle/>
          <a:p>
            <a:pPr algn="l" indent="0" marL="0">
              <a:buNone/>
            </a:pPr>
            <a:r>
              <a:rPr lang="en-US" sz="1725" dirty="0">
                <a:solidFill>
                  <a:srgbClr val="181D26"/>
                </a:solidFill>
                <a:latin typeface="Arial" pitchFamily="34" charset="0"/>
                <a:ea typeface="Arial" pitchFamily="34" charset="-122"/>
                <a:cs typeface="Arial" pitchFamily="34" charset="-120"/>
              </a:rPr>
              <a:t>Organize</a:t>
            </a:r>
            <a:endParaRPr lang="en-US" sz="1725" dirty="0"/>
          </a:p>
        </p:txBody>
      </p:sp>
      <p:sp>
        <p:nvSpPr>
          <p:cNvPr id="12" name="Text 10"/>
          <p:cNvSpPr/>
          <p:nvPr/>
        </p:nvSpPr>
        <p:spPr>
          <a:xfrm>
            <a:off x="5524500" y="4322028"/>
            <a:ext cx="3625215" cy="256699"/>
          </a:xfrm>
          <a:prstGeom prst="rect">
            <a:avLst/>
          </a:prstGeom>
          <a:noFill/>
          <a:ln/>
        </p:spPr>
        <p:txBody>
          <a:bodyPr wrap="square" lIns="25400" tIns="25400" rIns="25400" bIns="25400" rtlCol="0" anchor="t">
            <a:normAutofit/>
          </a:bodyPr>
          <a:lstStyle/>
          <a:p>
            <a:pPr algn="l" indent="0" marL="0">
              <a:lnSpc>
                <a:spcPct val="119531"/>
              </a:lnSpc>
              <a:buNone/>
            </a:pPr>
            <a:r>
              <a:rPr lang="en-US" sz="1275" dirty="0">
                <a:solidFill>
                  <a:srgbClr val="41454D"/>
                </a:solidFill>
                <a:latin typeface="Arial" pitchFamily="34" charset="0"/>
                <a:ea typeface="Arial" pitchFamily="34" charset="-122"/>
                <a:cs typeface="Arial" pitchFamily="34" charset="-120"/>
              </a:rPr>
              <a:t>Put it where everyone can find it.</a:t>
            </a:r>
            <a:endParaRPr lang="en-US" sz="1275" dirty="0"/>
          </a:p>
        </p:txBody>
      </p:sp>
      <p:sp>
        <p:nvSpPr>
          <p:cNvPr id="13" name="Shape 11"/>
          <p:cNvSpPr/>
          <p:nvPr/>
        </p:nvSpPr>
        <p:spPr>
          <a:xfrm>
            <a:off x="9220200" y="3464778"/>
            <a:ext cx="3790950" cy="1304449"/>
          </a:xfrm>
          <a:prstGeom prst="roundRect">
            <a:avLst>
              <a:gd name="adj" fmla="val 8762"/>
            </a:avLst>
          </a:prstGeom>
          <a:solidFill>
            <a:srgbClr val="F8FAFC"/>
          </a:solidFill>
          <a:ln/>
        </p:spPr>
      </p:sp>
      <p:sp>
        <p:nvSpPr>
          <p:cNvPr id="14" name="Text 12"/>
          <p:cNvSpPr/>
          <p:nvPr/>
        </p:nvSpPr>
        <p:spPr>
          <a:xfrm>
            <a:off x="9467850" y="3693378"/>
            <a:ext cx="3625215" cy="209550"/>
          </a:xfrm>
          <a:prstGeom prst="rect">
            <a:avLst/>
          </a:prstGeom>
          <a:noFill/>
          <a:ln/>
        </p:spPr>
        <p:txBody>
          <a:bodyPr wrap="square" lIns="25400" tIns="25400" rIns="25400" bIns="25400" rtlCol="0" anchor="t">
            <a:normAutofit/>
          </a:bodyPr>
          <a:lstStyle/>
          <a:p>
            <a:pPr algn="l" indent="0" marL="0">
              <a:buNone/>
            </a:pPr>
            <a:r>
              <a:rPr lang="en-US" sz="1200" b="1" dirty="0">
                <a:solidFill>
                  <a:srgbClr val="AA2D00"/>
                </a:solidFill>
                <a:latin typeface="Arial" pitchFamily="34" charset="0"/>
                <a:ea typeface="Arial" pitchFamily="34" charset="-122"/>
                <a:cs typeface="Arial" pitchFamily="34" charset="-120"/>
              </a:rPr>
              <a:t>03</a:t>
            </a:r>
            <a:endParaRPr lang="en-US" sz="1200" dirty="0"/>
          </a:p>
        </p:txBody>
      </p:sp>
      <p:sp>
        <p:nvSpPr>
          <p:cNvPr id="15" name="Text 13"/>
          <p:cNvSpPr/>
          <p:nvPr/>
        </p:nvSpPr>
        <p:spPr>
          <a:xfrm>
            <a:off x="9467850" y="3979128"/>
            <a:ext cx="3625215" cy="304800"/>
          </a:xfrm>
          <a:prstGeom prst="rect">
            <a:avLst/>
          </a:prstGeom>
          <a:noFill/>
          <a:ln/>
        </p:spPr>
        <p:txBody>
          <a:bodyPr wrap="square" lIns="25400" tIns="25400" rIns="25400" bIns="25400" rtlCol="0" anchor="t">
            <a:normAutofit/>
          </a:bodyPr>
          <a:lstStyle/>
          <a:p>
            <a:pPr algn="l" indent="0" marL="0">
              <a:buNone/>
            </a:pPr>
            <a:r>
              <a:rPr lang="en-US" sz="1725" dirty="0">
                <a:solidFill>
                  <a:srgbClr val="181D26"/>
                </a:solidFill>
                <a:latin typeface="Arial" pitchFamily="34" charset="0"/>
                <a:ea typeface="Arial" pitchFamily="34" charset="-122"/>
                <a:cs typeface="Arial" pitchFamily="34" charset="-120"/>
              </a:rPr>
              <a:t>Validate</a:t>
            </a:r>
            <a:endParaRPr lang="en-US" sz="1725" dirty="0"/>
          </a:p>
        </p:txBody>
      </p:sp>
      <p:sp>
        <p:nvSpPr>
          <p:cNvPr id="16" name="Text 14"/>
          <p:cNvSpPr/>
          <p:nvPr/>
        </p:nvSpPr>
        <p:spPr>
          <a:xfrm>
            <a:off x="9467850" y="4322028"/>
            <a:ext cx="3625215" cy="256699"/>
          </a:xfrm>
          <a:prstGeom prst="rect">
            <a:avLst/>
          </a:prstGeom>
          <a:noFill/>
          <a:ln/>
        </p:spPr>
        <p:txBody>
          <a:bodyPr wrap="square" lIns="25400" tIns="25400" rIns="25400" bIns="25400" rtlCol="0" anchor="t">
            <a:normAutofit/>
          </a:bodyPr>
          <a:lstStyle/>
          <a:p>
            <a:pPr algn="l" indent="0" marL="0">
              <a:lnSpc>
                <a:spcPct val="119531"/>
              </a:lnSpc>
              <a:buNone/>
            </a:pPr>
            <a:r>
              <a:rPr lang="en-US" sz="1275" dirty="0">
                <a:solidFill>
                  <a:srgbClr val="41454D"/>
                </a:solidFill>
                <a:latin typeface="Arial" pitchFamily="34" charset="0"/>
                <a:ea typeface="Arial" pitchFamily="34" charset="-122"/>
                <a:cs typeface="Arial" pitchFamily="34" charset="-120"/>
              </a:rPr>
              <a:t>Test it against real evidence.</a:t>
            </a:r>
            <a:endParaRPr lang="en-US" sz="1275" dirty="0"/>
          </a:p>
        </p:txBody>
      </p:sp>
      <p:sp>
        <p:nvSpPr>
          <p:cNvPr id="17" name="Shape 15"/>
          <p:cNvSpPr/>
          <p:nvPr/>
        </p:nvSpPr>
        <p:spPr>
          <a:xfrm>
            <a:off x="13163550" y="3464778"/>
            <a:ext cx="3790950" cy="1304449"/>
          </a:xfrm>
          <a:prstGeom prst="roundRect">
            <a:avLst>
              <a:gd name="adj" fmla="val 8762"/>
            </a:avLst>
          </a:prstGeom>
          <a:solidFill>
            <a:srgbClr val="F8FAFC"/>
          </a:solidFill>
          <a:ln/>
        </p:spPr>
      </p:sp>
      <p:sp>
        <p:nvSpPr>
          <p:cNvPr id="18" name="Text 16"/>
          <p:cNvSpPr/>
          <p:nvPr/>
        </p:nvSpPr>
        <p:spPr>
          <a:xfrm>
            <a:off x="13411200" y="3693378"/>
            <a:ext cx="3625215" cy="209550"/>
          </a:xfrm>
          <a:prstGeom prst="rect">
            <a:avLst/>
          </a:prstGeom>
          <a:noFill/>
          <a:ln/>
        </p:spPr>
        <p:txBody>
          <a:bodyPr wrap="square" lIns="25400" tIns="25400" rIns="25400" bIns="25400" rtlCol="0" anchor="t">
            <a:normAutofit/>
          </a:bodyPr>
          <a:lstStyle/>
          <a:p>
            <a:pPr algn="l" indent="0" marL="0">
              <a:buNone/>
            </a:pPr>
            <a:r>
              <a:rPr lang="en-US" sz="1200" b="1" dirty="0">
                <a:solidFill>
                  <a:srgbClr val="AA2D00"/>
                </a:solidFill>
                <a:latin typeface="Arial" pitchFamily="34" charset="0"/>
                <a:ea typeface="Arial" pitchFamily="34" charset="-122"/>
                <a:cs typeface="Arial" pitchFamily="34" charset="-120"/>
              </a:rPr>
              <a:t>04</a:t>
            </a:r>
            <a:endParaRPr lang="en-US" sz="1200" dirty="0"/>
          </a:p>
        </p:txBody>
      </p:sp>
      <p:sp>
        <p:nvSpPr>
          <p:cNvPr id="19" name="Text 17"/>
          <p:cNvSpPr/>
          <p:nvPr/>
        </p:nvSpPr>
        <p:spPr>
          <a:xfrm>
            <a:off x="13411200" y="3979128"/>
            <a:ext cx="3625215" cy="304800"/>
          </a:xfrm>
          <a:prstGeom prst="rect">
            <a:avLst/>
          </a:prstGeom>
          <a:noFill/>
          <a:ln/>
        </p:spPr>
        <p:txBody>
          <a:bodyPr wrap="square" lIns="25400" tIns="25400" rIns="25400" bIns="25400" rtlCol="0" anchor="t">
            <a:normAutofit/>
          </a:bodyPr>
          <a:lstStyle/>
          <a:p>
            <a:pPr algn="l" indent="0" marL="0">
              <a:buNone/>
            </a:pPr>
            <a:r>
              <a:rPr lang="en-US" sz="1725" dirty="0">
                <a:solidFill>
                  <a:srgbClr val="181D26"/>
                </a:solidFill>
                <a:latin typeface="Arial" pitchFamily="34" charset="0"/>
                <a:ea typeface="Arial" pitchFamily="34" charset="-122"/>
                <a:cs typeface="Arial" pitchFamily="34" charset="-120"/>
              </a:rPr>
              <a:t>Integrate</a:t>
            </a:r>
            <a:endParaRPr lang="en-US" sz="1725" dirty="0"/>
          </a:p>
        </p:txBody>
      </p:sp>
      <p:sp>
        <p:nvSpPr>
          <p:cNvPr id="20" name="Text 18"/>
          <p:cNvSpPr/>
          <p:nvPr/>
        </p:nvSpPr>
        <p:spPr>
          <a:xfrm>
            <a:off x="13411200" y="4322028"/>
            <a:ext cx="3625215" cy="256699"/>
          </a:xfrm>
          <a:prstGeom prst="rect">
            <a:avLst/>
          </a:prstGeom>
          <a:noFill/>
          <a:ln/>
        </p:spPr>
        <p:txBody>
          <a:bodyPr wrap="square" lIns="25400" tIns="25400" rIns="25400" bIns="25400" rtlCol="0" anchor="t">
            <a:normAutofit/>
          </a:bodyPr>
          <a:lstStyle/>
          <a:p>
            <a:pPr algn="l" indent="0" marL="0">
              <a:lnSpc>
                <a:spcPct val="119531"/>
              </a:lnSpc>
              <a:buNone/>
            </a:pPr>
            <a:r>
              <a:rPr lang="en-US" sz="1275" dirty="0">
                <a:solidFill>
                  <a:srgbClr val="41454D"/>
                </a:solidFill>
                <a:latin typeface="Arial" pitchFamily="34" charset="0"/>
                <a:ea typeface="Arial" pitchFamily="34" charset="-122"/>
                <a:cs typeface="Arial" pitchFamily="34" charset="-120"/>
              </a:rPr>
              <a:t>Build it into how we work.</a:t>
            </a:r>
            <a:endParaRPr lang="en-US" sz="1275" dirty="0"/>
          </a:p>
        </p:txBody>
      </p:sp>
      <p:sp>
        <p:nvSpPr>
          <p:cNvPr id="21" name="Text 19"/>
          <p:cNvSpPr/>
          <p:nvPr/>
        </p:nvSpPr>
        <p:spPr>
          <a:xfrm>
            <a:off x="1333500" y="5150227"/>
            <a:ext cx="17183100" cy="201930"/>
          </a:xfrm>
          <a:prstGeom prst="rect">
            <a:avLst/>
          </a:prstGeom>
          <a:noFill/>
          <a:ln/>
        </p:spPr>
        <p:txBody>
          <a:bodyPr wrap="square" lIns="25400" tIns="25400" rIns="25400" bIns="25400" rtlCol="0" anchor="t">
            <a:normAutofit/>
          </a:bodyPr>
          <a:lstStyle/>
          <a:p>
            <a:pPr algn="l" indent="0" marL="0">
              <a:buNone/>
            </a:pPr>
            <a:r>
              <a:rPr lang="en-US" sz="1125" b="1" spc="180" kern="0" dirty="0">
                <a:solidFill>
                  <a:srgbClr val="9297A0"/>
                </a:solidFill>
                <a:latin typeface="Arial" pitchFamily="34" charset="0"/>
                <a:ea typeface="Arial" pitchFamily="34" charset="-122"/>
                <a:cs typeface="Arial" pitchFamily="34" charset="-120"/>
              </a:rPr>
              <a:t>MADE CONCRETE — FIVE LIVING ARTIFACTS</a:t>
            </a:r>
            <a:endParaRPr lang="en-US" sz="1125" dirty="0"/>
          </a:p>
        </p:txBody>
      </p:sp>
      <p:sp>
        <p:nvSpPr>
          <p:cNvPr id="22" name="Shape 20"/>
          <p:cNvSpPr/>
          <p:nvPr/>
        </p:nvSpPr>
        <p:spPr>
          <a:xfrm>
            <a:off x="1333500" y="5371207"/>
            <a:ext cx="15621000" cy="9525"/>
          </a:xfrm>
          <a:prstGeom prst="rect">
            <a:avLst/>
          </a:prstGeom>
          <a:solidFill>
            <a:srgbClr val="E0E2E6"/>
          </a:solidFill>
          <a:ln/>
        </p:spPr>
      </p:sp>
      <p:sp>
        <p:nvSpPr>
          <p:cNvPr id="23" name="Text 21"/>
          <p:cNvSpPr/>
          <p:nvPr/>
        </p:nvSpPr>
        <p:spPr>
          <a:xfrm>
            <a:off x="1333500" y="5542657"/>
            <a:ext cx="57150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1</a:t>
            </a:r>
            <a:endParaRPr lang="en-US" sz="1650" dirty="0"/>
          </a:p>
        </p:txBody>
      </p:sp>
      <p:sp>
        <p:nvSpPr>
          <p:cNvPr id="24" name="Text 22"/>
          <p:cNvSpPr/>
          <p:nvPr/>
        </p:nvSpPr>
        <p:spPr>
          <a:xfrm>
            <a:off x="2095500" y="5531227"/>
            <a:ext cx="3143250" cy="304800"/>
          </a:xfrm>
          <a:prstGeom prst="rect">
            <a:avLst/>
          </a:prstGeom>
          <a:noFill/>
          <a:ln/>
        </p:spPr>
        <p:txBody>
          <a:bodyPr wrap="square" lIns="25400" tIns="25400" rIns="25400" bIns="25400" rtlCol="0" anchor="t">
            <a:normAutofit/>
          </a:bodyPr>
          <a:lstStyle/>
          <a:p>
            <a:pPr algn="l" indent="0" marL="0">
              <a:buNone/>
            </a:pPr>
            <a:r>
              <a:rPr lang="en-US" sz="1725" dirty="0">
                <a:solidFill>
                  <a:srgbClr val="181D26"/>
                </a:solidFill>
                <a:latin typeface="Arial" pitchFamily="34" charset="0"/>
                <a:ea typeface="Arial" pitchFamily="34" charset="-122"/>
                <a:cs typeface="Arial" pitchFamily="34" charset="-120"/>
              </a:rPr>
              <a:t>Product Knowledge Map</a:t>
            </a:r>
            <a:endParaRPr lang="en-US" sz="1725" dirty="0"/>
          </a:p>
        </p:txBody>
      </p:sp>
      <p:sp>
        <p:nvSpPr>
          <p:cNvPr id="25" name="Text 23"/>
          <p:cNvSpPr/>
          <p:nvPr/>
        </p:nvSpPr>
        <p:spPr>
          <a:xfrm>
            <a:off x="5219700" y="5555992"/>
            <a:ext cx="12908280" cy="255270"/>
          </a:xfrm>
          <a:prstGeom prst="rect">
            <a:avLst/>
          </a:prstGeom>
          <a:noFill/>
          <a:ln/>
        </p:spPr>
        <p:txBody>
          <a:bodyPr wrap="square" lIns="25400" tIns="25400" rIns="25400" bIns="25400" rtlCol="0" anchor="t">
            <a:normAutofit/>
          </a:bodyPr>
          <a:lstStyle/>
          <a:p>
            <a:pPr algn="l" indent="0" marL="0">
              <a:buNone/>
            </a:pPr>
            <a:r>
              <a:rPr lang="en-US" sz="1425" dirty="0">
                <a:solidFill>
                  <a:srgbClr val="41454D"/>
                </a:solidFill>
                <a:latin typeface="Arial" pitchFamily="34" charset="0"/>
                <a:ea typeface="Arial" pitchFamily="34" charset="-122"/>
                <a:cs typeface="Arial" pitchFamily="34" charset="-120"/>
              </a:rPr>
              <a:t>One platform-level picture: roadmap, journey, architecture, personas, metrics, terminology.</a:t>
            </a:r>
            <a:endParaRPr lang="en-US" sz="1425" dirty="0"/>
          </a:p>
        </p:txBody>
      </p:sp>
      <p:sp>
        <p:nvSpPr>
          <p:cNvPr id="26" name="Shape 24"/>
          <p:cNvSpPr/>
          <p:nvPr/>
        </p:nvSpPr>
        <p:spPr>
          <a:xfrm>
            <a:off x="1333500" y="5950327"/>
            <a:ext cx="15621000" cy="9525"/>
          </a:xfrm>
          <a:prstGeom prst="rect">
            <a:avLst/>
          </a:prstGeom>
          <a:solidFill>
            <a:srgbClr val="E0E2E6"/>
          </a:solidFill>
          <a:ln/>
        </p:spPr>
      </p:sp>
      <p:sp>
        <p:nvSpPr>
          <p:cNvPr id="27" name="Text 25"/>
          <p:cNvSpPr/>
          <p:nvPr/>
        </p:nvSpPr>
        <p:spPr>
          <a:xfrm>
            <a:off x="1333500" y="6255127"/>
            <a:ext cx="57150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2</a:t>
            </a:r>
            <a:endParaRPr lang="en-US" sz="1650" dirty="0"/>
          </a:p>
        </p:txBody>
      </p:sp>
      <p:sp>
        <p:nvSpPr>
          <p:cNvPr id="28" name="Text 26"/>
          <p:cNvSpPr/>
          <p:nvPr/>
        </p:nvSpPr>
        <p:spPr>
          <a:xfrm>
            <a:off x="2095500" y="6110347"/>
            <a:ext cx="2943225" cy="571500"/>
          </a:xfrm>
          <a:prstGeom prst="rect">
            <a:avLst/>
          </a:prstGeom>
          <a:noFill/>
          <a:ln/>
        </p:spPr>
        <p:txBody>
          <a:bodyPr wrap="square" lIns="25400" tIns="25400" rIns="25400" bIns="25400" rtlCol="0" anchor="t">
            <a:normAutofit/>
          </a:bodyPr>
          <a:lstStyle/>
          <a:p>
            <a:pPr algn="l" indent="0" marL="0">
              <a:buNone/>
            </a:pPr>
            <a:r>
              <a:rPr lang="en-US" sz="1725" dirty="0">
                <a:solidFill>
                  <a:srgbClr val="181D26"/>
                </a:solidFill>
                <a:latin typeface="Arial" pitchFamily="34" charset="0"/>
                <a:ea typeface="Arial" pitchFamily="34" charset="-122"/>
                <a:cs typeface="Arial" pitchFamily="34" charset="-120"/>
              </a:rPr>
              <a:t>Tribal Knowledge &amp; Evidence</a:t>
            </a:r>
            <a:endParaRPr lang="en-US" sz="1725" dirty="0"/>
          </a:p>
        </p:txBody>
      </p:sp>
      <p:sp>
        <p:nvSpPr>
          <p:cNvPr id="29" name="Text 27"/>
          <p:cNvSpPr/>
          <p:nvPr/>
        </p:nvSpPr>
        <p:spPr>
          <a:xfrm>
            <a:off x="5219700" y="6268462"/>
            <a:ext cx="12908280" cy="255270"/>
          </a:xfrm>
          <a:prstGeom prst="rect">
            <a:avLst/>
          </a:prstGeom>
          <a:noFill/>
          <a:ln/>
        </p:spPr>
        <p:txBody>
          <a:bodyPr wrap="square" lIns="25400" tIns="25400" rIns="25400" bIns="25400" rtlCol="0" anchor="t">
            <a:normAutofit/>
          </a:bodyPr>
          <a:lstStyle/>
          <a:p>
            <a:pPr algn="l" indent="0" marL="0">
              <a:buNone/>
            </a:pPr>
            <a:r>
              <a:rPr lang="en-US" sz="1425" dirty="0">
                <a:solidFill>
                  <a:srgbClr val="41454D"/>
                </a:solidFill>
                <a:latin typeface="Arial" pitchFamily="34" charset="0"/>
                <a:ea typeface="Arial" pitchFamily="34" charset="-122"/>
                <a:cs typeface="Arial" pitchFamily="34" charset="-120"/>
              </a:rPr>
              <a:t>What we already know, gathered from internal stakeholders and the channels we already have.</a:t>
            </a:r>
            <a:endParaRPr lang="en-US" sz="1425" dirty="0"/>
          </a:p>
        </p:txBody>
      </p:sp>
      <p:sp>
        <p:nvSpPr>
          <p:cNvPr id="30" name="Shape 28"/>
          <p:cNvSpPr/>
          <p:nvPr/>
        </p:nvSpPr>
        <p:spPr>
          <a:xfrm>
            <a:off x="1333500" y="6796147"/>
            <a:ext cx="15621000" cy="9525"/>
          </a:xfrm>
          <a:prstGeom prst="rect">
            <a:avLst/>
          </a:prstGeom>
          <a:solidFill>
            <a:srgbClr val="E0E2E6"/>
          </a:solidFill>
          <a:ln/>
        </p:spPr>
      </p:sp>
      <p:sp>
        <p:nvSpPr>
          <p:cNvPr id="31" name="Text 29"/>
          <p:cNvSpPr/>
          <p:nvPr/>
        </p:nvSpPr>
        <p:spPr>
          <a:xfrm>
            <a:off x="1333500" y="6967597"/>
            <a:ext cx="57150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3</a:t>
            </a:r>
            <a:endParaRPr lang="en-US" sz="1650" dirty="0"/>
          </a:p>
        </p:txBody>
      </p:sp>
      <p:sp>
        <p:nvSpPr>
          <p:cNvPr id="32" name="Text 30"/>
          <p:cNvSpPr/>
          <p:nvPr/>
        </p:nvSpPr>
        <p:spPr>
          <a:xfrm>
            <a:off x="2095500" y="6956167"/>
            <a:ext cx="3143250" cy="304800"/>
          </a:xfrm>
          <a:prstGeom prst="rect">
            <a:avLst/>
          </a:prstGeom>
          <a:noFill/>
          <a:ln/>
        </p:spPr>
        <p:txBody>
          <a:bodyPr wrap="square" lIns="25400" tIns="25400" rIns="25400" bIns="25400" rtlCol="0" anchor="t">
            <a:normAutofit/>
          </a:bodyPr>
          <a:lstStyle/>
          <a:p>
            <a:pPr algn="l" indent="0" marL="0">
              <a:buNone/>
            </a:pPr>
            <a:r>
              <a:rPr lang="en-US" sz="1725" dirty="0">
                <a:solidFill>
                  <a:srgbClr val="181D26"/>
                </a:solidFill>
                <a:latin typeface="Arial" pitchFamily="34" charset="0"/>
                <a:ea typeface="Arial" pitchFamily="34" charset="-122"/>
                <a:cs typeface="Arial" pitchFamily="34" charset="-120"/>
              </a:rPr>
              <a:t>User Research</a:t>
            </a:r>
            <a:endParaRPr lang="en-US" sz="1725" dirty="0"/>
          </a:p>
        </p:txBody>
      </p:sp>
      <p:sp>
        <p:nvSpPr>
          <p:cNvPr id="33" name="Text 31"/>
          <p:cNvSpPr/>
          <p:nvPr/>
        </p:nvSpPr>
        <p:spPr>
          <a:xfrm>
            <a:off x="5219700" y="6980932"/>
            <a:ext cx="12908280" cy="255270"/>
          </a:xfrm>
          <a:prstGeom prst="rect">
            <a:avLst/>
          </a:prstGeom>
          <a:noFill/>
          <a:ln/>
        </p:spPr>
        <p:txBody>
          <a:bodyPr wrap="square" lIns="25400" tIns="25400" rIns="25400" bIns="25400" rtlCol="0" anchor="t">
            <a:normAutofit/>
          </a:bodyPr>
          <a:lstStyle/>
          <a:p>
            <a:pPr algn="l" indent="0" marL="0">
              <a:buNone/>
            </a:pPr>
            <a:r>
              <a:rPr lang="en-US" sz="1425" dirty="0">
                <a:solidFill>
                  <a:srgbClr val="41454D"/>
                </a:solidFill>
                <a:latin typeface="Arial" pitchFamily="34" charset="0"/>
                <a:ea typeface="Arial" pitchFamily="34" charset="-122"/>
                <a:cs typeface="Arial" pitchFamily="34" charset="-120"/>
              </a:rPr>
              <a:t>Feedback themes across products, organized by persona.</a:t>
            </a:r>
            <a:endParaRPr lang="en-US" sz="1425" dirty="0"/>
          </a:p>
        </p:txBody>
      </p:sp>
      <p:sp>
        <p:nvSpPr>
          <p:cNvPr id="34" name="Shape 32"/>
          <p:cNvSpPr/>
          <p:nvPr/>
        </p:nvSpPr>
        <p:spPr>
          <a:xfrm>
            <a:off x="1333500" y="7375267"/>
            <a:ext cx="15621000" cy="9525"/>
          </a:xfrm>
          <a:prstGeom prst="rect">
            <a:avLst/>
          </a:prstGeom>
          <a:solidFill>
            <a:srgbClr val="E0E2E6"/>
          </a:solidFill>
          <a:ln/>
        </p:spPr>
      </p:sp>
      <p:sp>
        <p:nvSpPr>
          <p:cNvPr id="35" name="Text 33"/>
          <p:cNvSpPr/>
          <p:nvPr/>
        </p:nvSpPr>
        <p:spPr>
          <a:xfrm>
            <a:off x="1333500" y="7546717"/>
            <a:ext cx="57150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4</a:t>
            </a:r>
            <a:endParaRPr lang="en-US" sz="1650" dirty="0"/>
          </a:p>
        </p:txBody>
      </p:sp>
      <p:sp>
        <p:nvSpPr>
          <p:cNvPr id="36" name="Text 34"/>
          <p:cNvSpPr/>
          <p:nvPr/>
        </p:nvSpPr>
        <p:spPr>
          <a:xfrm>
            <a:off x="2095500" y="7535287"/>
            <a:ext cx="3143250" cy="304800"/>
          </a:xfrm>
          <a:prstGeom prst="rect">
            <a:avLst/>
          </a:prstGeom>
          <a:noFill/>
          <a:ln/>
        </p:spPr>
        <p:txBody>
          <a:bodyPr wrap="square" lIns="25400" tIns="25400" rIns="25400" bIns="25400" rtlCol="0" anchor="t">
            <a:normAutofit/>
          </a:bodyPr>
          <a:lstStyle/>
          <a:p>
            <a:pPr algn="l" indent="0" marL="0">
              <a:buNone/>
            </a:pPr>
            <a:r>
              <a:rPr lang="en-US" sz="1725" dirty="0">
                <a:solidFill>
                  <a:srgbClr val="181D26"/>
                </a:solidFill>
                <a:latin typeface="Arial" pitchFamily="34" charset="0"/>
                <a:ea typeface="Arial" pitchFamily="34" charset="-122"/>
                <a:cs typeface="Arial" pitchFamily="34" charset="-120"/>
              </a:rPr>
              <a:t>5W1H on Every Project</a:t>
            </a:r>
            <a:endParaRPr lang="en-US" sz="1725" dirty="0"/>
          </a:p>
        </p:txBody>
      </p:sp>
      <p:sp>
        <p:nvSpPr>
          <p:cNvPr id="37" name="Text 35"/>
          <p:cNvSpPr/>
          <p:nvPr/>
        </p:nvSpPr>
        <p:spPr>
          <a:xfrm>
            <a:off x="5219700" y="7560052"/>
            <a:ext cx="12908280" cy="255270"/>
          </a:xfrm>
          <a:prstGeom prst="rect">
            <a:avLst/>
          </a:prstGeom>
          <a:noFill/>
          <a:ln/>
        </p:spPr>
        <p:txBody>
          <a:bodyPr wrap="square" lIns="25400" tIns="25400" rIns="25400" bIns="25400" rtlCol="0" anchor="t">
            <a:normAutofit/>
          </a:bodyPr>
          <a:lstStyle/>
          <a:p>
            <a:pPr algn="l" indent="0" marL="0">
              <a:buNone/>
            </a:pPr>
            <a:r>
              <a:rPr lang="en-US" sz="1425" dirty="0">
                <a:solidFill>
                  <a:srgbClr val="41454D"/>
                </a:solidFill>
                <a:latin typeface="Arial" pitchFamily="34" charset="0"/>
                <a:ea typeface="Arial" pitchFamily="34" charset="-122"/>
                <a:cs typeface="Arial" pitchFamily="34" charset="-120"/>
              </a:rPr>
              <a:t>Full context — why, who, where/when, what, how — before we design.</a:t>
            </a:r>
            <a:endParaRPr lang="en-US" sz="1425" dirty="0"/>
          </a:p>
        </p:txBody>
      </p:sp>
      <p:sp>
        <p:nvSpPr>
          <p:cNvPr id="38" name="Shape 36"/>
          <p:cNvSpPr/>
          <p:nvPr/>
        </p:nvSpPr>
        <p:spPr>
          <a:xfrm>
            <a:off x="1333500" y="8533507"/>
            <a:ext cx="15621000" cy="9525"/>
          </a:xfrm>
          <a:prstGeom prst="rect">
            <a:avLst/>
          </a:prstGeom>
          <a:solidFill>
            <a:srgbClr val="E0E2E6"/>
          </a:solidFill>
          <a:ln/>
        </p:spPr>
      </p:sp>
      <p:sp>
        <p:nvSpPr>
          <p:cNvPr id="39" name="Shape 37"/>
          <p:cNvSpPr/>
          <p:nvPr/>
        </p:nvSpPr>
        <p:spPr>
          <a:xfrm>
            <a:off x="1333500" y="7954387"/>
            <a:ext cx="15621000" cy="9525"/>
          </a:xfrm>
          <a:prstGeom prst="rect">
            <a:avLst/>
          </a:prstGeom>
          <a:solidFill>
            <a:srgbClr val="E0E2E6"/>
          </a:solidFill>
          <a:ln/>
        </p:spPr>
      </p:sp>
      <p:sp>
        <p:nvSpPr>
          <p:cNvPr id="40" name="Text 38"/>
          <p:cNvSpPr/>
          <p:nvPr/>
        </p:nvSpPr>
        <p:spPr>
          <a:xfrm>
            <a:off x="1333500" y="8125837"/>
            <a:ext cx="57150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5</a:t>
            </a:r>
            <a:endParaRPr lang="en-US" sz="1650" dirty="0"/>
          </a:p>
        </p:txBody>
      </p:sp>
      <p:sp>
        <p:nvSpPr>
          <p:cNvPr id="41" name="Text 39"/>
          <p:cNvSpPr/>
          <p:nvPr/>
        </p:nvSpPr>
        <p:spPr>
          <a:xfrm>
            <a:off x="2095500" y="8114407"/>
            <a:ext cx="3143250" cy="304800"/>
          </a:xfrm>
          <a:prstGeom prst="rect">
            <a:avLst/>
          </a:prstGeom>
          <a:noFill/>
          <a:ln/>
        </p:spPr>
        <p:txBody>
          <a:bodyPr wrap="square" lIns="25400" tIns="25400" rIns="25400" bIns="25400" rtlCol="0" anchor="t">
            <a:normAutofit/>
          </a:bodyPr>
          <a:lstStyle/>
          <a:p>
            <a:pPr algn="l" indent="0" marL="0">
              <a:buNone/>
            </a:pPr>
            <a:r>
              <a:rPr lang="en-US" sz="1725" dirty="0">
                <a:solidFill>
                  <a:srgbClr val="181D26"/>
                </a:solidFill>
                <a:latin typeface="Arial" pitchFamily="34" charset="0"/>
                <a:ea typeface="Arial" pitchFamily="34" charset="-122"/>
                <a:cs typeface="Arial" pitchFamily="34" charset="-120"/>
              </a:rPr>
              <a:t>Patterns &amp; Process</a:t>
            </a:r>
            <a:endParaRPr lang="en-US" sz="1725" dirty="0"/>
          </a:p>
        </p:txBody>
      </p:sp>
      <p:sp>
        <p:nvSpPr>
          <p:cNvPr id="42" name="Text 40"/>
          <p:cNvSpPr/>
          <p:nvPr/>
        </p:nvSpPr>
        <p:spPr>
          <a:xfrm>
            <a:off x="5219700" y="8139172"/>
            <a:ext cx="12908280" cy="255270"/>
          </a:xfrm>
          <a:prstGeom prst="rect">
            <a:avLst/>
          </a:prstGeom>
          <a:noFill/>
          <a:ln/>
        </p:spPr>
        <p:txBody>
          <a:bodyPr wrap="square" lIns="25400" tIns="25400" rIns="25400" bIns="25400" rtlCol="0" anchor="t">
            <a:normAutofit/>
          </a:bodyPr>
          <a:lstStyle/>
          <a:p>
            <a:pPr algn="l" indent="0" marL="0">
              <a:buNone/>
            </a:pPr>
            <a:r>
              <a:rPr lang="en-US" sz="1425" dirty="0">
                <a:solidFill>
                  <a:srgbClr val="41454D"/>
                </a:solidFill>
                <a:latin typeface="Arial" pitchFamily="34" charset="0"/>
                <a:ea typeface="Arial" pitchFamily="34" charset="-122"/>
                <a:cs typeface="Arial" pitchFamily="34" charset="-120"/>
              </a:rPr>
              <a:t>Shared patterns and process improvements — starting with the design system and the designer → developer handoff.</a:t>
            </a:r>
            <a:endParaRPr lang="en-US" sz="14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9D4"/>
        </a:solidFill>
      </p:bgPr>
    </p:bg>
    <p:spTree>
      <p:nvGrpSpPr>
        <p:cNvPr id="1" name=""/>
        <p:cNvGrpSpPr/>
        <p:nvPr/>
      </p:nvGrpSpPr>
      <p:grpSpPr>
        <a:xfrm>
          <a:off x="0" y="0"/>
          <a:ext cx="0" cy="0"/>
          <a:chOff x="0" y="0"/>
          <a:chExt cx="0" cy="0"/>
        </a:xfrm>
      </p:grpSpPr>
      <p:sp>
        <p:nvSpPr>
          <p:cNvPr id="2" name="Text 0"/>
          <p:cNvSpPr/>
          <p:nvPr/>
        </p:nvSpPr>
        <p:spPr>
          <a:xfrm>
            <a:off x="1333500" y="2367439"/>
            <a:ext cx="17183100" cy="209550"/>
          </a:xfrm>
          <a:prstGeom prst="rect">
            <a:avLst/>
          </a:prstGeom>
          <a:noFill/>
          <a:ln/>
        </p:spPr>
        <p:txBody>
          <a:bodyPr wrap="square" lIns="25400" tIns="25400" rIns="25400" bIns="25400" rtlCol="0" anchor="t">
            <a:normAutofit/>
          </a:bodyPr>
          <a:lstStyle/>
          <a:p>
            <a:pPr algn="l" indent="0" marL="0">
              <a:buNone/>
            </a:pPr>
            <a:r>
              <a:rPr lang="en-US" sz="1200" b="1" spc="240" kern="0" dirty="0">
                <a:solidFill>
                  <a:srgbClr val="8A6D3B"/>
                </a:solidFill>
                <a:latin typeface="Arial" pitchFamily="34" charset="0"/>
                <a:ea typeface="Arial" pitchFamily="34" charset="-122"/>
                <a:cs typeface="Arial" pitchFamily="34" charset="-120"/>
              </a:rPr>
              <a:t>WHAT DESIGN TOUCHES</a:t>
            </a:r>
            <a:endParaRPr lang="en-US" sz="1200" dirty="0"/>
          </a:p>
        </p:txBody>
      </p:sp>
      <p:sp>
        <p:nvSpPr>
          <p:cNvPr id="3" name="Text 1"/>
          <p:cNvSpPr/>
          <p:nvPr/>
        </p:nvSpPr>
        <p:spPr>
          <a:xfrm>
            <a:off x="1333500" y="2805589"/>
            <a:ext cx="11772900" cy="1272540"/>
          </a:xfrm>
          <a:prstGeom prst="rect">
            <a:avLst/>
          </a:prstGeom>
          <a:noFill/>
          <a:ln/>
        </p:spPr>
        <p:txBody>
          <a:bodyPr wrap="square" lIns="25400" tIns="25400" rIns="25400" bIns="25400" rtlCol="0" anchor="t">
            <a:normAutofit/>
          </a:bodyPr>
          <a:lstStyle/>
          <a:p>
            <a:pPr algn="l" indent="0" marL="0">
              <a:lnSpc>
                <a:spcPct val="93642"/>
              </a:lnSpc>
              <a:buNone/>
            </a:pPr>
            <a:r>
              <a:rPr lang="en-US" sz="4500" spc="-67" kern="0" dirty="0">
                <a:solidFill>
                  <a:srgbClr val="181D26"/>
                </a:solidFill>
                <a:latin typeface="Arial" pitchFamily="34" charset="0"/>
                <a:ea typeface="Arial" pitchFamily="34" charset="-122"/>
                <a:cs typeface="Arial" pitchFamily="34" charset="-120"/>
              </a:rPr>
              <a:t>Seven ingredients in a successful product — and design has a hand in every one.</a:t>
            </a:r>
            <a:endParaRPr lang="en-US" sz="4500" dirty="0"/>
          </a:p>
        </p:txBody>
      </p:sp>
      <p:sp>
        <p:nvSpPr>
          <p:cNvPr id="4" name="Shape 2"/>
          <p:cNvSpPr/>
          <p:nvPr/>
        </p:nvSpPr>
        <p:spPr>
          <a:xfrm>
            <a:off x="1333500" y="5199697"/>
            <a:ext cx="6762750" cy="9525"/>
          </a:xfrm>
          <a:prstGeom prst="rect">
            <a:avLst/>
          </a:prstGeom>
          <a:solidFill>
            <a:srgbClr val="E2D3B4"/>
          </a:solidFill>
          <a:ln/>
        </p:spPr>
      </p:sp>
      <p:sp>
        <p:nvSpPr>
          <p:cNvPr id="5" name="Text 3"/>
          <p:cNvSpPr/>
          <p:nvPr/>
        </p:nvSpPr>
        <p:spPr>
          <a:xfrm>
            <a:off x="1333500" y="4760119"/>
            <a:ext cx="40005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1</a:t>
            </a:r>
            <a:endParaRPr lang="en-US" sz="1650" dirty="0"/>
          </a:p>
        </p:txBody>
      </p:sp>
      <p:sp>
        <p:nvSpPr>
          <p:cNvPr id="6" name="Text 4"/>
          <p:cNvSpPr/>
          <p:nvPr/>
        </p:nvSpPr>
        <p:spPr>
          <a:xfrm>
            <a:off x="1885950" y="4706779"/>
            <a:ext cx="4953304" cy="359569"/>
          </a:xfrm>
          <a:prstGeom prst="rect">
            <a:avLst/>
          </a:prstGeom>
          <a:noFill/>
          <a:ln/>
        </p:spPr>
        <p:txBody>
          <a:bodyPr wrap="square" lIns="25400" tIns="25400" rIns="25400" bIns="25400" rtlCol="0" anchor="t">
            <a:normAutofit/>
          </a:bodyPr>
          <a:lstStyle/>
          <a:p>
            <a:pPr algn="l" indent="0" marL="0">
              <a:lnSpc>
                <a:spcPct val="117187"/>
              </a:lnSpc>
              <a:buNone/>
            </a:pPr>
            <a:r>
              <a:rPr lang="en-US" sz="1875" dirty="0">
                <a:solidFill>
                  <a:srgbClr val="181D26"/>
                </a:solidFill>
                <a:latin typeface="Arial" pitchFamily="34" charset="0"/>
                <a:ea typeface="Arial" pitchFamily="34" charset="-122"/>
                <a:cs typeface="Arial" pitchFamily="34" charset="-120"/>
              </a:rPr>
              <a:t>Solves the right problems for customers</a:t>
            </a:r>
            <a:endParaRPr lang="en-US" sz="1875" dirty="0"/>
          </a:p>
        </p:txBody>
      </p:sp>
      <p:sp>
        <p:nvSpPr>
          <p:cNvPr id="7" name="Shape 5"/>
          <p:cNvSpPr/>
          <p:nvPr/>
        </p:nvSpPr>
        <p:spPr>
          <a:xfrm>
            <a:off x="8858250" y="5199697"/>
            <a:ext cx="6762750" cy="9525"/>
          </a:xfrm>
          <a:prstGeom prst="rect">
            <a:avLst/>
          </a:prstGeom>
          <a:solidFill>
            <a:srgbClr val="E2D3B4"/>
          </a:solidFill>
          <a:ln/>
        </p:spPr>
      </p:sp>
      <p:sp>
        <p:nvSpPr>
          <p:cNvPr id="8" name="Text 6"/>
          <p:cNvSpPr/>
          <p:nvPr/>
        </p:nvSpPr>
        <p:spPr>
          <a:xfrm>
            <a:off x="8858250" y="4760119"/>
            <a:ext cx="40005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5</a:t>
            </a:r>
            <a:endParaRPr lang="en-US" sz="1650" dirty="0"/>
          </a:p>
        </p:txBody>
      </p:sp>
      <p:sp>
        <p:nvSpPr>
          <p:cNvPr id="9" name="Text 7"/>
          <p:cNvSpPr/>
          <p:nvPr/>
        </p:nvSpPr>
        <p:spPr>
          <a:xfrm>
            <a:off x="9410700" y="4706779"/>
            <a:ext cx="3459343" cy="359569"/>
          </a:xfrm>
          <a:prstGeom prst="rect">
            <a:avLst/>
          </a:prstGeom>
          <a:noFill/>
          <a:ln/>
        </p:spPr>
        <p:txBody>
          <a:bodyPr wrap="square" lIns="25400" tIns="25400" rIns="25400" bIns="25400" rtlCol="0" anchor="t">
            <a:normAutofit/>
          </a:bodyPr>
          <a:lstStyle/>
          <a:p>
            <a:pPr algn="l" indent="0" marL="0">
              <a:lnSpc>
                <a:spcPct val="117187"/>
              </a:lnSpc>
              <a:buNone/>
            </a:pPr>
            <a:r>
              <a:rPr lang="en-US" sz="1875" dirty="0">
                <a:solidFill>
                  <a:srgbClr val="181D26"/>
                </a:solidFill>
                <a:latin typeface="Arial" pitchFamily="34" charset="0"/>
                <a:ea typeface="Arial" pitchFamily="34" charset="-122"/>
                <a:cs typeface="Arial" pitchFamily="34" charset="-120"/>
              </a:rPr>
              <a:t>Has good customer support</a:t>
            </a:r>
            <a:endParaRPr lang="en-US" sz="1875" dirty="0"/>
          </a:p>
        </p:txBody>
      </p:sp>
      <p:sp>
        <p:nvSpPr>
          <p:cNvPr id="10" name="Shape 8"/>
          <p:cNvSpPr/>
          <p:nvPr/>
        </p:nvSpPr>
        <p:spPr>
          <a:xfrm>
            <a:off x="1333500" y="6216015"/>
            <a:ext cx="6762750" cy="9525"/>
          </a:xfrm>
          <a:prstGeom prst="rect">
            <a:avLst/>
          </a:prstGeom>
          <a:solidFill>
            <a:srgbClr val="E2D3B4"/>
          </a:solidFill>
          <a:ln/>
        </p:spPr>
      </p:sp>
      <p:sp>
        <p:nvSpPr>
          <p:cNvPr id="11" name="Text 9"/>
          <p:cNvSpPr/>
          <p:nvPr/>
        </p:nvSpPr>
        <p:spPr>
          <a:xfrm>
            <a:off x="1333500" y="5451157"/>
            <a:ext cx="40005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2</a:t>
            </a:r>
            <a:endParaRPr lang="en-US" sz="1650" dirty="0"/>
          </a:p>
        </p:txBody>
      </p:sp>
      <p:sp>
        <p:nvSpPr>
          <p:cNvPr id="12" name="Text 10"/>
          <p:cNvSpPr/>
          <p:nvPr/>
        </p:nvSpPr>
        <p:spPr>
          <a:xfrm>
            <a:off x="1885950" y="5397818"/>
            <a:ext cx="3787616" cy="359569"/>
          </a:xfrm>
          <a:prstGeom prst="rect">
            <a:avLst/>
          </a:prstGeom>
          <a:noFill/>
          <a:ln/>
        </p:spPr>
        <p:txBody>
          <a:bodyPr wrap="square" lIns="25400" tIns="25400" rIns="25400" bIns="25400" rtlCol="0" anchor="t">
            <a:normAutofit/>
          </a:bodyPr>
          <a:lstStyle/>
          <a:p>
            <a:pPr algn="l" indent="0" marL="0">
              <a:lnSpc>
                <a:spcPct val="117187"/>
              </a:lnSpc>
              <a:buNone/>
            </a:pPr>
            <a:r>
              <a:rPr lang="en-US" sz="1875" dirty="0">
                <a:solidFill>
                  <a:srgbClr val="181D26"/>
                </a:solidFill>
                <a:latin typeface="Arial" pitchFamily="34" charset="0"/>
                <a:ea typeface="Arial" pitchFamily="34" charset="-122"/>
                <a:cs typeface="Arial" pitchFamily="34" charset="-120"/>
              </a:rPr>
              <a:t>Has correct product–market fit</a:t>
            </a:r>
            <a:endParaRPr lang="en-US" sz="1875" dirty="0"/>
          </a:p>
        </p:txBody>
      </p:sp>
      <p:sp>
        <p:nvSpPr>
          <p:cNvPr id="13" name="Shape 11"/>
          <p:cNvSpPr/>
          <p:nvPr/>
        </p:nvSpPr>
        <p:spPr>
          <a:xfrm>
            <a:off x="8858250" y="6216015"/>
            <a:ext cx="6762750" cy="9525"/>
          </a:xfrm>
          <a:prstGeom prst="rect">
            <a:avLst/>
          </a:prstGeom>
          <a:solidFill>
            <a:srgbClr val="E2D3B4"/>
          </a:solidFill>
          <a:ln/>
        </p:spPr>
      </p:sp>
      <p:sp>
        <p:nvSpPr>
          <p:cNvPr id="14" name="Text 12"/>
          <p:cNvSpPr/>
          <p:nvPr/>
        </p:nvSpPr>
        <p:spPr>
          <a:xfrm>
            <a:off x="8858250" y="5451157"/>
            <a:ext cx="40005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6</a:t>
            </a:r>
            <a:endParaRPr lang="en-US" sz="1650" dirty="0"/>
          </a:p>
        </p:txBody>
      </p:sp>
      <p:sp>
        <p:nvSpPr>
          <p:cNvPr id="15" name="Text 13"/>
          <p:cNvSpPr/>
          <p:nvPr/>
        </p:nvSpPr>
        <p:spPr>
          <a:xfrm>
            <a:off x="9410700" y="5397818"/>
            <a:ext cx="6396609" cy="684848"/>
          </a:xfrm>
          <a:prstGeom prst="rect">
            <a:avLst/>
          </a:prstGeom>
          <a:noFill/>
          <a:ln/>
        </p:spPr>
        <p:txBody>
          <a:bodyPr wrap="square" lIns="25400" tIns="25400" rIns="25400" bIns="25400" rtlCol="0" anchor="t">
            <a:normAutofit/>
          </a:bodyPr>
          <a:lstStyle/>
          <a:p>
            <a:pPr algn="l" indent="0" marL="0">
              <a:lnSpc>
                <a:spcPct val="117187"/>
              </a:lnSpc>
              <a:buNone/>
            </a:pPr>
            <a:r>
              <a:rPr lang="en-US" sz="1875" dirty="0">
                <a:solidFill>
                  <a:srgbClr val="181D26"/>
                </a:solidFill>
                <a:latin typeface="Arial" pitchFamily="34" charset="0"/>
                <a:ea typeface="Arial" pitchFamily="34" charset="-122"/>
                <a:cs typeface="Arial" pitchFamily="34" charset="-120"/>
              </a:rPr>
              <a:t>Has a pricing model that works for customers </a:t>
            </a:r>
            <a:pPr algn="l" indent="0" marL="0">
              <a:lnSpc>
                <a:spcPct val="117187"/>
              </a:lnSpc>
              <a:buNone/>
            </a:pPr>
            <a:r>
              <a:rPr lang="en-US" sz="1875" i="1" dirty="0">
                <a:solidFill>
                  <a:srgbClr val="181D26"/>
                </a:solidFill>
                <a:latin typeface="Arial" pitchFamily="34" charset="0"/>
                <a:ea typeface="Arial" pitchFamily="34" charset="-122"/>
                <a:cs typeface="Arial" pitchFamily="34" charset="-120"/>
              </a:rPr>
              <a:t>and </a:t>
            </a:r>
            <a:pPr algn="l" indent="0" marL="0">
              <a:lnSpc>
                <a:spcPct val="117187"/>
              </a:lnSpc>
              <a:buNone/>
            </a:pPr>
            <a:r>
              <a:rPr lang="en-US" sz="1875" dirty="0">
                <a:solidFill>
                  <a:srgbClr val="181D26"/>
                </a:solidFill>
                <a:latin typeface="Arial" pitchFamily="34" charset="0"/>
                <a:ea typeface="Arial" pitchFamily="34" charset="-122"/>
                <a:cs typeface="Arial" pitchFamily="34" charset="-120"/>
              </a:rPr>
              <a:t>the company</a:t>
            </a:r>
            <a:endParaRPr lang="en-US" sz="1875" dirty="0"/>
          </a:p>
        </p:txBody>
      </p:sp>
      <p:sp>
        <p:nvSpPr>
          <p:cNvPr id="16" name="Shape 14"/>
          <p:cNvSpPr/>
          <p:nvPr/>
        </p:nvSpPr>
        <p:spPr>
          <a:xfrm>
            <a:off x="1333500" y="7228523"/>
            <a:ext cx="6762750" cy="9525"/>
          </a:xfrm>
          <a:prstGeom prst="rect">
            <a:avLst/>
          </a:prstGeom>
          <a:solidFill>
            <a:srgbClr val="E2D3B4"/>
          </a:solidFill>
          <a:ln/>
        </p:spPr>
      </p:sp>
      <p:sp>
        <p:nvSpPr>
          <p:cNvPr id="17" name="Text 15"/>
          <p:cNvSpPr/>
          <p:nvPr/>
        </p:nvSpPr>
        <p:spPr>
          <a:xfrm>
            <a:off x="1333500" y="6467475"/>
            <a:ext cx="40005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3</a:t>
            </a:r>
            <a:endParaRPr lang="en-US" sz="1650" dirty="0"/>
          </a:p>
        </p:txBody>
      </p:sp>
      <p:sp>
        <p:nvSpPr>
          <p:cNvPr id="18" name="Text 16"/>
          <p:cNvSpPr/>
          <p:nvPr/>
        </p:nvSpPr>
        <p:spPr>
          <a:xfrm>
            <a:off x="1885950" y="6414135"/>
            <a:ext cx="4087535" cy="359569"/>
          </a:xfrm>
          <a:prstGeom prst="rect">
            <a:avLst/>
          </a:prstGeom>
          <a:noFill/>
          <a:ln/>
        </p:spPr>
        <p:txBody>
          <a:bodyPr wrap="square" lIns="25400" tIns="25400" rIns="25400" bIns="25400" rtlCol="0" anchor="t">
            <a:normAutofit/>
          </a:bodyPr>
          <a:lstStyle/>
          <a:p>
            <a:pPr algn="l" indent="0" marL="0">
              <a:lnSpc>
                <a:spcPct val="117187"/>
              </a:lnSpc>
              <a:buNone/>
            </a:pPr>
            <a:r>
              <a:rPr lang="en-US" sz="1875" dirty="0">
                <a:solidFill>
                  <a:srgbClr val="181D26"/>
                </a:solidFill>
                <a:latin typeface="Arial" pitchFamily="34" charset="0"/>
                <a:ea typeface="Arial" pitchFamily="34" charset="-122"/>
                <a:cs typeface="Arial" pitchFamily="34" charset="-120"/>
              </a:rPr>
              <a:t>Has good strategy and execution</a:t>
            </a:r>
            <a:endParaRPr lang="en-US" sz="1875" dirty="0"/>
          </a:p>
        </p:txBody>
      </p:sp>
      <p:sp>
        <p:nvSpPr>
          <p:cNvPr id="19" name="Shape 17"/>
          <p:cNvSpPr/>
          <p:nvPr/>
        </p:nvSpPr>
        <p:spPr>
          <a:xfrm>
            <a:off x="8858250" y="7228523"/>
            <a:ext cx="6762750" cy="9525"/>
          </a:xfrm>
          <a:prstGeom prst="rect">
            <a:avLst/>
          </a:prstGeom>
          <a:solidFill>
            <a:srgbClr val="E2D3B4"/>
          </a:solidFill>
          <a:ln/>
        </p:spPr>
      </p:sp>
      <p:sp>
        <p:nvSpPr>
          <p:cNvPr id="20" name="Text 18"/>
          <p:cNvSpPr/>
          <p:nvPr/>
        </p:nvSpPr>
        <p:spPr>
          <a:xfrm>
            <a:off x="8858250" y="6467475"/>
            <a:ext cx="40005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7</a:t>
            </a:r>
            <a:endParaRPr lang="en-US" sz="1650" dirty="0"/>
          </a:p>
        </p:txBody>
      </p:sp>
      <p:sp>
        <p:nvSpPr>
          <p:cNvPr id="21" name="Text 19"/>
          <p:cNvSpPr/>
          <p:nvPr/>
        </p:nvSpPr>
        <p:spPr>
          <a:xfrm>
            <a:off x="9410700" y="6414135"/>
            <a:ext cx="6396609" cy="681038"/>
          </a:xfrm>
          <a:prstGeom prst="rect">
            <a:avLst/>
          </a:prstGeom>
          <a:noFill/>
          <a:ln/>
        </p:spPr>
        <p:txBody>
          <a:bodyPr wrap="square" lIns="25400" tIns="25400" rIns="25400" bIns="25400" rtlCol="0" anchor="t">
            <a:normAutofit/>
          </a:bodyPr>
          <a:lstStyle/>
          <a:p>
            <a:pPr algn="l" indent="0" marL="0">
              <a:lnSpc>
                <a:spcPct val="117187"/>
              </a:lnSpc>
              <a:buNone/>
            </a:pPr>
            <a:r>
              <a:rPr lang="en-US" sz="1875" dirty="0">
                <a:solidFill>
                  <a:srgbClr val="181D26"/>
                </a:solidFill>
                <a:latin typeface="Arial" pitchFamily="34" charset="0"/>
                <a:ea typeface="Arial" pitchFamily="34" charset="-122"/>
                <a:cs typeface="Arial" pitchFamily="34" charset="-120"/>
              </a:rPr>
              <a:t>Builds trust between the user, the company, and the system</a:t>
            </a:r>
            <a:endParaRPr lang="en-US" sz="1875" dirty="0"/>
          </a:p>
        </p:txBody>
      </p:sp>
      <p:sp>
        <p:nvSpPr>
          <p:cNvPr id="22" name="Text 20"/>
          <p:cNvSpPr/>
          <p:nvPr/>
        </p:nvSpPr>
        <p:spPr>
          <a:xfrm>
            <a:off x="1333500" y="7479982"/>
            <a:ext cx="40005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4</a:t>
            </a:r>
            <a:endParaRPr lang="en-US" sz="1650" dirty="0"/>
          </a:p>
        </p:txBody>
      </p:sp>
      <p:sp>
        <p:nvSpPr>
          <p:cNvPr id="23" name="Text 21"/>
          <p:cNvSpPr/>
          <p:nvPr/>
        </p:nvSpPr>
        <p:spPr>
          <a:xfrm>
            <a:off x="1885950" y="7426643"/>
            <a:ext cx="3072920" cy="359569"/>
          </a:xfrm>
          <a:prstGeom prst="rect">
            <a:avLst/>
          </a:prstGeom>
          <a:noFill/>
          <a:ln/>
        </p:spPr>
        <p:txBody>
          <a:bodyPr wrap="square" lIns="25400" tIns="25400" rIns="25400" bIns="25400" rtlCol="0" anchor="t">
            <a:normAutofit/>
          </a:bodyPr>
          <a:lstStyle/>
          <a:p>
            <a:pPr algn="l" indent="0" marL="0">
              <a:lnSpc>
                <a:spcPct val="117187"/>
              </a:lnSpc>
              <a:buNone/>
            </a:pPr>
            <a:r>
              <a:rPr lang="en-US" sz="1875" dirty="0">
                <a:solidFill>
                  <a:srgbClr val="181D26"/>
                </a:solidFill>
                <a:latin typeface="Arial" pitchFamily="34" charset="0"/>
                <a:ea typeface="Arial" pitchFamily="34" charset="-122"/>
                <a:cs typeface="Arial" pitchFamily="34" charset="-120"/>
              </a:rPr>
              <a:t>Has good quality and UX</a:t>
            </a:r>
            <a:endParaRPr lang="en-US" sz="18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333500" y="1561445"/>
            <a:ext cx="17183100" cy="209550"/>
          </a:xfrm>
          <a:prstGeom prst="rect">
            <a:avLst/>
          </a:prstGeom>
          <a:noFill/>
          <a:ln/>
        </p:spPr>
        <p:txBody>
          <a:bodyPr wrap="square" lIns="25400" tIns="25400" rIns="25400" bIns="25400" rtlCol="0" anchor="t">
            <a:normAutofit/>
          </a:bodyPr>
          <a:lstStyle/>
          <a:p>
            <a:pPr algn="l" indent="0" marL="0">
              <a:buNone/>
            </a:pPr>
            <a:r>
              <a:rPr lang="en-US" sz="1200" b="1" spc="240" kern="0" dirty="0">
                <a:solidFill>
                  <a:srgbClr val="9297A0"/>
                </a:solidFill>
                <a:latin typeface="Arial" pitchFamily="34" charset="0"/>
                <a:ea typeface="Arial" pitchFamily="34" charset="-122"/>
                <a:cs typeface="Arial" pitchFamily="34" charset="-120"/>
              </a:rPr>
              <a:t>HOW I APPROACH A DESIGN</a:t>
            </a:r>
            <a:endParaRPr lang="en-US" sz="1200" dirty="0"/>
          </a:p>
        </p:txBody>
      </p:sp>
      <p:sp>
        <p:nvSpPr>
          <p:cNvPr id="3" name="Text 1"/>
          <p:cNvSpPr/>
          <p:nvPr/>
        </p:nvSpPr>
        <p:spPr>
          <a:xfrm>
            <a:off x="1333500" y="1942445"/>
            <a:ext cx="12950190" cy="1088112"/>
          </a:xfrm>
          <a:prstGeom prst="rect">
            <a:avLst/>
          </a:prstGeom>
          <a:noFill/>
          <a:ln/>
        </p:spPr>
        <p:txBody>
          <a:bodyPr wrap="square" lIns="25400" tIns="25400" rIns="25400" bIns="25400" rtlCol="0" anchor="t">
            <a:normAutofit/>
          </a:bodyPr>
          <a:lstStyle/>
          <a:p>
            <a:pPr algn="l" indent="0" marL="0">
              <a:lnSpc>
                <a:spcPct val="91867"/>
              </a:lnSpc>
              <a:buNone/>
            </a:pPr>
            <a:r>
              <a:rPr lang="en-US" sz="3900" spc="-58" kern="0" dirty="0">
                <a:solidFill>
                  <a:srgbClr val="181D26"/>
                </a:solidFill>
                <a:latin typeface="Arial" pitchFamily="34" charset="0"/>
                <a:ea typeface="Arial" pitchFamily="34" charset="-122"/>
                <a:cs typeface="Arial" pitchFamily="34" charset="-120"/>
              </a:rPr>
              <a:t>Before I touch a screen: am I solving the right problem?</a:t>
            </a:r>
            <a:endParaRPr lang="en-US" sz="3900" dirty="0"/>
          </a:p>
        </p:txBody>
      </p:sp>
      <p:sp>
        <p:nvSpPr>
          <p:cNvPr id="4" name="Text 2"/>
          <p:cNvSpPr/>
          <p:nvPr/>
        </p:nvSpPr>
        <p:spPr>
          <a:xfrm>
            <a:off x="1333500" y="3106757"/>
            <a:ext cx="12165330" cy="673418"/>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333840"/>
                </a:solidFill>
                <a:latin typeface="Arial" pitchFamily="34" charset="0"/>
                <a:ea typeface="Arial" pitchFamily="34" charset="-122"/>
                <a:cs typeface="Arial" pitchFamily="34" charset="-120"/>
              </a:rPr>
              <a:t>The loop and the questions become a working habit — six moves that carry a project from objective to a path that scales.</a:t>
            </a:r>
            <a:endParaRPr lang="en-US" sz="1725" dirty="0"/>
          </a:p>
        </p:txBody>
      </p:sp>
      <p:sp>
        <p:nvSpPr>
          <p:cNvPr id="5" name="Shape 3"/>
          <p:cNvSpPr/>
          <p:nvPr/>
        </p:nvSpPr>
        <p:spPr>
          <a:xfrm>
            <a:off x="1333500" y="4161175"/>
            <a:ext cx="5016461" cy="1744980"/>
          </a:xfrm>
          <a:prstGeom prst="roundRect">
            <a:avLst>
              <a:gd name="adj" fmla="val 6550"/>
            </a:avLst>
          </a:prstGeom>
          <a:solidFill>
            <a:srgbClr val="FFFFFF"/>
          </a:solidFill>
          <a:ln/>
        </p:spPr>
      </p:sp>
      <p:sp>
        <p:nvSpPr>
          <p:cNvPr id="6" name="Text 4"/>
          <p:cNvSpPr/>
          <p:nvPr/>
        </p:nvSpPr>
        <p:spPr>
          <a:xfrm>
            <a:off x="1619250" y="4465975"/>
            <a:ext cx="4889456" cy="209550"/>
          </a:xfrm>
          <a:prstGeom prst="rect">
            <a:avLst/>
          </a:prstGeom>
          <a:noFill/>
          <a:ln/>
        </p:spPr>
        <p:txBody>
          <a:bodyPr wrap="square" lIns="25400" tIns="25400" rIns="25400" bIns="25400" rtlCol="0" anchor="t">
            <a:normAutofit/>
          </a:bodyPr>
          <a:lstStyle/>
          <a:p>
            <a:pPr algn="l" indent="0" marL="0">
              <a:buNone/>
            </a:pPr>
            <a:r>
              <a:rPr lang="en-US" sz="1200" b="1" dirty="0">
                <a:solidFill>
                  <a:srgbClr val="AA2D00"/>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1619250" y="4770775"/>
            <a:ext cx="488945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Clarify the objective</a:t>
            </a:r>
            <a:endParaRPr lang="en-US" sz="1800" dirty="0"/>
          </a:p>
        </p:txBody>
      </p:sp>
      <p:sp>
        <p:nvSpPr>
          <p:cNvPr id="8" name="Text 6"/>
          <p:cNvSpPr/>
          <p:nvPr/>
        </p:nvSpPr>
        <p:spPr>
          <a:xfrm>
            <a:off x="1619250" y="5121295"/>
            <a:ext cx="4889456" cy="27813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What business outcome are we optimizing?</a:t>
            </a:r>
            <a:endParaRPr lang="en-US" sz="1350" dirty="0"/>
          </a:p>
        </p:txBody>
      </p:sp>
      <p:sp>
        <p:nvSpPr>
          <p:cNvPr id="9" name="Shape 7"/>
          <p:cNvSpPr/>
          <p:nvPr/>
        </p:nvSpPr>
        <p:spPr>
          <a:xfrm>
            <a:off x="6540461" y="4161175"/>
            <a:ext cx="5016520" cy="1744980"/>
          </a:xfrm>
          <a:prstGeom prst="roundRect">
            <a:avLst>
              <a:gd name="adj" fmla="val 6550"/>
            </a:avLst>
          </a:prstGeom>
          <a:solidFill>
            <a:srgbClr val="FFFFFF"/>
          </a:solidFill>
          <a:ln/>
        </p:spPr>
      </p:sp>
      <p:sp>
        <p:nvSpPr>
          <p:cNvPr id="10" name="Text 8"/>
          <p:cNvSpPr/>
          <p:nvPr/>
        </p:nvSpPr>
        <p:spPr>
          <a:xfrm>
            <a:off x="6826211" y="4465975"/>
            <a:ext cx="4889522" cy="209550"/>
          </a:xfrm>
          <a:prstGeom prst="rect">
            <a:avLst/>
          </a:prstGeom>
          <a:noFill/>
          <a:ln/>
        </p:spPr>
        <p:txBody>
          <a:bodyPr wrap="square" lIns="25400" tIns="25400" rIns="25400" bIns="25400" rtlCol="0" anchor="t">
            <a:normAutofit/>
          </a:bodyPr>
          <a:lstStyle/>
          <a:p>
            <a:pPr algn="l" indent="0" marL="0">
              <a:buNone/>
            </a:pPr>
            <a:r>
              <a:rPr lang="en-US" sz="1200" b="1" dirty="0">
                <a:solidFill>
                  <a:srgbClr val="AA2D00"/>
                </a:solidFill>
                <a:latin typeface="Arial" pitchFamily="34" charset="0"/>
                <a:ea typeface="Arial" pitchFamily="34" charset="-122"/>
                <a:cs typeface="Arial" pitchFamily="34" charset="-120"/>
              </a:rPr>
              <a:t>02</a:t>
            </a:r>
            <a:endParaRPr lang="en-US" sz="1200" dirty="0"/>
          </a:p>
        </p:txBody>
      </p:sp>
      <p:sp>
        <p:nvSpPr>
          <p:cNvPr id="11" name="Text 9"/>
          <p:cNvSpPr/>
          <p:nvPr/>
        </p:nvSpPr>
        <p:spPr>
          <a:xfrm>
            <a:off x="6826211" y="4770775"/>
            <a:ext cx="488952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Map the system</a:t>
            </a:r>
            <a:endParaRPr lang="en-US" sz="1800" dirty="0"/>
          </a:p>
        </p:txBody>
      </p:sp>
      <p:sp>
        <p:nvSpPr>
          <p:cNvPr id="12" name="Text 10"/>
          <p:cNvSpPr/>
          <p:nvPr/>
        </p:nvSpPr>
        <p:spPr>
          <a:xfrm>
            <a:off x="6826211" y="5121295"/>
            <a:ext cx="4578371" cy="51816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Who and what else is affected — and what happens before and after in the workflow?</a:t>
            </a:r>
            <a:endParaRPr lang="en-US" sz="1350" dirty="0"/>
          </a:p>
        </p:txBody>
      </p:sp>
      <p:sp>
        <p:nvSpPr>
          <p:cNvPr id="13" name="Shape 11"/>
          <p:cNvSpPr/>
          <p:nvPr/>
        </p:nvSpPr>
        <p:spPr>
          <a:xfrm>
            <a:off x="11747481" y="4161175"/>
            <a:ext cx="5016461" cy="1744980"/>
          </a:xfrm>
          <a:prstGeom prst="roundRect">
            <a:avLst>
              <a:gd name="adj" fmla="val 6550"/>
            </a:avLst>
          </a:prstGeom>
          <a:solidFill>
            <a:srgbClr val="FFFFFF"/>
          </a:solidFill>
          <a:ln/>
        </p:spPr>
      </p:sp>
      <p:sp>
        <p:nvSpPr>
          <p:cNvPr id="14" name="Text 12"/>
          <p:cNvSpPr/>
          <p:nvPr/>
        </p:nvSpPr>
        <p:spPr>
          <a:xfrm>
            <a:off x="12033231" y="4465975"/>
            <a:ext cx="4889456" cy="209550"/>
          </a:xfrm>
          <a:prstGeom prst="rect">
            <a:avLst/>
          </a:prstGeom>
          <a:noFill/>
          <a:ln/>
        </p:spPr>
        <p:txBody>
          <a:bodyPr wrap="square" lIns="25400" tIns="25400" rIns="25400" bIns="25400" rtlCol="0" anchor="t">
            <a:normAutofit/>
          </a:bodyPr>
          <a:lstStyle/>
          <a:p>
            <a:pPr algn="l" indent="0" marL="0">
              <a:buNone/>
            </a:pPr>
            <a:r>
              <a:rPr lang="en-US" sz="1200" b="1" dirty="0">
                <a:solidFill>
                  <a:srgbClr val="AA2D00"/>
                </a:solidFill>
                <a:latin typeface="Arial" pitchFamily="34" charset="0"/>
                <a:ea typeface="Arial" pitchFamily="34" charset="-122"/>
                <a:cs typeface="Arial" pitchFamily="34" charset="-120"/>
              </a:rPr>
              <a:t>03</a:t>
            </a:r>
            <a:endParaRPr lang="en-US" sz="1200" dirty="0"/>
          </a:p>
        </p:txBody>
      </p:sp>
      <p:sp>
        <p:nvSpPr>
          <p:cNvPr id="15" name="Text 13"/>
          <p:cNvSpPr/>
          <p:nvPr/>
        </p:nvSpPr>
        <p:spPr>
          <a:xfrm>
            <a:off x="12033231" y="4770775"/>
            <a:ext cx="488945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Name constraints &amp; risks</a:t>
            </a:r>
            <a:endParaRPr lang="en-US" sz="1800" dirty="0"/>
          </a:p>
        </p:txBody>
      </p:sp>
      <p:sp>
        <p:nvSpPr>
          <p:cNvPr id="16" name="Text 14"/>
          <p:cNvSpPr/>
          <p:nvPr/>
        </p:nvSpPr>
        <p:spPr>
          <a:xfrm>
            <a:off x="12033231" y="5121295"/>
            <a:ext cx="4578309" cy="51816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Permissions, state, and failure modes — early, not at QA.</a:t>
            </a:r>
            <a:endParaRPr lang="en-US" sz="1350" dirty="0"/>
          </a:p>
        </p:txBody>
      </p:sp>
      <p:sp>
        <p:nvSpPr>
          <p:cNvPr id="17" name="Shape 15"/>
          <p:cNvSpPr/>
          <p:nvPr/>
        </p:nvSpPr>
        <p:spPr>
          <a:xfrm>
            <a:off x="1333500" y="6096655"/>
            <a:ext cx="5016461" cy="1744980"/>
          </a:xfrm>
          <a:prstGeom prst="roundRect">
            <a:avLst>
              <a:gd name="adj" fmla="val 6550"/>
            </a:avLst>
          </a:prstGeom>
          <a:solidFill>
            <a:srgbClr val="FFFFFF"/>
          </a:solidFill>
          <a:ln/>
        </p:spPr>
      </p:sp>
      <p:sp>
        <p:nvSpPr>
          <p:cNvPr id="18" name="Text 16"/>
          <p:cNvSpPr/>
          <p:nvPr/>
        </p:nvSpPr>
        <p:spPr>
          <a:xfrm>
            <a:off x="1619250" y="6401455"/>
            <a:ext cx="4889456" cy="209550"/>
          </a:xfrm>
          <a:prstGeom prst="rect">
            <a:avLst/>
          </a:prstGeom>
          <a:noFill/>
          <a:ln/>
        </p:spPr>
        <p:txBody>
          <a:bodyPr wrap="square" lIns="25400" tIns="25400" rIns="25400" bIns="25400" rtlCol="0" anchor="t">
            <a:normAutofit/>
          </a:bodyPr>
          <a:lstStyle/>
          <a:p>
            <a:pPr algn="l" indent="0" marL="0">
              <a:buNone/>
            </a:pPr>
            <a:r>
              <a:rPr lang="en-US" sz="1200" b="1" dirty="0">
                <a:solidFill>
                  <a:srgbClr val="AA2D00"/>
                </a:solidFill>
                <a:latin typeface="Arial" pitchFamily="34" charset="0"/>
                <a:ea typeface="Arial" pitchFamily="34" charset="-122"/>
                <a:cs typeface="Arial" pitchFamily="34" charset="-120"/>
              </a:rPr>
              <a:t>04</a:t>
            </a:r>
            <a:endParaRPr lang="en-US" sz="1200" dirty="0"/>
          </a:p>
        </p:txBody>
      </p:sp>
      <p:sp>
        <p:nvSpPr>
          <p:cNvPr id="19" name="Text 17"/>
          <p:cNvSpPr/>
          <p:nvPr/>
        </p:nvSpPr>
        <p:spPr>
          <a:xfrm>
            <a:off x="1619250" y="6706255"/>
            <a:ext cx="488945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Evaluate tradeoffs</a:t>
            </a:r>
            <a:endParaRPr lang="en-US" sz="1800" dirty="0"/>
          </a:p>
        </p:txBody>
      </p:sp>
      <p:sp>
        <p:nvSpPr>
          <p:cNvPr id="20" name="Text 18"/>
          <p:cNvSpPr/>
          <p:nvPr/>
        </p:nvSpPr>
        <p:spPr>
          <a:xfrm>
            <a:off x="1619250" y="7056775"/>
            <a:ext cx="4578309" cy="51816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Weigh the options out loud against the outcome and the user.</a:t>
            </a:r>
            <a:endParaRPr lang="en-US" sz="1350" dirty="0"/>
          </a:p>
        </p:txBody>
      </p:sp>
      <p:sp>
        <p:nvSpPr>
          <p:cNvPr id="21" name="Shape 19"/>
          <p:cNvSpPr/>
          <p:nvPr/>
        </p:nvSpPr>
        <p:spPr>
          <a:xfrm>
            <a:off x="6540461" y="6096655"/>
            <a:ext cx="5016520" cy="1744980"/>
          </a:xfrm>
          <a:prstGeom prst="roundRect">
            <a:avLst>
              <a:gd name="adj" fmla="val 6550"/>
            </a:avLst>
          </a:prstGeom>
          <a:solidFill>
            <a:srgbClr val="FFFFFF"/>
          </a:solidFill>
          <a:ln/>
        </p:spPr>
      </p:sp>
      <p:sp>
        <p:nvSpPr>
          <p:cNvPr id="22" name="Text 20"/>
          <p:cNvSpPr/>
          <p:nvPr/>
        </p:nvSpPr>
        <p:spPr>
          <a:xfrm>
            <a:off x="6826211" y="6401455"/>
            <a:ext cx="4889522" cy="209550"/>
          </a:xfrm>
          <a:prstGeom prst="rect">
            <a:avLst/>
          </a:prstGeom>
          <a:noFill/>
          <a:ln/>
        </p:spPr>
        <p:txBody>
          <a:bodyPr wrap="square" lIns="25400" tIns="25400" rIns="25400" bIns="25400" rtlCol="0" anchor="t">
            <a:normAutofit/>
          </a:bodyPr>
          <a:lstStyle/>
          <a:p>
            <a:pPr algn="l" indent="0" marL="0">
              <a:buNone/>
            </a:pPr>
            <a:r>
              <a:rPr lang="en-US" sz="1200" b="1" dirty="0">
                <a:solidFill>
                  <a:srgbClr val="AA2D00"/>
                </a:solidFill>
                <a:latin typeface="Arial" pitchFamily="34" charset="0"/>
                <a:ea typeface="Arial" pitchFamily="34" charset="-122"/>
                <a:cs typeface="Arial" pitchFamily="34" charset="-120"/>
              </a:rPr>
              <a:t>05</a:t>
            </a:r>
            <a:endParaRPr lang="en-US" sz="1200" dirty="0"/>
          </a:p>
        </p:txBody>
      </p:sp>
      <p:sp>
        <p:nvSpPr>
          <p:cNvPr id="23" name="Text 21"/>
          <p:cNvSpPr/>
          <p:nvPr/>
        </p:nvSpPr>
        <p:spPr>
          <a:xfrm>
            <a:off x="6826211" y="6706255"/>
            <a:ext cx="488952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Propose incrementally</a:t>
            </a:r>
            <a:endParaRPr lang="en-US" sz="1800" dirty="0"/>
          </a:p>
        </p:txBody>
      </p:sp>
      <p:sp>
        <p:nvSpPr>
          <p:cNvPr id="24" name="Text 22"/>
          <p:cNvSpPr/>
          <p:nvPr/>
        </p:nvSpPr>
        <p:spPr>
          <a:xfrm>
            <a:off x="6826211" y="7056775"/>
            <a:ext cx="4889522" cy="27813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A small, reversible first step over a big reveal.</a:t>
            </a:r>
            <a:endParaRPr lang="en-US" sz="1350" dirty="0"/>
          </a:p>
        </p:txBody>
      </p:sp>
      <p:sp>
        <p:nvSpPr>
          <p:cNvPr id="25" name="Shape 23"/>
          <p:cNvSpPr/>
          <p:nvPr/>
        </p:nvSpPr>
        <p:spPr>
          <a:xfrm>
            <a:off x="11747481" y="6096655"/>
            <a:ext cx="5016461" cy="1744980"/>
          </a:xfrm>
          <a:prstGeom prst="roundRect">
            <a:avLst>
              <a:gd name="adj" fmla="val 6550"/>
            </a:avLst>
          </a:prstGeom>
          <a:solidFill>
            <a:srgbClr val="FFFFFF"/>
          </a:solidFill>
          <a:ln/>
        </p:spPr>
      </p:sp>
      <p:sp>
        <p:nvSpPr>
          <p:cNvPr id="26" name="Text 24"/>
          <p:cNvSpPr/>
          <p:nvPr/>
        </p:nvSpPr>
        <p:spPr>
          <a:xfrm>
            <a:off x="12033231" y="6401455"/>
            <a:ext cx="4889456" cy="209550"/>
          </a:xfrm>
          <a:prstGeom prst="rect">
            <a:avLst/>
          </a:prstGeom>
          <a:noFill/>
          <a:ln/>
        </p:spPr>
        <p:txBody>
          <a:bodyPr wrap="square" lIns="25400" tIns="25400" rIns="25400" bIns="25400" rtlCol="0" anchor="t">
            <a:normAutofit/>
          </a:bodyPr>
          <a:lstStyle/>
          <a:p>
            <a:pPr algn="l" indent="0" marL="0">
              <a:buNone/>
            </a:pPr>
            <a:r>
              <a:rPr lang="en-US" sz="1200" b="1" dirty="0">
                <a:solidFill>
                  <a:srgbClr val="AA2D00"/>
                </a:solidFill>
                <a:latin typeface="Arial" pitchFamily="34" charset="0"/>
                <a:ea typeface="Arial" pitchFamily="34" charset="-122"/>
                <a:cs typeface="Arial" pitchFamily="34" charset="-120"/>
              </a:rPr>
              <a:t>06</a:t>
            </a:r>
            <a:endParaRPr lang="en-US" sz="1200" dirty="0"/>
          </a:p>
        </p:txBody>
      </p:sp>
      <p:sp>
        <p:nvSpPr>
          <p:cNvPr id="27" name="Text 25"/>
          <p:cNvSpPr/>
          <p:nvPr/>
        </p:nvSpPr>
        <p:spPr>
          <a:xfrm>
            <a:off x="12033231" y="6706255"/>
            <a:ext cx="488945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Show how it scales</a:t>
            </a:r>
            <a:endParaRPr lang="en-US" sz="1800" dirty="0"/>
          </a:p>
        </p:txBody>
      </p:sp>
      <p:sp>
        <p:nvSpPr>
          <p:cNvPr id="28" name="Text 26"/>
          <p:cNvSpPr/>
          <p:nvPr/>
        </p:nvSpPr>
        <p:spPr>
          <a:xfrm>
            <a:off x="12033231" y="7056775"/>
            <a:ext cx="4889456" cy="27813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Where the decision holds up over the next 2–3 years.</a:t>
            </a:r>
            <a:endParaRPr lang="en-US" sz="1350" dirty="0"/>
          </a:p>
        </p:txBody>
      </p:sp>
      <p:sp>
        <p:nvSpPr>
          <p:cNvPr id="29" name="Text 27"/>
          <p:cNvSpPr/>
          <p:nvPr/>
        </p:nvSpPr>
        <p:spPr>
          <a:xfrm>
            <a:off x="1333500" y="8222635"/>
            <a:ext cx="14127480" cy="541020"/>
          </a:xfrm>
          <a:prstGeom prst="rect">
            <a:avLst/>
          </a:prstGeom>
          <a:noFill/>
          <a:ln/>
        </p:spPr>
        <p:txBody>
          <a:bodyPr wrap="square" lIns="25400" tIns="25400" rIns="25400" bIns="25400" rtlCol="0" anchor="t">
            <a:normAutofit/>
          </a:bodyPr>
          <a:lstStyle/>
          <a:p>
            <a:pPr algn="l" indent="0" marL="0">
              <a:buNone/>
            </a:pPr>
            <a:r>
              <a:rPr lang="en-US" sz="1650" dirty="0">
                <a:solidFill>
                  <a:srgbClr val="333840"/>
                </a:solidFill>
                <a:latin typeface="Arial" pitchFamily="34" charset="0"/>
                <a:ea typeface="Arial" pitchFamily="34" charset="-122"/>
                <a:cs typeface="Arial" pitchFamily="34" charset="-120"/>
              </a:rPr>
              <a:t>In short: the </a:t>
            </a:r>
            <a:pPr algn="l" indent="0" marL="0">
              <a:buNone/>
            </a:pPr>
            <a:r>
              <a:rPr lang="en-US" sz="1650" i="1" dirty="0">
                <a:solidFill>
                  <a:srgbClr val="333840"/>
                </a:solidFill>
                <a:latin typeface="Arial" pitchFamily="34" charset="0"/>
                <a:ea typeface="Arial" pitchFamily="34" charset="-122"/>
                <a:cs typeface="Arial" pitchFamily="34" charset="-120"/>
              </a:rPr>
              <a:t>objective</a:t>
            </a:r>
            <a:pPr algn="l" indent="0" marL="0">
              <a:buNone/>
            </a:pPr>
            <a:r>
              <a:rPr lang="en-US" sz="1650" dirty="0">
                <a:solidFill>
                  <a:srgbClr val="333840"/>
                </a:solidFill>
                <a:latin typeface="Arial" pitchFamily="34" charset="0"/>
                <a:ea typeface="Arial" pitchFamily="34" charset="-122"/>
                <a:cs typeface="Arial" pitchFamily="34" charset="-120"/>
              </a:rPr>
              <a:t>, the </a:t>
            </a:r>
            <a:pPr algn="l" indent="0" marL="0">
              <a:buNone/>
            </a:pPr>
            <a:r>
              <a:rPr lang="en-US" sz="1650" i="1" dirty="0">
                <a:solidFill>
                  <a:srgbClr val="333840"/>
                </a:solidFill>
                <a:latin typeface="Arial" pitchFamily="34" charset="0"/>
                <a:ea typeface="Arial" pitchFamily="34" charset="-122"/>
                <a:cs typeface="Arial" pitchFamily="34" charset="-120"/>
              </a:rPr>
              <a:t>system </a:t>
            </a:r>
            <a:pPr algn="l" indent="0" marL="0">
              <a:buNone/>
            </a:pPr>
            <a:r>
              <a:rPr lang="en-US" sz="1650" dirty="0">
                <a:solidFill>
                  <a:srgbClr val="333840"/>
                </a:solidFill>
                <a:latin typeface="Arial" pitchFamily="34" charset="0"/>
                <a:ea typeface="Arial" pitchFamily="34" charset="-122"/>
                <a:cs typeface="Arial" pitchFamily="34" charset="-120"/>
              </a:rPr>
              <a:t>around it, its </a:t>
            </a:r>
            <a:pPr algn="l" indent="0" marL="0">
              <a:buNone/>
            </a:pPr>
            <a:r>
              <a:rPr lang="en-US" sz="1650" i="1" dirty="0">
                <a:solidFill>
                  <a:srgbClr val="333840"/>
                </a:solidFill>
                <a:latin typeface="Arial" pitchFamily="34" charset="0"/>
                <a:ea typeface="Arial" pitchFamily="34" charset="-122"/>
                <a:cs typeface="Arial" pitchFamily="34" charset="-120"/>
              </a:rPr>
              <a:t>constraints and tradeoffs</a:t>
            </a:r>
            <a:pPr algn="l" indent="0" marL="0">
              <a:buNone/>
            </a:pPr>
            <a:r>
              <a:rPr lang="en-US" sz="1650" dirty="0">
                <a:solidFill>
                  <a:srgbClr val="333840"/>
                </a:solidFill>
                <a:latin typeface="Arial" pitchFamily="34" charset="0"/>
                <a:ea typeface="Arial" pitchFamily="34" charset="-122"/>
                <a:cs typeface="Arial" pitchFamily="34" charset="-120"/>
              </a:rPr>
              <a:t>, and a </a:t>
            </a:r>
            <a:pPr algn="l" indent="0" marL="0">
              <a:buNone/>
            </a:pPr>
            <a:r>
              <a:rPr lang="en-US" sz="1650" i="1" dirty="0">
                <a:solidFill>
                  <a:srgbClr val="333840"/>
                </a:solidFill>
                <a:latin typeface="Arial" pitchFamily="34" charset="0"/>
                <a:ea typeface="Arial" pitchFamily="34" charset="-122"/>
                <a:cs typeface="Arial" pitchFamily="34" charset="-120"/>
              </a:rPr>
              <a:t>scalable, incremental path </a:t>
            </a:r>
            <a:pPr algn="l" indent="0" marL="0">
              <a:buNone/>
            </a:pPr>
            <a:r>
              <a:rPr lang="en-US" sz="1650" dirty="0">
                <a:solidFill>
                  <a:srgbClr val="333840"/>
                </a:solidFill>
                <a:latin typeface="Arial" pitchFamily="34" charset="0"/>
                <a:ea typeface="Arial" pitchFamily="34" charset="-122"/>
                <a:cs typeface="Arial" pitchFamily="34" charset="-120"/>
              </a:rPr>
              <a:t>— grounded in evidence and shared context.</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333500" y="1583710"/>
            <a:ext cx="17183100" cy="209550"/>
          </a:xfrm>
          <a:prstGeom prst="rect">
            <a:avLst/>
          </a:prstGeom>
          <a:noFill/>
          <a:ln/>
        </p:spPr>
        <p:txBody>
          <a:bodyPr wrap="square" lIns="25400" tIns="25400" rIns="25400" bIns="25400" rtlCol="0" anchor="t">
            <a:normAutofit/>
          </a:bodyPr>
          <a:lstStyle/>
          <a:p>
            <a:pPr algn="l" indent="0" marL="0">
              <a:buNone/>
            </a:pPr>
            <a:r>
              <a:rPr lang="en-US" sz="1200" b="1" spc="240" kern="0" dirty="0">
                <a:solidFill>
                  <a:srgbClr val="9297A0"/>
                </a:solidFill>
                <a:latin typeface="Arial" pitchFamily="34" charset="0"/>
                <a:ea typeface="Arial" pitchFamily="34" charset="-122"/>
                <a:cs typeface="Arial" pitchFamily="34" charset="-120"/>
              </a:rPr>
              <a:t>GROUNDING</a:t>
            </a:r>
            <a:endParaRPr lang="en-US" sz="1200" dirty="0"/>
          </a:p>
        </p:txBody>
      </p:sp>
      <p:sp>
        <p:nvSpPr>
          <p:cNvPr id="3" name="Text 1"/>
          <p:cNvSpPr/>
          <p:nvPr/>
        </p:nvSpPr>
        <p:spPr>
          <a:xfrm>
            <a:off x="1333500" y="1945660"/>
            <a:ext cx="17183100" cy="603468"/>
          </a:xfrm>
          <a:prstGeom prst="rect">
            <a:avLst/>
          </a:prstGeom>
          <a:noFill/>
          <a:ln/>
        </p:spPr>
        <p:txBody>
          <a:bodyPr wrap="square" lIns="25400" tIns="25400" rIns="25400" bIns="25400" rtlCol="0" anchor="t">
            <a:normAutofit/>
          </a:bodyPr>
          <a:lstStyle/>
          <a:p>
            <a:pPr algn="l" indent="0" marL="0">
              <a:lnSpc>
                <a:spcPct val="91605"/>
              </a:lnSpc>
              <a:buNone/>
            </a:pPr>
            <a:r>
              <a:rPr lang="en-US" sz="4200" spc="-63" kern="0" dirty="0">
                <a:solidFill>
                  <a:srgbClr val="181D26"/>
                </a:solidFill>
                <a:latin typeface="Arial" pitchFamily="34" charset="0"/>
                <a:ea typeface="Arial" pitchFamily="34" charset="-122"/>
                <a:cs typeface="Arial" pitchFamily="34" charset="-120"/>
              </a:rPr>
              <a:t>Questions we should always be able to answer.</a:t>
            </a:r>
            <a:endParaRPr lang="en-US" sz="4200" dirty="0"/>
          </a:p>
        </p:txBody>
      </p:sp>
      <p:sp>
        <p:nvSpPr>
          <p:cNvPr id="4" name="Text 2"/>
          <p:cNvSpPr/>
          <p:nvPr/>
        </p:nvSpPr>
        <p:spPr>
          <a:xfrm>
            <a:off x="1333500" y="2606278"/>
            <a:ext cx="17183100" cy="304800"/>
          </a:xfrm>
          <a:prstGeom prst="rect">
            <a:avLst/>
          </a:prstGeom>
          <a:noFill/>
          <a:ln/>
        </p:spPr>
        <p:txBody>
          <a:bodyPr wrap="square" lIns="25400" tIns="25400" rIns="25400" bIns="25400" rtlCol="0" anchor="t">
            <a:normAutofit/>
          </a:bodyPr>
          <a:lstStyle/>
          <a:p>
            <a:pPr algn="l" indent="0" marL="0">
              <a:buNone/>
            </a:pPr>
            <a:r>
              <a:rPr lang="en-US" sz="1725" dirty="0">
                <a:solidFill>
                  <a:srgbClr val="41454D"/>
                </a:solidFill>
                <a:latin typeface="Arial" pitchFamily="34" charset="0"/>
                <a:ea typeface="Arial" pitchFamily="34" charset="-122"/>
                <a:cs typeface="Arial" pitchFamily="34" charset="-120"/>
              </a:rPr>
              <a:t>Not an audit — a shared checklist. Where an answer is thin, that's simply the next thing to explore.</a:t>
            </a:r>
            <a:endParaRPr lang="en-US" sz="1725" dirty="0"/>
          </a:p>
        </p:txBody>
      </p:sp>
      <p:sp>
        <p:nvSpPr>
          <p:cNvPr id="5" name="Text 3"/>
          <p:cNvSpPr/>
          <p:nvPr/>
        </p:nvSpPr>
        <p:spPr>
          <a:xfrm>
            <a:off x="1333500" y="3234928"/>
            <a:ext cx="8256270" cy="209550"/>
          </a:xfrm>
          <a:prstGeom prst="rect">
            <a:avLst/>
          </a:prstGeom>
          <a:noFill/>
          <a:ln/>
        </p:spPr>
        <p:txBody>
          <a:bodyPr wrap="square" lIns="25400" tIns="25400" rIns="25400" bIns="25400" rtlCol="0" anchor="t">
            <a:normAutofit/>
          </a:bodyPr>
          <a:lstStyle/>
          <a:p>
            <a:pPr algn="l" indent="0" marL="0">
              <a:buNone/>
            </a:pPr>
            <a:r>
              <a:rPr lang="en-US" sz="1200" b="1" spc="168" kern="0" dirty="0">
                <a:solidFill>
                  <a:srgbClr val="AA2D00"/>
                </a:solidFill>
                <a:latin typeface="Arial" pitchFamily="34" charset="0"/>
                <a:ea typeface="Arial" pitchFamily="34" charset="-122"/>
                <a:cs typeface="Arial" pitchFamily="34" charset="-120"/>
              </a:rPr>
              <a:t>BUSINESS AND OUTCOMES</a:t>
            </a:r>
            <a:endParaRPr lang="en-US" sz="1200" dirty="0"/>
          </a:p>
        </p:txBody>
      </p:sp>
      <p:sp>
        <p:nvSpPr>
          <p:cNvPr id="6" name="Text 4"/>
          <p:cNvSpPr/>
          <p:nvPr/>
        </p:nvSpPr>
        <p:spPr>
          <a:xfrm>
            <a:off x="1200150" y="3596878"/>
            <a:ext cx="7715250" cy="2457450"/>
          </a:xfrm>
          <a:prstGeom prst="rect">
            <a:avLst/>
          </a:prstGeom>
          <a:noFill/>
          <a:ln/>
        </p:spPr>
        <p:txBody>
          <a:bodyPr wrap="square" lIns="25400" tIns="25400" rIns="25400" bIns="25400" rtlCol="0" anchor="t">
            <a:normAutofit/>
          </a:bodyPr>
          <a:lstStyle/>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How does the company actually make money with this?</a:t>
            </a:r>
            <a:endParaRPr lang="en-US" sz="1500" dirty="0"/>
          </a:p>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What's the competitive differentiator?</a:t>
            </a:r>
            <a:endParaRPr lang="en-US" sz="1500" dirty="0"/>
          </a:p>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Why are deals won or lost — and what causes churn?</a:t>
            </a:r>
            <a:endParaRPr lang="en-US" sz="1500" dirty="0"/>
          </a:p>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What business outcomes are we driving?</a:t>
            </a:r>
            <a:endParaRPr lang="en-US" sz="1500" dirty="0"/>
          </a:p>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Are decisions grounded in data and made from a customer-first perspective?</a:t>
            </a:r>
            <a:endParaRPr lang="en-US" sz="1500" dirty="0"/>
          </a:p>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Are we mapping design decisions back to revenue?</a:t>
            </a:r>
            <a:endParaRPr lang="en-US" sz="1500" dirty="0"/>
          </a:p>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Are designs reducing support tickets?</a:t>
            </a:r>
            <a:endParaRPr lang="en-US" sz="1500" dirty="0"/>
          </a:p>
        </p:txBody>
      </p:sp>
      <p:sp>
        <p:nvSpPr>
          <p:cNvPr id="7" name="Text 5"/>
          <p:cNvSpPr/>
          <p:nvPr/>
        </p:nvSpPr>
        <p:spPr>
          <a:xfrm>
            <a:off x="9448800" y="3234928"/>
            <a:ext cx="8256270" cy="209550"/>
          </a:xfrm>
          <a:prstGeom prst="rect">
            <a:avLst/>
          </a:prstGeom>
          <a:noFill/>
          <a:ln/>
        </p:spPr>
        <p:txBody>
          <a:bodyPr wrap="square" lIns="25400" tIns="25400" rIns="25400" bIns="25400" rtlCol="0" anchor="t">
            <a:normAutofit/>
          </a:bodyPr>
          <a:lstStyle/>
          <a:p>
            <a:pPr algn="l" indent="0" marL="0">
              <a:buNone/>
            </a:pPr>
            <a:r>
              <a:rPr lang="en-US" sz="1200" b="1" spc="168" kern="0" dirty="0">
                <a:solidFill>
                  <a:srgbClr val="AA2D00"/>
                </a:solidFill>
                <a:latin typeface="Arial" pitchFamily="34" charset="0"/>
                <a:ea typeface="Arial" pitchFamily="34" charset="-122"/>
                <a:cs typeface="Arial" pitchFamily="34" charset="-120"/>
              </a:rPr>
              <a:t>PEOPLE AND PLATFORM</a:t>
            </a:r>
            <a:endParaRPr lang="en-US" sz="1200" dirty="0"/>
          </a:p>
        </p:txBody>
      </p:sp>
      <p:sp>
        <p:nvSpPr>
          <p:cNvPr id="8" name="Text 6"/>
          <p:cNvSpPr/>
          <p:nvPr/>
        </p:nvSpPr>
        <p:spPr>
          <a:xfrm>
            <a:off x="9315450" y="3596878"/>
            <a:ext cx="7715250" cy="2457450"/>
          </a:xfrm>
          <a:prstGeom prst="rect">
            <a:avLst/>
          </a:prstGeom>
          <a:noFill/>
          <a:ln/>
        </p:spPr>
        <p:txBody>
          <a:bodyPr wrap="square" lIns="25400" tIns="25400" rIns="25400" bIns="25400" rtlCol="0" anchor="t">
            <a:normAutofit/>
          </a:bodyPr>
          <a:lstStyle/>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Which personas actually use the product every day?</a:t>
            </a:r>
            <a:endParaRPr lang="en-US" sz="1500" dirty="0"/>
          </a:p>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What cross-product opportunities exist?</a:t>
            </a:r>
            <a:endParaRPr lang="en-US" sz="1500" dirty="0"/>
          </a:p>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Are we reducing cognitive load?</a:t>
            </a:r>
            <a:endParaRPr lang="en-US" sz="1500" dirty="0"/>
          </a:p>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Are we designing the platform for scale?</a:t>
            </a:r>
            <a:endParaRPr lang="en-US" sz="1500" dirty="0"/>
          </a:p>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What are the constraints (permissions, state, failure modes, etc.)?</a:t>
            </a:r>
            <a:endParaRPr lang="en-US" sz="1500" dirty="0"/>
          </a:p>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What are the trade-offs (i.e. what are we optimizing for)?</a:t>
            </a:r>
            <a:endParaRPr lang="en-US" sz="1500" dirty="0"/>
          </a:p>
          <a:p>
            <a:pPr algn="l" indent="0" marL="0">
              <a:lnSpc>
                <a:spcPct val="112069"/>
              </a:lnSpc>
              <a:buNone/>
            </a:pPr>
            <a:r>
              <a:rPr lang="en-US" sz="1500" dirty="0">
                <a:solidFill>
                  <a:srgbClr val="333840"/>
                </a:solidFill>
                <a:latin typeface="Arial" pitchFamily="34" charset="0"/>
                <a:ea typeface="Arial" pitchFamily="34" charset="-122"/>
                <a:cs typeface="Arial" pitchFamily="34" charset="-120"/>
              </a:rPr>
              <a:t>What are the roadmap highlights for the next 6 months?</a:t>
            </a:r>
            <a:endParaRPr lang="en-US" sz="1500" dirty="0"/>
          </a:p>
        </p:txBody>
      </p:sp>
      <p:sp>
        <p:nvSpPr>
          <p:cNvPr id="9" name="Text 7"/>
          <p:cNvSpPr/>
          <p:nvPr/>
        </p:nvSpPr>
        <p:spPr>
          <a:xfrm>
            <a:off x="1333500" y="6435328"/>
            <a:ext cx="17183100" cy="209550"/>
          </a:xfrm>
          <a:prstGeom prst="rect">
            <a:avLst/>
          </a:prstGeom>
          <a:noFill/>
          <a:ln/>
        </p:spPr>
        <p:txBody>
          <a:bodyPr wrap="square" lIns="25400" tIns="25400" rIns="25400" bIns="25400" rtlCol="0" anchor="t">
            <a:normAutofit/>
          </a:bodyPr>
          <a:lstStyle/>
          <a:p>
            <a:pPr algn="l" indent="0" marL="0">
              <a:buNone/>
            </a:pPr>
            <a:r>
              <a:rPr lang="en-US" sz="1200" b="1" spc="168" kern="0" dirty="0">
                <a:solidFill>
                  <a:srgbClr val="AA2D00"/>
                </a:solidFill>
                <a:latin typeface="Arial" pitchFamily="34" charset="0"/>
                <a:ea typeface="Arial" pitchFamily="34" charset="-122"/>
                <a:cs typeface="Arial" pitchFamily="34" charset="-120"/>
              </a:rPr>
              <a:t>USABILITY</a:t>
            </a:r>
            <a:endParaRPr lang="en-US" sz="1200" dirty="0"/>
          </a:p>
        </p:txBody>
      </p:sp>
      <p:sp>
        <p:nvSpPr>
          <p:cNvPr id="10" name="Shape 8"/>
          <p:cNvSpPr/>
          <p:nvPr/>
        </p:nvSpPr>
        <p:spPr>
          <a:xfrm>
            <a:off x="1333500" y="6759178"/>
            <a:ext cx="5079980" cy="1944053"/>
          </a:xfrm>
          <a:prstGeom prst="roundRect">
            <a:avLst>
              <a:gd name="adj" fmla="val 5879"/>
            </a:avLst>
          </a:prstGeom>
          <a:solidFill>
            <a:srgbClr val="F0E4CC"/>
          </a:solidFill>
          <a:ln/>
        </p:spPr>
      </p:sp>
      <p:sp>
        <p:nvSpPr>
          <p:cNvPr id="11" name="Text 9"/>
          <p:cNvSpPr/>
          <p:nvPr/>
        </p:nvSpPr>
        <p:spPr>
          <a:xfrm>
            <a:off x="1638300" y="7044928"/>
            <a:ext cx="4917418" cy="247650"/>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AA2D00"/>
                </a:solidFill>
                <a:latin typeface="Arial" pitchFamily="34" charset="0"/>
                <a:ea typeface="Arial" pitchFamily="34" charset="-122"/>
                <a:cs typeface="Arial" pitchFamily="34" charset="-120"/>
              </a:rPr>
              <a:t>PERCEIVE</a:t>
            </a:r>
            <a:endParaRPr lang="en-US" sz="1425" dirty="0"/>
          </a:p>
        </p:txBody>
      </p:sp>
      <p:sp>
        <p:nvSpPr>
          <p:cNvPr id="12" name="Text 10"/>
          <p:cNvSpPr/>
          <p:nvPr/>
        </p:nvSpPr>
        <p:spPr>
          <a:xfrm>
            <a:off x="1511618" y="7444978"/>
            <a:ext cx="4673263" cy="1010603"/>
          </a:xfrm>
          <a:prstGeom prst="rect">
            <a:avLst/>
          </a:prstGeom>
          <a:noFill/>
          <a:ln/>
        </p:spPr>
        <p:txBody>
          <a:bodyPr wrap="square" lIns="25400" tIns="25400" rIns="25400" bIns="25400" rtlCol="0" anchor="t">
            <a:normAutofit/>
          </a:bodyPr>
          <a:lstStyle/>
          <a:p>
            <a:pPr algn="l" indent="0" marL="0">
              <a:lnSpc>
                <a:spcPct val="112273"/>
              </a:lnSpc>
              <a:buNone/>
            </a:pPr>
            <a:r>
              <a:rPr lang="en-US" sz="1425" dirty="0">
                <a:solidFill>
                  <a:srgbClr val="2E2A20"/>
                </a:solidFill>
                <a:latin typeface="Arial" pitchFamily="34" charset="0"/>
                <a:ea typeface="Arial" pitchFamily="34" charset="-122"/>
                <a:cs typeface="Arial" pitchFamily="34" charset="-120"/>
              </a:rPr>
              <a:t>Is there a clear entry point?</a:t>
            </a:r>
            <a:endParaRPr lang="en-US" sz="1425" dirty="0"/>
          </a:p>
          <a:p>
            <a:pPr algn="l" indent="0" marL="0">
              <a:lnSpc>
                <a:spcPct val="112273"/>
              </a:lnSpc>
              <a:buNone/>
            </a:pPr>
            <a:r>
              <a:rPr lang="en-US" sz="1425" dirty="0">
                <a:solidFill>
                  <a:srgbClr val="2E2A20"/>
                </a:solidFill>
                <a:latin typeface="Arial" pitchFamily="34" charset="0"/>
                <a:ea typeface="Arial" pitchFamily="34" charset="-122"/>
                <a:cs typeface="Arial" pitchFamily="34" charset="-120"/>
              </a:rPr>
              <a:t>Does spacing group what belongs together?</a:t>
            </a:r>
            <a:endParaRPr lang="en-US" sz="1425" dirty="0"/>
          </a:p>
          <a:p>
            <a:pPr algn="l" indent="0" marL="0">
              <a:lnSpc>
                <a:spcPct val="112273"/>
              </a:lnSpc>
              <a:buNone/>
            </a:pPr>
            <a:r>
              <a:rPr lang="en-US" sz="1425" dirty="0">
                <a:solidFill>
                  <a:srgbClr val="2E2A20"/>
                </a:solidFill>
                <a:latin typeface="Arial" pitchFamily="34" charset="0"/>
                <a:ea typeface="Arial" pitchFamily="34" charset="-122"/>
                <a:cs typeface="Arial" pitchFamily="34" charset="-120"/>
              </a:rPr>
              <a:t>Is every element earning its place?</a:t>
            </a:r>
            <a:endParaRPr lang="en-US" sz="1425" dirty="0"/>
          </a:p>
        </p:txBody>
      </p:sp>
      <p:sp>
        <p:nvSpPr>
          <p:cNvPr id="13" name="Shape 11"/>
          <p:cNvSpPr/>
          <p:nvPr/>
        </p:nvSpPr>
        <p:spPr>
          <a:xfrm>
            <a:off x="6603980" y="6759178"/>
            <a:ext cx="5079980" cy="1944053"/>
          </a:xfrm>
          <a:prstGeom prst="roundRect">
            <a:avLst>
              <a:gd name="adj" fmla="val 5879"/>
            </a:avLst>
          </a:prstGeom>
          <a:solidFill>
            <a:srgbClr val="A9CBB2"/>
          </a:solidFill>
          <a:ln/>
        </p:spPr>
      </p:sp>
      <p:sp>
        <p:nvSpPr>
          <p:cNvPr id="14" name="Text 12"/>
          <p:cNvSpPr/>
          <p:nvPr/>
        </p:nvSpPr>
        <p:spPr>
          <a:xfrm>
            <a:off x="6908780" y="7044928"/>
            <a:ext cx="4917418" cy="247650"/>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1F3D2A"/>
                </a:solidFill>
                <a:latin typeface="Arial" pitchFamily="34" charset="0"/>
                <a:ea typeface="Arial" pitchFamily="34" charset="-122"/>
                <a:cs typeface="Arial" pitchFamily="34" charset="-120"/>
              </a:rPr>
              <a:t>THINK</a:t>
            </a:r>
            <a:endParaRPr lang="en-US" sz="1425" dirty="0"/>
          </a:p>
        </p:txBody>
      </p:sp>
      <p:sp>
        <p:nvSpPr>
          <p:cNvPr id="15" name="Text 13"/>
          <p:cNvSpPr/>
          <p:nvPr/>
        </p:nvSpPr>
        <p:spPr>
          <a:xfrm>
            <a:off x="6782098" y="7444978"/>
            <a:ext cx="4673263" cy="1010603"/>
          </a:xfrm>
          <a:prstGeom prst="rect">
            <a:avLst/>
          </a:prstGeom>
          <a:noFill/>
          <a:ln/>
        </p:spPr>
        <p:txBody>
          <a:bodyPr wrap="square" lIns="25400" tIns="25400" rIns="25400" bIns="25400" rtlCol="0" anchor="t">
            <a:normAutofit/>
          </a:bodyPr>
          <a:lstStyle/>
          <a:p>
            <a:pPr algn="l" indent="0" marL="0">
              <a:lnSpc>
                <a:spcPct val="112273"/>
              </a:lnSpc>
              <a:buNone/>
            </a:pPr>
            <a:r>
              <a:rPr lang="en-US" sz="1425" dirty="0">
                <a:solidFill>
                  <a:srgbClr val="1C2B20"/>
                </a:solidFill>
                <a:latin typeface="Arial" pitchFamily="34" charset="0"/>
                <a:ea typeface="Arial" pitchFamily="34" charset="-122"/>
                <a:cs typeface="Arial" pitchFamily="34" charset="-120"/>
              </a:rPr>
              <a:t>Are the choices few and ranked?</a:t>
            </a:r>
            <a:endParaRPr lang="en-US" sz="1425" dirty="0"/>
          </a:p>
          <a:p>
            <a:pPr algn="l" indent="0" marL="0">
              <a:lnSpc>
                <a:spcPct val="112273"/>
              </a:lnSpc>
              <a:buNone/>
            </a:pPr>
            <a:r>
              <a:rPr lang="en-US" sz="1425" dirty="0">
                <a:solidFill>
                  <a:srgbClr val="1C2B20"/>
                </a:solidFill>
                <a:latin typeface="Arial" pitchFamily="34" charset="0"/>
                <a:ea typeface="Arial" pitchFamily="34" charset="-122"/>
                <a:cs typeface="Arial" pitchFamily="34" charset="-120"/>
              </a:rPr>
              <a:t>Is information chunked, not dumped?</a:t>
            </a:r>
            <a:endParaRPr lang="en-US" sz="1425" dirty="0"/>
          </a:p>
          <a:p>
            <a:pPr algn="l" indent="0" marL="0">
              <a:lnSpc>
                <a:spcPct val="112273"/>
              </a:lnSpc>
              <a:buNone/>
            </a:pPr>
            <a:r>
              <a:rPr lang="en-US" sz="1425" dirty="0">
                <a:solidFill>
                  <a:srgbClr val="1C2B20"/>
                </a:solidFill>
                <a:latin typeface="Arial" pitchFamily="34" charset="0"/>
                <a:ea typeface="Arial" pitchFamily="34" charset="-122"/>
                <a:cs typeface="Arial" pitchFamily="34" charset="-120"/>
              </a:rPr>
              <a:t>Does it match patterns users know?</a:t>
            </a:r>
            <a:endParaRPr lang="en-US" sz="1425" dirty="0"/>
          </a:p>
        </p:txBody>
      </p:sp>
      <p:sp>
        <p:nvSpPr>
          <p:cNvPr id="16" name="Shape 14"/>
          <p:cNvSpPr/>
          <p:nvPr/>
        </p:nvSpPr>
        <p:spPr>
          <a:xfrm>
            <a:off x="11874460" y="6759178"/>
            <a:ext cx="5080040" cy="1944053"/>
          </a:xfrm>
          <a:prstGeom prst="roundRect">
            <a:avLst>
              <a:gd name="adj" fmla="val 5879"/>
            </a:avLst>
          </a:prstGeom>
          <a:solidFill>
            <a:srgbClr val="181D26"/>
          </a:solidFill>
          <a:ln/>
        </p:spPr>
      </p:sp>
      <p:sp>
        <p:nvSpPr>
          <p:cNvPr id="17" name="Text 15"/>
          <p:cNvSpPr/>
          <p:nvPr/>
        </p:nvSpPr>
        <p:spPr>
          <a:xfrm>
            <a:off x="12179260" y="7044928"/>
            <a:ext cx="4917484" cy="247650"/>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FCAB79"/>
                </a:solidFill>
                <a:latin typeface="Arial" pitchFamily="34" charset="0"/>
                <a:ea typeface="Arial" pitchFamily="34" charset="-122"/>
                <a:cs typeface="Arial" pitchFamily="34" charset="-120"/>
              </a:rPr>
              <a:t>ACT</a:t>
            </a:r>
            <a:endParaRPr lang="en-US" sz="1425" dirty="0"/>
          </a:p>
        </p:txBody>
      </p:sp>
      <p:sp>
        <p:nvSpPr>
          <p:cNvPr id="18" name="Text 16"/>
          <p:cNvSpPr/>
          <p:nvPr/>
        </p:nvSpPr>
        <p:spPr>
          <a:xfrm>
            <a:off x="12052578" y="7444978"/>
            <a:ext cx="4673322" cy="1010603"/>
          </a:xfrm>
          <a:prstGeom prst="rect">
            <a:avLst/>
          </a:prstGeom>
          <a:noFill/>
          <a:ln/>
        </p:spPr>
        <p:txBody>
          <a:bodyPr wrap="square" lIns="25400" tIns="25400" rIns="25400" bIns="25400" rtlCol="0" anchor="t">
            <a:normAutofit/>
          </a:bodyPr>
          <a:lstStyle/>
          <a:p>
            <a:pPr algn="l" indent="0" marL="0">
              <a:lnSpc>
                <a:spcPct val="112273"/>
              </a:lnSpc>
              <a:buNone/>
            </a:pPr>
            <a:r>
              <a:rPr lang="en-US" sz="1425" dirty="0">
                <a:solidFill>
                  <a:srgbClr val="E6E8EC"/>
                </a:solidFill>
                <a:latin typeface="Arial" pitchFamily="34" charset="0"/>
                <a:ea typeface="Arial" pitchFamily="34" charset="-122"/>
                <a:cs typeface="Arial" pitchFamily="34" charset="-120"/>
              </a:rPr>
              <a:t>Are key targets close and sized appropriately?</a:t>
            </a:r>
            <a:endParaRPr lang="en-US" sz="1425" dirty="0"/>
          </a:p>
          <a:p>
            <a:pPr algn="l" indent="0" marL="0">
              <a:lnSpc>
                <a:spcPct val="112273"/>
              </a:lnSpc>
              <a:buNone/>
            </a:pPr>
            <a:r>
              <a:rPr lang="en-US" sz="1425" dirty="0">
                <a:solidFill>
                  <a:srgbClr val="E6E8EC"/>
                </a:solidFill>
                <a:latin typeface="Arial" pitchFamily="34" charset="0"/>
                <a:ea typeface="Arial" pitchFamily="34" charset="-122"/>
                <a:cs typeface="Arial" pitchFamily="34" charset="-120"/>
              </a:rPr>
              <a:t>Does every action give feedback?</a:t>
            </a:r>
            <a:endParaRPr lang="en-US" sz="1425" dirty="0"/>
          </a:p>
          <a:p>
            <a:pPr algn="l" indent="0" marL="0">
              <a:lnSpc>
                <a:spcPct val="112273"/>
              </a:lnSpc>
              <a:buNone/>
            </a:pPr>
            <a:r>
              <a:rPr lang="en-US" sz="1425" dirty="0">
                <a:solidFill>
                  <a:srgbClr val="E6E8EC"/>
                </a:solidFill>
                <a:latin typeface="Arial" pitchFamily="34" charset="0"/>
                <a:ea typeface="Arial" pitchFamily="34" charset="-122"/>
                <a:cs typeface="Arial" pitchFamily="34" charset="-120"/>
              </a:rPr>
              <a:t>Are mistakes prevented and reversible?</a:t>
            </a:r>
            <a:endParaRPr lang="en-US" sz="14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2281238"/>
            <a:ext cx="17602200" cy="20193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AA2D00"/>
                </a:solidFill>
                <a:latin typeface="Arial" pitchFamily="34" charset="0"/>
                <a:ea typeface="Arial" pitchFamily="34" charset="-122"/>
                <a:cs typeface="Arial" pitchFamily="34" charset="-120"/>
              </a:rPr>
              <a:t>AUTOMATE THE REPETITIVE · DISCOVERY &amp; MEASUREMENT</a:t>
            </a:r>
            <a:endParaRPr lang="en-US" sz="1125" dirty="0"/>
          </a:p>
        </p:txBody>
      </p:sp>
      <p:sp>
        <p:nvSpPr>
          <p:cNvPr id="3" name="Text 1"/>
          <p:cNvSpPr/>
          <p:nvPr/>
        </p:nvSpPr>
        <p:spPr>
          <a:xfrm>
            <a:off x="1143000" y="2597468"/>
            <a:ext cx="17602200" cy="498157"/>
          </a:xfrm>
          <a:prstGeom prst="rect">
            <a:avLst/>
          </a:prstGeom>
          <a:noFill/>
          <a:ln/>
        </p:spPr>
        <p:txBody>
          <a:bodyPr wrap="square" lIns="25400" tIns="25400" rIns="25400" bIns="25400" rtlCol="0" anchor="t">
            <a:normAutofit/>
          </a:bodyPr>
          <a:lstStyle/>
          <a:p>
            <a:pPr algn="l" indent="0" marL="0">
              <a:lnSpc>
                <a:spcPct val="91477"/>
              </a:lnSpc>
              <a:buNone/>
            </a:pPr>
            <a:r>
              <a:rPr lang="en-US" sz="3450" spc="-52" kern="0" dirty="0">
                <a:solidFill>
                  <a:srgbClr val="181D26"/>
                </a:solidFill>
                <a:latin typeface="Arial" pitchFamily="34" charset="0"/>
                <a:ea typeface="Arial" pitchFamily="34" charset="-122"/>
                <a:cs typeface="Arial" pitchFamily="34" charset="-120"/>
              </a:rPr>
              <a:t>Integrating AI into discovery and measurement.</a:t>
            </a:r>
            <a:endParaRPr lang="en-US" sz="3450" dirty="0"/>
          </a:p>
        </p:txBody>
      </p:sp>
      <p:sp>
        <p:nvSpPr>
          <p:cNvPr id="4" name="Text 2"/>
          <p:cNvSpPr/>
          <p:nvPr/>
        </p:nvSpPr>
        <p:spPr>
          <a:xfrm>
            <a:off x="1143000" y="3133725"/>
            <a:ext cx="14668500" cy="291465"/>
          </a:xfrm>
          <a:prstGeom prst="rect">
            <a:avLst/>
          </a:prstGeom>
          <a:noFill/>
          <a:ln/>
        </p:spPr>
        <p:txBody>
          <a:bodyPr wrap="square" lIns="25400" tIns="25400" rIns="25400" bIns="25400" rtlCol="0" anchor="t">
            <a:normAutofit/>
          </a:bodyPr>
          <a:lstStyle/>
          <a:p>
            <a:pPr algn="l" indent="0" marL="0">
              <a:lnSpc>
                <a:spcPct val="120909"/>
              </a:lnSpc>
              <a:buNone/>
            </a:pPr>
            <a:r>
              <a:rPr lang="en-US" sz="1425" dirty="0">
                <a:solidFill>
                  <a:srgbClr val="41454D"/>
                </a:solidFill>
                <a:latin typeface="Arial" pitchFamily="34" charset="0"/>
                <a:ea typeface="Arial" pitchFamily="34" charset="-122"/>
                <a:cs typeface="Arial" pitchFamily="34" charset="-120"/>
              </a:rPr>
              <a:t>Let AI do the repetitive gathering — turning one-off research projects into standing signals and strong starting points we then validate and prune.</a:t>
            </a:r>
            <a:endParaRPr lang="en-US" sz="1425" dirty="0"/>
          </a:p>
        </p:txBody>
      </p:sp>
      <p:sp>
        <p:nvSpPr>
          <p:cNvPr id="5" name="Shape 3"/>
          <p:cNvSpPr/>
          <p:nvPr/>
        </p:nvSpPr>
        <p:spPr>
          <a:xfrm>
            <a:off x="1143000" y="3653790"/>
            <a:ext cx="16002000" cy="928688"/>
          </a:xfrm>
          <a:prstGeom prst="roundRect">
            <a:avLst>
              <a:gd name="adj" fmla="val 12308"/>
            </a:avLst>
          </a:prstGeom>
          <a:solidFill>
            <a:srgbClr val="F8FAFC"/>
          </a:solidFill>
          <a:ln/>
        </p:spPr>
      </p:sp>
      <p:sp>
        <p:nvSpPr>
          <p:cNvPr id="6" name="Text 4"/>
          <p:cNvSpPr/>
          <p:nvPr/>
        </p:nvSpPr>
        <p:spPr>
          <a:xfrm>
            <a:off x="1409700" y="3863340"/>
            <a:ext cx="17015460" cy="201930"/>
          </a:xfrm>
          <a:prstGeom prst="rect">
            <a:avLst/>
          </a:prstGeom>
          <a:noFill/>
          <a:ln/>
        </p:spPr>
        <p:txBody>
          <a:bodyPr wrap="square" lIns="25400" tIns="25400" rIns="25400" bIns="25400" rtlCol="0" anchor="t">
            <a:normAutofit/>
          </a:bodyPr>
          <a:lstStyle/>
          <a:p>
            <a:pPr algn="l" indent="0" marL="0">
              <a:buNone/>
            </a:pPr>
            <a:r>
              <a:rPr lang="en-US" sz="1125" b="1" spc="113" kern="0" dirty="0">
                <a:solidFill>
                  <a:srgbClr val="8A6D3B"/>
                </a:solidFill>
                <a:latin typeface="Arial" pitchFamily="34" charset="0"/>
                <a:ea typeface="Arial" pitchFamily="34" charset="-122"/>
                <a:cs typeface="Arial" pitchFamily="34" charset="-120"/>
              </a:rPr>
              <a:t>GENERAL PROCESS IMPROVEMENTS</a:t>
            </a:r>
            <a:endParaRPr lang="en-US" sz="1125" dirty="0"/>
          </a:p>
        </p:txBody>
      </p:sp>
      <p:sp>
        <p:nvSpPr>
          <p:cNvPr id="7" name="Text 5"/>
          <p:cNvSpPr/>
          <p:nvPr/>
        </p:nvSpPr>
        <p:spPr>
          <a:xfrm>
            <a:off x="1409700" y="4141470"/>
            <a:ext cx="8256270" cy="269558"/>
          </a:xfrm>
          <a:prstGeom prst="rect">
            <a:avLst/>
          </a:prstGeom>
          <a:noFill/>
          <a:ln/>
        </p:spPr>
        <p:txBody>
          <a:bodyPr wrap="square" lIns="25400" tIns="25400" rIns="25400" bIns="25400" rtlCol="0" anchor="t">
            <a:normAutofit/>
          </a:bodyPr>
          <a:lstStyle/>
          <a:p>
            <a:pPr algn="l" indent="0" marL="0">
              <a:lnSpc>
                <a:spcPct val="116827"/>
              </a:lnSpc>
              <a:buNone/>
            </a:pPr>
            <a:r>
              <a:rPr lang="en-US" sz="1350" dirty="0">
                <a:solidFill>
                  <a:srgbClr val="333840"/>
                </a:solidFill>
                <a:latin typeface="Arial" pitchFamily="34" charset="0"/>
                <a:ea typeface="Arial" pitchFamily="34" charset="-122"/>
                <a:cs typeface="Arial" pitchFamily="34" charset="-120"/>
              </a:rPr>
              <a:t>User themes from meeting transcripts </a:t>
            </a:r>
            <a:pPr algn="l" indent="0" marL="0">
              <a:lnSpc>
                <a:spcPct val="116827"/>
              </a:lnSpc>
              <a:buNone/>
            </a:pPr>
            <a:r>
              <a:rPr lang="en-US" sz="1350" dirty="0">
                <a:solidFill>
                  <a:srgbClr val="8A8F97"/>
                </a:solidFill>
                <a:latin typeface="Arial" pitchFamily="34" charset="0"/>
                <a:ea typeface="Arial" pitchFamily="34" charset="-122"/>
                <a:cs typeface="Arial" pitchFamily="34" charset="-120"/>
              </a:rPr>
              <a:t>(Gemini, Zoom, ChatGPT, Claude)</a:t>
            </a:r>
            <a:endParaRPr lang="en-US" sz="1350" dirty="0"/>
          </a:p>
        </p:txBody>
      </p:sp>
      <p:sp>
        <p:nvSpPr>
          <p:cNvPr id="8" name="Text 6"/>
          <p:cNvSpPr/>
          <p:nvPr/>
        </p:nvSpPr>
        <p:spPr>
          <a:xfrm>
            <a:off x="9372600" y="4141470"/>
            <a:ext cx="8256270" cy="269558"/>
          </a:xfrm>
          <a:prstGeom prst="rect">
            <a:avLst/>
          </a:prstGeom>
          <a:noFill/>
          <a:ln/>
        </p:spPr>
        <p:txBody>
          <a:bodyPr wrap="square" lIns="25400" tIns="25400" rIns="25400" bIns="25400" rtlCol="0" anchor="t">
            <a:normAutofit/>
          </a:bodyPr>
          <a:lstStyle/>
          <a:p>
            <a:pPr algn="l" indent="0" marL="0">
              <a:lnSpc>
                <a:spcPct val="116827"/>
              </a:lnSpc>
              <a:buNone/>
            </a:pPr>
            <a:r>
              <a:rPr lang="en-US" sz="1350" dirty="0">
                <a:solidFill>
                  <a:srgbClr val="333840"/>
                </a:solidFill>
                <a:latin typeface="Arial" pitchFamily="34" charset="0"/>
                <a:ea typeface="Arial" pitchFamily="34" charset="-122"/>
                <a:cs typeface="Arial" pitchFamily="34" charset="-120"/>
              </a:rPr>
              <a:t>Ad-hoc persona, competitor, and market research</a:t>
            </a:r>
            <a:endParaRPr lang="en-US" sz="1350" dirty="0"/>
          </a:p>
        </p:txBody>
      </p:sp>
      <p:sp>
        <p:nvSpPr>
          <p:cNvPr id="9" name="Text 7"/>
          <p:cNvSpPr/>
          <p:nvPr/>
        </p:nvSpPr>
        <p:spPr>
          <a:xfrm>
            <a:off x="1143000" y="4811078"/>
            <a:ext cx="17602200" cy="201930"/>
          </a:xfrm>
          <a:prstGeom prst="rect">
            <a:avLst/>
          </a:prstGeom>
          <a:noFill/>
          <a:ln/>
        </p:spPr>
        <p:txBody>
          <a:bodyPr wrap="square" lIns="25400" tIns="25400" rIns="25400" bIns="25400" rtlCol="0" anchor="t">
            <a:normAutofit/>
          </a:bodyPr>
          <a:lstStyle/>
          <a:p>
            <a:pPr algn="l" indent="0" marL="0">
              <a:buNone/>
            </a:pPr>
            <a:r>
              <a:rPr lang="en-US" sz="1125" b="1" spc="113" kern="0" dirty="0">
                <a:solidFill>
                  <a:srgbClr val="AA2D00"/>
                </a:solidFill>
                <a:latin typeface="Arial" pitchFamily="34" charset="0"/>
                <a:ea typeface="Arial" pitchFamily="34" charset="-122"/>
                <a:cs typeface="Arial" pitchFamily="34" charset="-120"/>
              </a:rPr>
              <a:t>ANSWERING SPECIFIC QUESTIONS WITH AI</a:t>
            </a:r>
            <a:endParaRPr lang="en-US" sz="1125" dirty="0"/>
          </a:p>
        </p:txBody>
      </p:sp>
      <p:sp>
        <p:nvSpPr>
          <p:cNvPr id="10" name="Shape 8"/>
          <p:cNvSpPr/>
          <p:nvPr/>
        </p:nvSpPr>
        <p:spPr>
          <a:xfrm>
            <a:off x="1143000" y="5108257"/>
            <a:ext cx="5245061" cy="1289209"/>
          </a:xfrm>
          <a:prstGeom prst="roundRect">
            <a:avLst>
              <a:gd name="adj" fmla="val 7388"/>
            </a:avLst>
          </a:prstGeom>
          <a:ln w="7620">
            <a:solidFill>
              <a:srgbClr val="E6E8EC"/>
            </a:solidFill>
            <a:prstDash val="solid"/>
          </a:ln>
        </p:spPr>
      </p:sp>
      <p:sp>
        <p:nvSpPr>
          <p:cNvPr id="11" name="Text 9"/>
          <p:cNvSpPr/>
          <p:nvPr/>
        </p:nvSpPr>
        <p:spPr>
          <a:xfrm>
            <a:off x="1341120" y="5287328"/>
            <a:ext cx="5333702" cy="240506"/>
          </a:xfrm>
          <a:prstGeom prst="rect">
            <a:avLst/>
          </a:prstGeom>
          <a:noFill/>
          <a:ln/>
        </p:spPr>
        <p:txBody>
          <a:bodyPr wrap="square" lIns="25400" tIns="25400" rIns="25400" bIns="25400" rtlCol="0" anchor="t">
            <a:normAutofit/>
          </a:bodyPr>
          <a:lstStyle/>
          <a:p>
            <a:pPr algn="l" indent="0" marL="0">
              <a:lnSpc>
                <a:spcPct val="110677"/>
              </a:lnSpc>
              <a:buNone/>
            </a:pPr>
            <a:r>
              <a:rPr lang="en-US" sz="1275" b="1" dirty="0">
                <a:solidFill>
                  <a:srgbClr val="181D26"/>
                </a:solidFill>
                <a:latin typeface="Arial" pitchFamily="34" charset="0"/>
                <a:ea typeface="Arial" pitchFamily="34" charset="-122"/>
                <a:cs typeface="Arial" pitchFamily="34" charset="-120"/>
              </a:rPr>
              <a:t>How do we make money? Competitive differentiator?</a:t>
            </a:r>
            <a:endParaRPr lang="en-US" sz="1275" dirty="0"/>
          </a:p>
        </p:txBody>
      </p:sp>
      <p:sp>
        <p:nvSpPr>
          <p:cNvPr id="12" name="Text 10"/>
          <p:cNvSpPr/>
          <p:nvPr/>
        </p:nvSpPr>
        <p:spPr>
          <a:xfrm>
            <a:off x="1239520" y="5584984"/>
            <a:ext cx="5026620" cy="671513"/>
          </a:xfrm>
          <a:prstGeom prst="rect">
            <a:avLst/>
          </a:prstGeom>
          <a:noFill/>
          <a:ln/>
        </p:spPr>
        <p:txBody>
          <a:bodyPr wrap="square" lIns="25400" tIns="25400" rIns="25400" bIns="25400" rtlCol="0" anchor="t">
            <a:normAutofit/>
          </a:bodyPr>
          <a:lstStyle/>
          <a:p>
            <a:pPr algn="l" indent="0" marL="0">
              <a:lnSpc>
                <a:spcPct val="113372"/>
              </a:lnSpc>
              <a:buNone/>
            </a:pPr>
            <a:r>
              <a:rPr lang="en-US" sz="1125" dirty="0">
                <a:solidFill>
                  <a:srgbClr val="41454D"/>
                </a:solidFill>
                <a:latin typeface="Arial" pitchFamily="34" charset="0"/>
                <a:ea typeface="Arial" pitchFamily="34" charset="-122"/>
                <a:cs typeface="Arial" pitchFamily="34" charset="-120"/>
              </a:rPr>
              <a:t>Themes from sales calls and win/loss reports.</a:t>
            </a:r>
            <a:endParaRPr lang="en-US" sz="1125" dirty="0"/>
          </a:p>
          <a:p>
            <a:pPr algn="l" indent="0" marL="0">
              <a:lnSpc>
                <a:spcPct val="113372"/>
              </a:lnSpc>
              <a:buNone/>
            </a:pPr>
            <a:r>
              <a:rPr lang="en-US" sz="1125" dirty="0">
                <a:solidFill>
                  <a:srgbClr val="41454D"/>
                </a:solidFill>
                <a:latin typeface="Arial" pitchFamily="34" charset="0"/>
                <a:ea typeface="Arial" pitchFamily="34" charset="-122"/>
                <a:cs typeface="Arial" pitchFamily="34" charset="-120"/>
              </a:rPr>
              <a:t>Recurring digests of competitor release notes, Gartner reviews, and demos — a standing signal, not a quarterly project.</a:t>
            </a:r>
            <a:endParaRPr lang="en-US" sz="1125" dirty="0"/>
          </a:p>
        </p:txBody>
      </p:sp>
      <p:sp>
        <p:nvSpPr>
          <p:cNvPr id="13" name="Shape 11"/>
          <p:cNvSpPr/>
          <p:nvPr/>
        </p:nvSpPr>
        <p:spPr>
          <a:xfrm>
            <a:off x="6521411" y="5108257"/>
            <a:ext cx="5245120" cy="1289209"/>
          </a:xfrm>
          <a:prstGeom prst="roundRect">
            <a:avLst>
              <a:gd name="adj" fmla="val 7388"/>
            </a:avLst>
          </a:prstGeom>
          <a:ln w="7620">
            <a:solidFill>
              <a:srgbClr val="E6E8EC"/>
            </a:solidFill>
            <a:prstDash val="solid"/>
          </a:ln>
        </p:spPr>
      </p:sp>
      <p:sp>
        <p:nvSpPr>
          <p:cNvPr id="14" name="Text 12"/>
          <p:cNvSpPr/>
          <p:nvPr/>
        </p:nvSpPr>
        <p:spPr>
          <a:xfrm>
            <a:off x="6719531" y="5287328"/>
            <a:ext cx="5333768" cy="240506"/>
          </a:xfrm>
          <a:prstGeom prst="rect">
            <a:avLst/>
          </a:prstGeom>
          <a:noFill/>
          <a:ln/>
        </p:spPr>
        <p:txBody>
          <a:bodyPr wrap="square" lIns="25400" tIns="25400" rIns="25400" bIns="25400" rtlCol="0" anchor="t">
            <a:normAutofit/>
          </a:bodyPr>
          <a:lstStyle/>
          <a:p>
            <a:pPr algn="l" indent="0" marL="0">
              <a:lnSpc>
                <a:spcPct val="110677"/>
              </a:lnSpc>
              <a:buNone/>
            </a:pPr>
            <a:r>
              <a:rPr lang="en-US" sz="1275" b="1" dirty="0">
                <a:solidFill>
                  <a:srgbClr val="181D26"/>
                </a:solidFill>
                <a:latin typeface="Arial" pitchFamily="34" charset="0"/>
                <a:ea typeface="Arial" pitchFamily="34" charset="-122"/>
                <a:cs typeface="Arial" pitchFamily="34" charset="-120"/>
              </a:rPr>
              <a:t>Why are deals won or lost — what drives churn?</a:t>
            </a:r>
            <a:endParaRPr lang="en-US" sz="1275" dirty="0"/>
          </a:p>
        </p:txBody>
      </p:sp>
      <p:sp>
        <p:nvSpPr>
          <p:cNvPr id="15" name="Text 13"/>
          <p:cNvSpPr/>
          <p:nvPr/>
        </p:nvSpPr>
        <p:spPr>
          <a:xfrm>
            <a:off x="6617931" y="5584984"/>
            <a:ext cx="5026680" cy="671513"/>
          </a:xfrm>
          <a:prstGeom prst="rect">
            <a:avLst/>
          </a:prstGeom>
          <a:noFill/>
          <a:ln/>
        </p:spPr>
        <p:txBody>
          <a:bodyPr wrap="square" lIns="25400" tIns="25400" rIns="25400" bIns="25400" rtlCol="0" anchor="t">
            <a:normAutofit/>
          </a:bodyPr>
          <a:lstStyle/>
          <a:p>
            <a:pPr algn="l" indent="0" marL="0">
              <a:lnSpc>
                <a:spcPct val="113372"/>
              </a:lnSpc>
              <a:buNone/>
            </a:pPr>
            <a:r>
              <a:rPr lang="en-US" sz="1125" dirty="0">
                <a:solidFill>
                  <a:srgbClr val="41454D"/>
                </a:solidFill>
                <a:latin typeface="Arial" pitchFamily="34" charset="0"/>
                <a:ea typeface="Arial" pitchFamily="34" charset="-122"/>
                <a:cs typeface="Arial" pitchFamily="34" charset="-120"/>
              </a:rPr>
              <a:t>Root-cause classification of support tickets and CS notes, summarized release by release.</a:t>
            </a:r>
            <a:endParaRPr lang="en-US" sz="1125" dirty="0"/>
          </a:p>
          <a:p>
            <a:pPr algn="l" indent="0" marL="0">
              <a:lnSpc>
                <a:spcPct val="113372"/>
              </a:lnSpc>
              <a:buNone/>
            </a:pPr>
            <a:r>
              <a:rPr lang="en-US" sz="1125" dirty="0">
                <a:solidFill>
                  <a:srgbClr val="41454D"/>
                </a:solidFill>
                <a:latin typeface="Arial" pitchFamily="34" charset="0"/>
                <a:ea typeface="Arial" pitchFamily="34" charset="-122"/>
                <a:cs typeface="Arial" pitchFamily="34" charset="-120"/>
              </a:rPr>
              <a:t>Anomaly detection on usage telemetry.</a:t>
            </a:r>
            <a:endParaRPr lang="en-US" sz="1125" dirty="0"/>
          </a:p>
        </p:txBody>
      </p:sp>
      <p:sp>
        <p:nvSpPr>
          <p:cNvPr id="16" name="Shape 14"/>
          <p:cNvSpPr/>
          <p:nvPr/>
        </p:nvSpPr>
        <p:spPr>
          <a:xfrm>
            <a:off x="11899881" y="5108257"/>
            <a:ext cx="5245061" cy="1289209"/>
          </a:xfrm>
          <a:prstGeom prst="roundRect">
            <a:avLst>
              <a:gd name="adj" fmla="val 7388"/>
            </a:avLst>
          </a:prstGeom>
          <a:ln w="7620">
            <a:solidFill>
              <a:srgbClr val="E6E8EC"/>
            </a:solidFill>
            <a:prstDash val="solid"/>
          </a:ln>
        </p:spPr>
      </p:sp>
      <p:sp>
        <p:nvSpPr>
          <p:cNvPr id="17" name="Text 15"/>
          <p:cNvSpPr/>
          <p:nvPr/>
        </p:nvSpPr>
        <p:spPr>
          <a:xfrm>
            <a:off x="12098000" y="5287328"/>
            <a:ext cx="5333702" cy="240506"/>
          </a:xfrm>
          <a:prstGeom prst="rect">
            <a:avLst/>
          </a:prstGeom>
          <a:noFill/>
          <a:ln/>
        </p:spPr>
        <p:txBody>
          <a:bodyPr wrap="square" lIns="25400" tIns="25400" rIns="25400" bIns="25400" rtlCol="0" anchor="t">
            <a:normAutofit/>
          </a:bodyPr>
          <a:lstStyle/>
          <a:p>
            <a:pPr algn="l" indent="0" marL="0">
              <a:lnSpc>
                <a:spcPct val="110677"/>
              </a:lnSpc>
              <a:buNone/>
            </a:pPr>
            <a:r>
              <a:rPr lang="en-US" sz="1275" b="1" dirty="0">
                <a:solidFill>
                  <a:srgbClr val="181D26"/>
                </a:solidFill>
                <a:latin typeface="Arial" pitchFamily="34" charset="0"/>
                <a:ea typeface="Arial" pitchFamily="34" charset="-122"/>
                <a:cs typeface="Arial" pitchFamily="34" charset="-120"/>
              </a:rPr>
              <a:t>Are decisions grounded in data, customer-first?</a:t>
            </a:r>
            <a:endParaRPr lang="en-US" sz="1275" dirty="0"/>
          </a:p>
        </p:txBody>
      </p:sp>
      <p:sp>
        <p:nvSpPr>
          <p:cNvPr id="18" name="Text 16"/>
          <p:cNvSpPr/>
          <p:nvPr/>
        </p:nvSpPr>
        <p:spPr>
          <a:xfrm>
            <a:off x="11996400" y="5584984"/>
            <a:ext cx="5026620" cy="409575"/>
          </a:xfrm>
          <a:prstGeom prst="rect">
            <a:avLst/>
          </a:prstGeom>
          <a:noFill/>
          <a:ln/>
        </p:spPr>
        <p:txBody>
          <a:bodyPr wrap="square" lIns="25400" tIns="25400" rIns="25400" bIns="25400" rtlCol="0" anchor="t">
            <a:normAutofit/>
          </a:bodyPr>
          <a:lstStyle/>
          <a:p>
            <a:pPr algn="l" indent="0" marL="0">
              <a:lnSpc>
                <a:spcPct val="113372"/>
              </a:lnSpc>
              <a:buNone/>
            </a:pPr>
            <a:r>
              <a:rPr lang="en-US" sz="1125" dirty="0">
                <a:solidFill>
                  <a:srgbClr val="41454D"/>
                </a:solidFill>
                <a:latin typeface="Arial" pitchFamily="34" charset="0"/>
                <a:ea typeface="Arial" pitchFamily="34" charset="-122"/>
                <a:cs typeface="Arial" pitchFamily="34" charset="-120"/>
              </a:rPr>
              <a:t>Decision-log audits (e.g. from Slack) that map rationales back to user themes and metrics, with rollup summaries.</a:t>
            </a:r>
            <a:endParaRPr lang="en-US" sz="1125" dirty="0"/>
          </a:p>
        </p:txBody>
      </p:sp>
      <p:sp>
        <p:nvSpPr>
          <p:cNvPr id="19" name="Shape 17"/>
          <p:cNvSpPr/>
          <p:nvPr/>
        </p:nvSpPr>
        <p:spPr>
          <a:xfrm>
            <a:off x="1143000" y="6530816"/>
            <a:ext cx="5245061" cy="1474946"/>
          </a:xfrm>
          <a:prstGeom prst="roundRect">
            <a:avLst>
              <a:gd name="adj" fmla="val 6458"/>
            </a:avLst>
          </a:prstGeom>
          <a:ln w="7620">
            <a:solidFill>
              <a:srgbClr val="E6E8EC"/>
            </a:solidFill>
            <a:prstDash val="solid"/>
          </a:ln>
        </p:spPr>
      </p:sp>
      <p:sp>
        <p:nvSpPr>
          <p:cNvPr id="20" name="Text 18"/>
          <p:cNvSpPr/>
          <p:nvPr/>
        </p:nvSpPr>
        <p:spPr>
          <a:xfrm>
            <a:off x="1341120" y="6709886"/>
            <a:ext cx="5333702" cy="240506"/>
          </a:xfrm>
          <a:prstGeom prst="rect">
            <a:avLst/>
          </a:prstGeom>
          <a:noFill/>
          <a:ln/>
        </p:spPr>
        <p:txBody>
          <a:bodyPr wrap="square" lIns="25400" tIns="25400" rIns="25400" bIns="25400" rtlCol="0" anchor="t">
            <a:normAutofit/>
          </a:bodyPr>
          <a:lstStyle/>
          <a:p>
            <a:pPr algn="l" indent="0" marL="0">
              <a:lnSpc>
                <a:spcPct val="110677"/>
              </a:lnSpc>
              <a:buNone/>
            </a:pPr>
            <a:r>
              <a:rPr lang="en-US" sz="1275" b="1" dirty="0">
                <a:solidFill>
                  <a:srgbClr val="181D26"/>
                </a:solidFill>
                <a:latin typeface="Arial" pitchFamily="34" charset="0"/>
                <a:ea typeface="Arial" pitchFamily="34" charset="-122"/>
                <a:cs typeface="Arial" pitchFamily="34" charset="-120"/>
              </a:rPr>
              <a:t>Which personas use the product every day?</a:t>
            </a:r>
            <a:endParaRPr lang="en-US" sz="1275" dirty="0"/>
          </a:p>
        </p:txBody>
      </p:sp>
      <p:sp>
        <p:nvSpPr>
          <p:cNvPr id="21" name="Text 19"/>
          <p:cNvSpPr/>
          <p:nvPr/>
        </p:nvSpPr>
        <p:spPr>
          <a:xfrm>
            <a:off x="1239520" y="7007543"/>
            <a:ext cx="5026620" cy="595313"/>
          </a:xfrm>
          <a:prstGeom prst="rect">
            <a:avLst/>
          </a:prstGeom>
          <a:noFill/>
          <a:ln/>
        </p:spPr>
        <p:txBody>
          <a:bodyPr wrap="square" lIns="25400" tIns="25400" rIns="25400" bIns="25400" rtlCol="0" anchor="t">
            <a:normAutofit/>
          </a:bodyPr>
          <a:lstStyle/>
          <a:p>
            <a:pPr algn="l" indent="0" marL="0">
              <a:lnSpc>
                <a:spcPct val="113372"/>
              </a:lnSpc>
              <a:buNone/>
            </a:pPr>
            <a:r>
              <a:rPr lang="en-US" sz="1125" dirty="0">
                <a:solidFill>
                  <a:srgbClr val="41454D"/>
                </a:solidFill>
                <a:latin typeface="Arial" pitchFamily="34" charset="0"/>
                <a:ea typeface="Arial" pitchFamily="34" charset="-122"/>
                <a:cs typeface="Arial" pitchFamily="34" charset="-120"/>
              </a:rPr>
              <a:t>Behavioral clustering: summarize usage to find primary personas and where behavior drifts — pointing to users worth interviewing about the "why."</a:t>
            </a:r>
            <a:endParaRPr lang="en-US" sz="1125" dirty="0"/>
          </a:p>
        </p:txBody>
      </p:sp>
      <p:sp>
        <p:nvSpPr>
          <p:cNvPr id="22" name="Shape 20"/>
          <p:cNvSpPr/>
          <p:nvPr/>
        </p:nvSpPr>
        <p:spPr>
          <a:xfrm>
            <a:off x="6521411" y="6530816"/>
            <a:ext cx="5245120" cy="1474946"/>
          </a:xfrm>
          <a:prstGeom prst="roundRect">
            <a:avLst>
              <a:gd name="adj" fmla="val 6458"/>
            </a:avLst>
          </a:prstGeom>
          <a:ln w="7620">
            <a:solidFill>
              <a:srgbClr val="E6E8EC"/>
            </a:solidFill>
            <a:prstDash val="solid"/>
          </a:ln>
        </p:spPr>
      </p:sp>
      <p:sp>
        <p:nvSpPr>
          <p:cNvPr id="23" name="Text 21"/>
          <p:cNvSpPr/>
          <p:nvPr/>
        </p:nvSpPr>
        <p:spPr>
          <a:xfrm>
            <a:off x="6719531" y="6709886"/>
            <a:ext cx="5333768" cy="240506"/>
          </a:xfrm>
          <a:prstGeom prst="rect">
            <a:avLst/>
          </a:prstGeom>
          <a:noFill/>
          <a:ln/>
        </p:spPr>
        <p:txBody>
          <a:bodyPr wrap="square" lIns="25400" tIns="25400" rIns="25400" bIns="25400" rtlCol="0" anchor="t">
            <a:normAutofit/>
          </a:bodyPr>
          <a:lstStyle/>
          <a:p>
            <a:pPr algn="l" indent="0" marL="0">
              <a:lnSpc>
                <a:spcPct val="110677"/>
              </a:lnSpc>
              <a:buNone/>
            </a:pPr>
            <a:r>
              <a:rPr lang="en-US" sz="1275" b="1" dirty="0">
                <a:solidFill>
                  <a:srgbClr val="181D26"/>
                </a:solidFill>
                <a:latin typeface="Arial" pitchFamily="34" charset="0"/>
                <a:ea typeface="Arial" pitchFamily="34" charset="-122"/>
                <a:cs typeface="Arial" pitchFamily="34" charset="-120"/>
              </a:rPr>
              <a:t>What cross-product opportunities exist?</a:t>
            </a:r>
            <a:endParaRPr lang="en-US" sz="1275" dirty="0"/>
          </a:p>
        </p:txBody>
      </p:sp>
      <p:sp>
        <p:nvSpPr>
          <p:cNvPr id="24" name="Text 22"/>
          <p:cNvSpPr/>
          <p:nvPr/>
        </p:nvSpPr>
        <p:spPr>
          <a:xfrm>
            <a:off x="6617931" y="7007543"/>
            <a:ext cx="5026680" cy="857250"/>
          </a:xfrm>
          <a:prstGeom prst="rect">
            <a:avLst/>
          </a:prstGeom>
          <a:noFill/>
          <a:ln/>
        </p:spPr>
        <p:txBody>
          <a:bodyPr wrap="square" lIns="25400" tIns="25400" rIns="25400" bIns="25400" rtlCol="0" anchor="t">
            <a:normAutofit/>
          </a:bodyPr>
          <a:lstStyle/>
          <a:p>
            <a:pPr algn="l" indent="0" marL="0">
              <a:lnSpc>
                <a:spcPct val="113372"/>
              </a:lnSpc>
              <a:buNone/>
            </a:pPr>
            <a:r>
              <a:rPr lang="en-US" sz="1125" dirty="0">
                <a:solidFill>
                  <a:srgbClr val="41454D"/>
                </a:solidFill>
                <a:latin typeface="Arial" pitchFamily="34" charset="0"/>
                <a:ea typeface="Arial" pitchFamily="34" charset="-122"/>
                <a:cs typeface="Arial" pitchFamily="34" charset="-120"/>
              </a:rPr>
              <a:t>Journey synthesis across logs — narrating likely intent behind a sequence to speed hypothesis generation.</a:t>
            </a:r>
            <a:endParaRPr lang="en-US" sz="1125" dirty="0"/>
          </a:p>
          <a:p>
            <a:pPr algn="l" indent="0" marL="0">
              <a:lnSpc>
                <a:spcPct val="113372"/>
              </a:lnSpc>
              <a:buNone/>
            </a:pPr>
            <a:r>
              <a:rPr lang="en-US" sz="1125" dirty="0">
                <a:solidFill>
                  <a:srgbClr val="41454D"/>
                </a:solidFill>
                <a:latin typeface="Arial" pitchFamily="34" charset="0"/>
                <a:ea typeface="Arial" pitchFamily="34" charset="-122"/>
                <a:cs typeface="Arial" pitchFamily="34" charset="-120"/>
              </a:rPr>
              <a:t>Synthetic usability testing for obvious friction — not a replacement for real testing.</a:t>
            </a:r>
            <a:endParaRPr lang="en-US" sz="1125" dirty="0"/>
          </a:p>
        </p:txBody>
      </p:sp>
      <p:sp>
        <p:nvSpPr>
          <p:cNvPr id="25" name="Shape 23"/>
          <p:cNvSpPr/>
          <p:nvPr/>
        </p:nvSpPr>
        <p:spPr>
          <a:xfrm>
            <a:off x="11899881" y="6530816"/>
            <a:ext cx="5245061" cy="1474946"/>
          </a:xfrm>
          <a:prstGeom prst="roundRect">
            <a:avLst>
              <a:gd name="adj" fmla="val 6458"/>
            </a:avLst>
          </a:prstGeom>
          <a:ln w="7620">
            <a:solidFill>
              <a:srgbClr val="E6E8EC"/>
            </a:solidFill>
            <a:prstDash val="solid"/>
          </a:ln>
        </p:spPr>
      </p:sp>
      <p:sp>
        <p:nvSpPr>
          <p:cNvPr id="26" name="Text 24"/>
          <p:cNvSpPr/>
          <p:nvPr/>
        </p:nvSpPr>
        <p:spPr>
          <a:xfrm>
            <a:off x="12098000" y="6709886"/>
            <a:ext cx="5333702" cy="240506"/>
          </a:xfrm>
          <a:prstGeom prst="rect">
            <a:avLst/>
          </a:prstGeom>
          <a:noFill/>
          <a:ln/>
        </p:spPr>
        <p:txBody>
          <a:bodyPr wrap="square" lIns="25400" tIns="25400" rIns="25400" bIns="25400" rtlCol="0" anchor="t">
            <a:normAutofit/>
          </a:bodyPr>
          <a:lstStyle/>
          <a:p>
            <a:pPr algn="l" indent="0" marL="0">
              <a:lnSpc>
                <a:spcPct val="110677"/>
              </a:lnSpc>
              <a:buNone/>
            </a:pPr>
            <a:r>
              <a:rPr lang="en-US" sz="1275" b="1" dirty="0">
                <a:solidFill>
                  <a:srgbClr val="181D26"/>
                </a:solidFill>
                <a:latin typeface="Arial" pitchFamily="34" charset="0"/>
                <a:ea typeface="Arial" pitchFamily="34" charset="-122"/>
                <a:cs typeface="Arial" pitchFamily="34" charset="-120"/>
              </a:rPr>
              <a:t>Scale &amp; constraints (permissions, state, failure modes)?</a:t>
            </a:r>
            <a:endParaRPr lang="en-US" sz="1275" dirty="0"/>
          </a:p>
        </p:txBody>
      </p:sp>
      <p:sp>
        <p:nvSpPr>
          <p:cNvPr id="27" name="Text 25"/>
          <p:cNvSpPr/>
          <p:nvPr/>
        </p:nvSpPr>
        <p:spPr>
          <a:xfrm>
            <a:off x="11996400" y="7007543"/>
            <a:ext cx="5026620" cy="857250"/>
          </a:xfrm>
          <a:prstGeom prst="rect">
            <a:avLst/>
          </a:prstGeom>
          <a:noFill/>
          <a:ln/>
        </p:spPr>
        <p:txBody>
          <a:bodyPr wrap="square" lIns="25400" tIns="25400" rIns="25400" bIns="25400" rtlCol="0" anchor="t">
            <a:normAutofit/>
          </a:bodyPr>
          <a:lstStyle/>
          <a:p>
            <a:pPr algn="l" indent="0" marL="0">
              <a:lnSpc>
                <a:spcPct val="113372"/>
              </a:lnSpc>
              <a:buNone/>
            </a:pPr>
            <a:r>
              <a:rPr lang="en-US" sz="1125" dirty="0">
                <a:solidFill>
                  <a:srgbClr val="41454D"/>
                </a:solidFill>
                <a:latin typeface="Arial" pitchFamily="34" charset="0"/>
                <a:ea typeface="Arial" pitchFamily="34" charset="-122"/>
                <a:cs typeface="Arial" pitchFamily="34" charset="-120"/>
              </a:rPr>
              <a:t>Recommendations on how our specific app may grow more complex over time — surfacing angles we'd miss.</a:t>
            </a:r>
            <a:endParaRPr lang="en-US" sz="1125" dirty="0"/>
          </a:p>
          <a:p>
            <a:pPr algn="l" indent="0" marL="0">
              <a:lnSpc>
                <a:spcPct val="113372"/>
              </a:lnSpc>
              <a:buNone/>
            </a:pPr>
            <a:r>
              <a:rPr lang="en-US" sz="1125" dirty="0">
                <a:solidFill>
                  <a:srgbClr val="41454D"/>
                </a:solidFill>
                <a:latin typeface="Arial" pitchFamily="34" charset="0"/>
                <a:ea typeface="Arial" pitchFamily="34" charset="-122"/>
                <a:cs typeface="Arial" pitchFamily="34" charset="-120"/>
              </a:rPr>
              <a:t>Edge-case generation: enumerate failure modes and permission edges as a checklist to validate and prune.</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81D26"/>
        </a:solidFill>
      </p:bgPr>
    </p:bg>
    <p:spTree>
      <p:nvGrpSpPr>
        <p:cNvPr id="1" name=""/>
        <p:cNvGrpSpPr/>
        <p:nvPr/>
      </p:nvGrpSpPr>
      <p:grpSpPr>
        <a:xfrm>
          <a:off x="0" y="0"/>
          <a:ext cx="0" cy="0"/>
          <a:chOff x="0" y="0"/>
          <a:chExt cx="0" cy="0"/>
        </a:xfrm>
      </p:grpSpPr>
      <p:sp>
        <p:nvSpPr>
          <p:cNvPr id="2" name="Text 0"/>
          <p:cNvSpPr/>
          <p:nvPr/>
        </p:nvSpPr>
        <p:spPr>
          <a:xfrm>
            <a:off x="1333500" y="3761065"/>
            <a:ext cx="17183100" cy="220980"/>
          </a:xfrm>
          <a:prstGeom prst="rect">
            <a:avLst/>
          </a:prstGeom>
          <a:noFill/>
          <a:ln/>
        </p:spPr>
        <p:txBody>
          <a:bodyPr wrap="square" lIns="25400" tIns="25400" rIns="25400" bIns="25400" rtlCol="0" anchor="t">
            <a:normAutofit/>
          </a:bodyPr>
          <a:lstStyle/>
          <a:p>
            <a:pPr algn="l" indent="0" marL="0">
              <a:buNone/>
            </a:pPr>
            <a:r>
              <a:rPr lang="en-US" sz="1275" b="1" spc="281" kern="0" dirty="0">
                <a:solidFill>
                  <a:srgbClr val="FCAB79"/>
                </a:solidFill>
                <a:latin typeface="Arial" pitchFamily="34" charset="0"/>
                <a:ea typeface="Arial" pitchFamily="34" charset="-122"/>
                <a:cs typeface="Arial" pitchFamily="34" charset="-120"/>
              </a:rPr>
              <a:t>PART TWO · WHERE WE'RE GOING</a:t>
            </a:r>
            <a:endParaRPr lang="en-US" sz="1275" dirty="0"/>
          </a:p>
        </p:txBody>
      </p:sp>
      <p:sp>
        <p:nvSpPr>
          <p:cNvPr id="3" name="Text 1"/>
          <p:cNvSpPr/>
          <p:nvPr/>
        </p:nvSpPr>
        <p:spPr>
          <a:xfrm>
            <a:off x="1333500" y="4267795"/>
            <a:ext cx="14668500" cy="1048464"/>
          </a:xfrm>
          <a:prstGeom prst="rect">
            <a:avLst/>
          </a:prstGeom>
          <a:noFill/>
          <a:ln/>
        </p:spPr>
        <p:txBody>
          <a:bodyPr wrap="square" lIns="25400" tIns="25400" rIns="25400" bIns="25400" rtlCol="0" anchor="t">
            <a:normAutofit/>
          </a:bodyPr>
          <a:lstStyle/>
          <a:p>
            <a:pPr algn="l" indent="0" marL="0">
              <a:lnSpc>
                <a:spcPct val="88696"/>
              </a:lnSpc>
              <a:buNone/>
            </a:pPr>
            <a:r>
              <a:rPr lang="en-US" sz="7800" spc="-156" kern="0" dirty="0">
                <a:solidFill>
                  <a:srgbClr val="FFFFFF"/>
                </a:solidFill>
                <a:latin typeface="Arial" pitchFamily="34" charset="0"/>
                <a:ea typeface="Arial" pitchFamily="34" charset="-122"/>
                <a:cs typeface="Arial" pitchFamily="34" charset="-120"/>
              </a:rPr>
              <a:t>Automate the repetitive.</a:t>
            </a:r>
            <a:endParaRPr lang="en-US" sz="7800" dirty="0"/>
          </a:p>
        </p:txBody>
      </p:sp>
      <p:sp>
        <p:nvSpPr>
          <p:cNvPr id="4" name="Text 2"/>
          <p:cNvSpPr/>
          <p:nvPr/>
        </p:nvSpPr>
        <p:spPr>
          <a:xfrm>
            <a:off x="1333500" y="5697260"/>
            <a:ext cx="11576685" cy="866775"/>
          </a:xfrm>
          <a:prstGeom prst="rect">
            <a:avLst/>
          </a:prstGeom>
          <a:noFill/>
          <a:ln/>
        </p:spPr>
        <p:txBody>
          <a:bodyPr wrap="square" lIns="25400" tIns="25400" rIns="25400" bIns="25400" rtlCol="0" anchor="t">
            <a:normAutofit/>
          </a:bodyPr>
          <a:lstStyle/>
          <a:p>
            <a:pPr algn="l" indent="0" marL="0">
              <a:lnSpc>
                <a:spcPct val="126453"/>
              </a:lnSpc>
              <a:buNone/>
            </a:pPr>
            <a:r>
              <a:rPr lang="en-US" sz="2250" dirty="0">
                <a:solidFill>
                  <a:srgbClr val="C7CBD1"/>
                </a:solidFill>
                <a:latin typeface="Arial" pitchFamily="34" charset="0"/>
                <a:ea typeface="Arial" pitchFamily="34" charset="-122"/>
                <a:cs typeface="Arial" pitchFamily="34" charset="-120"/>
              </a:rPr>
              <a:t>The next few screens look at process — where AI can take the repetitive translation work off our plates, so our time goes to the design that needs judgment.</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333500" y="2499360"/>
            <a:ext cx="17183100" cy="209550"/>
          </a:xfrm>
          <a:prstGeom prst="rect">
            <a:avLst/>
          </a:prstGeom>
          <a:noFill/>
          <a:ln/>
        </p:spPr>
        <p:txBody>
          <a:bodyPr wrap="square" lIns="25400" tIns="25400" rIns="25400" bIns="25400" rtlCol="0" anchor="t">
            <a:normAutofit/>
          </a:bodyPr>
          <a:lstStyle/>
          <a:p>
            <a:pPr algn="l" indent="0" marL="0">
              <a:buNone/>
            </a:pPr>
            <a:r>
              <a:rPr lang="en-US" sz="1200" b="1" spc="240" kern="0" dirty="0">
                <a:solidFill>
                  <a:srgbClr val="9297A0"/>
                </a:solidFill>
                <a:latin typeface="Arial" pitchFamily="34" charset="0"/>
                <a:ea typeface="Arial" pitchFamily="34" charset="-122"/>
                <a:cs typeface="Arial" pitchFamily="34" charset="-120"/>
              </a:rPr>
              <a:t>PATTERNS &amp; PROCESS · CURRENT STATE</a:t>
            </a:r>
            <a:endParaRPr lang="en-US" sz="1200" dirty="0"/>
          </a:p>
        </p:txBody>
      </p:sp>
      <p:sp>
        <p:nvSpPr>
          <p:cNvPr id="3" name="Text 1"/>
          <p:cNvSpPr/>
          <p:nvPr/>
        </p:nvSpPr>
        <p:spPr>
          <a:xfrm>
            <a:off x="1333500" y="2937510"/>
            <a:ext cx="17183100" cy="655320"/>
          </a:xfrm>
          <a:prstGeom prst="rect">
            <a:avLst/>
          </a:prstGeom>
          <a:noFill/>
          <a:ln/>
        </p:spPr>
        <p:txBody>
          <a:bodyPr wrap="square" lIns="25400" tIns="25400" rIns="25400" bIns="25400" rtlCol="0" anchor="t">
            <a:normAutofit/>
          </a:bodyPr>
          <a:lstStyle/>
          <a:p>
            <a:pPr algn="l" indent="0" marL="0">
              <a:lnSpc>
                <a:spcPct val="93642"/>
              </a:lnSpc>
              <a:buNone/>
            </a:pPr>
            <a:r>
              <a:rPr lang="en-US" sz="4500" spc="-67" kern="0" dirty="0">
                <a:solidFill>
                  <a:srgbClr val="181D26"/>
                </a:solidFill>
                <a:latin typeface="Arial" pitchFamily="34" charset="0"/>
                <a:ea typeface="Arial" pitchFamily="34" charset="-122"/>
                <a:cs typeface="Arial" pitchFamily="34" charset="-120"/>
              </a:rPr>
              <a:t>Where a lot of the time actually goes.</a:t>
            </a:r>
            <a:endParaRPr lang="en-US" sz="4500" dirty="0"/>
          </a:p>
        </p:txBody>
      </p:sp>
      <p:sp>
        <p:nvSpPr>
          <p:cNvPr id="4" name="Shape 2"/>
          <p:cNvSpPr/>
          <p:nvPr/>
        </p:nvSpPr>
        <p:spPr>
          <a:xfrm>
            <a:off x="1333500" y="3981450"/>
            <a:ext cx="1357134" cy="518160"/>
          </a:xfrm>
          <a:prstGeom prst="roundRect">
            <a:avLst>
              <a:gd name="adj" fmla="val 18382"/>
            </a:avLst>
          </a:prstGeom>
          <a:solidFill>
            <a:srgbClr val="181D26"/>
          </a:solidFill>
          <a:ln/>
        </p:spPr>
      </p:sp>
      <p:sp>
        <p:nvSpPr>
          <p:cNvPr id="5" name="Text 3"/>
          <p:cNvSpPr/>
          <p:nvPr/>
        </p:nvSpPr>
        <p:spPr>
          <a:xfrm>
            <a:off x="1562100" y="4114800"/>
            <a:ext cx="976134" cy="289560"/>
          </a:xfrm>
          <a:prstGeom prst="rect">
            <a:avLst/>
          </a:prstGeom>
          <a:noFill/>
          <a:ln/>
        </p:spPr>
        <p:txBody>
          <a:bodyPr wrap="square" lIns="25400" tIns="25400" rIns="25400" bIns="25400" rtlCol="0" anchor="t">
            <a:normAutofit/>
          </a:bodyPr>
          <a:lstStyle/>
          <a:p>
            <a:pPr algn="l" indent="0" marL="0">
              <a:buNone/>
            </a:pPr>
            <a:r>
              <a:rPr lang="en-US" sz="1650" dirty="0">
                <a:solidFill>
                  <a:srgbClr val="FFFFFF"/>
                </a:solidFill>
                <a:latin typeface="Arial" pitchFamily="34" charset="0"/>
                <a:ea typeface="Arial" pitchFamily="34" charset="-122"/>
                <a:cs typeface="Arial" pitchFamily="34" charset="-120"/>
              </a:rPr>
              <a:t>Designer</a:t>
            </a:r>
            <a:endParaRPr lang="en-US" sz="1650" dirty="0"/>
          </a:p>
        </p:txBody>
      </p:sp>
      <p:sp>
        <p:nvSpPr>
          <p:cNvPr id="6" name="Text 4"/>
          <p:cNvSpPr/>
          <p:nvPr/>
        </p:nvSpPr>
        <p:spPr>
          <a:xfrm>
            <a:off x="2804934" y="4103370"/>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9297A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3147834" y="3973830"/>
            <a:ext cx="1284089" cy="533400"/>
          </a:xfrm>
          <a:prstGeom prst="roundRect">
            <a:avLst>
              <a:gd name="adj" fmla="val 17857"/>
            </a:avLst>
          </a:prstGeom>
          <a:solidFill>
            <a:srgbClr val="F8FAFC"/>
          </a:solidFill>
          <a:ln w="7620">
            <a:solidFill>
              <a:srgbClr val="E0E2E6"/>
            </a:solidFill>
            <a:prstDash val="solid"/>
          </a:ln>
        </p:spPr>
      </p:sp>
      <p:sp>
        <p:nvSpPr>
          <p:cNvPr id="8" name="Text 6"/>
          <p:cNvSpPr/>
          <p:nvPr/>
        </p:nvSpPr>
        <p:spPr>
          <a:xfrm>
            <a:off x="3384054" y="4114800"/>
            <a:ext cx="887849" cy="289560"/>
          </a:xfrm>
          <a:prstGeom prst="rect">
            <a:avLst/>
          </a:prstGeom>
          <a:noFill/>
          <a:ln/>
        </p:spPr>
        <p:txBody>
          <a:bodyPr wrap="square" lIns="25400" tIns="25400" rIns="25400" bIns="25400" rtlCol="0" anchor="t">
            <a:normAutofit/>
          </a:bodyPr>
          <a:lstStyle/>
          <a:p>
            <a:pPr algn="l" indent="0" marL="0">
              <a:buNone/>
            </a:pPr>
            <a:r>
              <a:rPr lang="en-US" sz="1650" dirty="0">
                <a:solidFill>
                  <a:srgbClr val="181D26"/>
                </a:solidFill>
                <a:latin typeface="Arial" pitchFamily="34" charset="0"/>
                <a:ea typeface="Arial" pitchFamily="34" charset="-122"/>
                <a:cs typeface="Arial" pitchFamily="34" charset="-120"/>
              </a:rPr>
              <a:t>Mockup</a:t>
            </a:r>
            <a:endParaRPr lang="en-US" sz="1650" dirty="0"/>
          </a:p>
        </p:txBody>
      </p:sp>
      <p:sp>
        <p:nvSpPr>
          <p:cNvPr id="9" name="Text 7"/>
          <p:cNvSpPr/>
          <p:nvPr/>
        </p:nvSpPr>
        <p:spPr>
          <a:xfrm>
            <a:off x="4546223" y="4103370"/>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9297A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4889123" y="3973830"/>
            <a:ext cx="1094244" cy="533400"/>
          </a:xfrm>
          <a:prstGeom prst="roundRect">
            <a:avLst>
              <a:gd name="adj" fmla="val 17857"/>
            </a:avLst>
          </a:prstGeom>
          <a:solidFill>
            <a:srgbClr val="F8FAFC"/>
          </a:solidFill>
          <a:ln w="7620">
            <a:solidFill>
              <a:srgbClr val="E0E2E6"/>
            </a:solidFill>
            <a:prstDash val="solid"/>
          </a:ln>
        </p:spPr>
      </p:sp>
      <p:sp>
        <p:nvSpPr>
          <p:cNvPr id="11" name="Text 9"/>
          <p:cNvSpPr/>
          <p:nvPr/>
        </p:nvSpPr>
        <p:spPr>
          <a:xfrm>
            <a:off x="5125343" y="4114800"/>
            <a:ext cx="698004" cy="289560"/>
          </a:xfrm>
          <a:prstGeom prst="rect">
            <a:avLst/>
          </a:prstGeom>
          <a:noFill/>
          <a:ln/>
        </p:spPr>
        <p:txBody>
          <a:bodyPr wrap="square" lIns="25400" tIns="25400" rIns="25400" bIns="25400" rtlCol="0" anchor="t">
            <a:normAutofit/>
          </a:bodyPr>
          <a:lstStyle/>
          <a:p>
            <a:pPr algn="l" indent="0" marL="0">
              <a:buNone/>
            </a:pPr>
            <a:r>
              <a:rPr lang="en-US" sz="1650" dirty="0">
                <a:solidFill>
                  <a:srgbClr val="181D26"/>
                </a:solidFill>
                <a:latin typeface="Arial" pitchFamily="34" charset="0"/>
                <a:ea typeface="Arial" pitchFamily="34" charset="-122"/>
                <a:cs typeface="Arial" pitchFamily="34" charset="-120"/>
              </a:rPr>
              <a:t>Specs</a:t>
            </a:r>
            <a:endParaRPr lang="en-US" sz="1650" dirty="0"/>
          </a:p>
        </p:txBody>
      </p:sp>
      <p:sp>
        <p:nvSpPr>
          <p:cNvPr id="12" name="Text 10"/>
          <p:cNvSpPr/>
          <p:nvPr/>
        </p:nvSpPr>
        <p:spPr>
          <a:xfrm>
            <a:off x="6097667" y="4103370"/>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9297A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6440567" y="3981450"/>
            <a:ext cx="1480066" cy="518160"/>
          </a:xfrm>
          <a:prstGeom prst="roundRect">
            <a:avLst>
              <a:gd name="adj" fmla="val 18382"/>
            </a:avLst>
          </a:prstGeom>
          <a:solidFill>
            <a:srgbClr val="181D26"/>
          </a:solidFill>
          <a:ln/>
        </p:spPr>
      </p:sp>
      <p:sp>
        <p:nvSpPr>
          <p:cNvPr id="14" name="Text 12"/>
          <p:cNvSpPr/>
          <p:nvPr/>
        </p:nvSpPr>
        <p:spPr>
          <a:xfrm>
            <a:off x="6669167" y="4114800"/>
            <a:ext cx="1099066" cy="289560"/>
          </a:xfrm>
          <a:prstGeom prst="rect">
            <a:avLst/>
          </a:prstGeom>
          <a:noFill/>
          <a:ln/>
        </p:spPr>
        <p:txBody>
          <a:bodyPr wrap="square" lIns="25400" tIns="25400" rIns="25400" bIns="25400" rtlCol="0" anchor="t">
            <a:normAutofit/>
          </a:bodyPr>
          <a:lstStyle/>
          <a:p>
            <a:pPr algn="l" indent="0" marL="0">
              <a:buNone/>
            </a:pPr>
            <a:r>
              <a:rPr lang="en-US" sz="1650" dirty="0">
                <a:solidFill>
                  <a:srgbClr val="FFFFFF"/>
                </a:solidFill>
                <a:latin typeface="Arial" pitchFamily="34" charset="0"/>
                <a:ea typeface="Arial" pitchFamily="34" charset="-122"/>
                <a:cs typeface="Arial" pitchFamily="34" charset="-120"/>
              </a:rPr>
              <a:t>Developer</a:t>
            </a:r>
            <a:endParaRPr lang="en-US" sz="1650" dirty="0"/>
          </a:p>
        </p:txBody>
      </p:sp>
      <p:sp>
        <p:nvSpPr>
          <p:cNvPr id="15" name="Text 13"/>
          <p:cNvSpPr/>
          <p:nvPr/>
        </p:nvSpPr>
        <p:spPr>
          <a:xfrm>
            <a:off x="8034933" y="4103370"/>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9297A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8377833" y="3973830"/>
            <a:ext cx="1485126" cy="533400"/>
          </a:xfrm>
          <a:prstGeom prst="roundRect">
            <a:avLst>
              <a:gd name="adj" fmla="val 17857"/>
            </a:avLst>
          </a:prstGeom>
          <a:solidFill>
            <a:srgbClr val="F8FAFC"/>
          </a:solidFill>
          <a:ln w="7620">
            <a:solidFill>
              <a:srgbClr val="E0E2E6"/>
            </a:solidFill>
            <a:prstDash val="solid"/>
          </a:ln>
        </p:spPr>
      </p:sp>
      <p:sp>
        <p:nvSpPr>
          <p:cNvPr id="17" name="Text 15"/>
          <p:cNvSpPr/>
          <p:nvPr/>
        </p:nvSpPr>
        <p:spPr>
          <a:xfrm>
            <a:off x="8614053" y="4114800"/>
            <a:ext cx="1088886" cy="289560"/>
          </a:xfrm>
          <a:prstGeom prst="rect">
            <a:avLst/>
          </a:prstGeom>
          <a:noFill/>
          <a:ln/>
        </p:spPr>
        <p:txBody>
          <a:bodyPr wrap="square" lIns="25400" tIns="25400" rIns="25400" bIns="25400" rtlCol="0" anchor="t">
            <a:normAutofit/>
          </a:bodyPr>
          <a:lstStyle/>
          <a:p>
            <a:pPr algn="l" indent="0" marL="0">
              <a:buNone/>
            </a:pPr>
            <a:r>
              <a:rPr lang="en-US" sz="1650" dirty="0">
                <a:solidFill>
                  <a:srgbClr val="181D26"/>
                </a:solidFill>
                <a:latin typeface="Arial" pitchFamily="34" charset="0"/>
                <a:ea typeface="Arial" pitchFamily="34" charset="-122"/>
                <a:cs typeface="Arial" pitchFamily="34" charset="-120"/>
              </a:rPr>
              <a:t>Questions</a:t>
            </a:r>
            <a:endParaRPr lang="en-US" sz="1650" dirty="0"/>
          </a:p>
        </p:txBody>
      </p:sp>
      <p:sp>
        <p:nvSpPr>
          <p:cNvPr id="18" name="Text 16"/>
          <p:cNvSpPr/>
          <p:nvPr/>
        </p:nvSpPr>
        <p:spPr>
          <a:xfrm>
            <a:off x="9977260" y="4103370"/>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9297A0"/>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10320160" y="3973830"/>
            <a:ext cx="1402616" cy="533400"/>
          </a:xfrm>
          <a:prstGeom prst="roundRect">
            <a:avLst>
              <a:gd name="adj" fmla="val 17857"/>
            </a:avLst>
          </a:prstGeom>
          <a:solidFill>
            <a:srgbClr val="F8FAFC"/>
          </a:solidFill>
          <a:ln w="7620">
            <a:solidFill>
              <a:srgbClr val="E0E2E6"/>
            </a:solidFill>
            <a:prstDash val="solid"/>
          </a:ln>
        </p:spPr>
      </p:sp>
      <p:sp>
        <p:nvSpPr>
          <p:cNvPr id="20" name="Text 18"/>
          <p:cNvSpPr/>
          <p:nvPr/>
        </p:nvSpPr>
        <p:spPr>
          <a:xfrm>
            <a:off x="10556380" y="4114800"/>
            <a:ext cx="1006376" cy="289560"/>
          </a:xfrm>
          <a:prstGeom prst="rect">
            <a:avLst/>
          </a:prstGeom>
          <a:noFill/>
          <a:ln/>
        </p:spPr>
        <p:txBody>
          <a:bodyPr wrap="square" lIns="25400" tIns="25400" rIns="25400" bIns="25400" rtlCol="0" anchor="t">
            <a:normAutofit/>
          </a:bodyPr>
          <a:lstStyle/>
          <a:p>
            <a:pPr algn="l" indent="0" marL="0">
              <a:buNone/>
            </a:pPr>
            <a:r>
              <a:rPr lang="en-US" sz="1650" dirty="0">
                <a:solidFill>
                  <a:srgbClr val="181D26"/>
                </a:solidFill>
                <a:latin typeface="Arial" pitchFamily="34" charset="0"/>
                <a:ea typeface="Arial" pitchFamily="34" charset="-122"/>
                <a:cs typeface="Arial" pitchFamily="34" charset="-120"/>
              </a:rPr>
              <a:t>Meetings</a:t>
            </a:r>
            <a:endParaRPr lang="en-US" sz="1650" dirty="0"/>
          </a:p>
        </p:txBody>
      </p:sp>
      <p:sp>
        <p:nvSpPr>
          <p:cNvPr id="21" name="Text 19"/>
          <p:cNvSpPr/>
          <p:nvPr/>
        </p:nvSpPr>
        <p:spPr>
          <a:xfrm>
            <a:off x="11837075" y="4103370"/>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9297A0"/>
                </a:solidFill>
                <a:latin typeface="Arial" pitchFamily="34" charset="0"/>
                <a:ea typeface="Arial" pitchFamily="34" charset="-122"/>
                <a:cs typeface="Arial" pitchFamily="34" charset="-120"/>
              </a:rPr>
              <a:t>→</a:t>
            </a:r>
            <a:endParaRPr lang="en-US" sz="1800" dirty="0"/>
          </a:p>
        </p:txBody>
      </p:sp>
      <p:sp>
        <p:nvSpPr>
          <p:cNvPr id="22" name="Shape 20"/>
          <p:cNvSpPr/>
          <p:nvPr/>
        </p:nvSpPr>
        <p:spPr>
          <a:xfrm>
            <a:off x="12179975" y="3973830"/>
            <a:ext cx="1647051" cy="533400"/>
          </a:xfrm>
          <a:prstGeom prst="roundRect">
            <a:avLst>
              <a:gd name="adj" fmla="val 17857"/>
            </a:avLst>
          </a:prstGeom>
          <a:solidFill>
            <a:srgbClr val="F8FAFC"/>
          </a:solidFill>
          <a:ln w="7620">
            <a:solidFill>
              <a:srgbClr val="E0E2E6"/>
            </a:solidFill>
            <a:prstDash val="solid"/>
          </a:ln>
        </p:spPr>
      </p:sp>
      <p:sp>
        <p:nvSpPr>
          <p:cNvPr id="23" name="Text 21"/>
          <p:cNvSpPr/>
          <p:nvPr/>
        </p:nvSpPr>
        <p:spPr>
          <a:xfrm>
            <a:off x="12416195" y="4114800"/>
            <a:ext cx="1250811" cy="289560"/>
          </a:xfrm>
          <a:prstGeom prst="rect">
            <a:avLst/>
          </a:prstGeom>
          <a:noFill/>
          <a:ln/>
        </p:spPr>
        <p:txBody>
          <a:bodyPr wrap="square" lIns="25400" tIns="25400" rIns="25400" bIns="25400" rtlCol="0" anchor="t">
            <a:normAutofit/>
          </a:bodyPr>
          <a:lstStyle/>
          <a:p>
            <a:pPr algn="l" indent="0" marL="0">
              <a:buNone/>
            </a:pPr>
            <a:r>
              <a:rPr lang="en-US" sz="1650" dirty="0">
                <a:solidFill>
                  <a:srgbClr val="181D26"/>
                </a:solidFill>
                <a:latin typeface="Arial" pitchFamily="34" charset="0"/>
                <a:ea typeface="Arial" pitchFamily="34" charset="-122"/>
                <a:cs typeface="Arial" pitchFamily="34" charset="-120"/>
              </a:rPr>
              <a:t>Corrections</a:t>
            </a:r>
            <a:endParaRPr lang="en-US" sz="1650" dirty="0"/>
          </a:p>
        </p:txBody>
      </p:sp>
      <p:sp>
        <p:nvSpPr>
          <p:cNvPr id="24" name="Text 22"/>
          <p:cNvSpPr/>
          <p:nvPr/>
        </p:nvSpPr>
        <p:spPr>
          <a:xfrm>
            <a:off x="13941326" y="4103370"/>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9297A0"/>
                </a:solidFill>
                <a:latin typeface="Arial" pitchFamily="34" charset="0"/>
                <a:ea typeface="Arial" pitchFamily="34" charset="-122"/>
                <a:cs typeface="Arial" pitchFamily="34" charset="-120"/>
              </a:rPr>
              <a:t>→</a:t>
            </a:r>
            <a:endParaRPr lang="en-US" sz="1800" dirty="0"/>
          </a:p>
        </p:txBody>
      </p:sp>
      <p:sp>
        <p:nvSpPr>
          <p:cNvPr id="25" name="Shape 23"/>
          <p:cNvSpPr/>
          <p:nvPr/>
        </p:nvSpPr>
        <p:spPr>
          <a:xfrm>
            <a:off x="14284226" y="3973830"/>
            <a:ext cx="774383" cy="533400"/>
          </a:xfrm>
          <a:prstGeom prst="roundRect">
            <a:avLst>
              <a:gd name="adj" fmla="val 17857"/>
            </a:avLst>
          </a:prstGeom>
          <a:solidFill>
            <a:srgbClr val="F8FAFC"/>
          </a:solidFill>
          <a:ln w="7620">
            <a:solidFill>
              <a:srgbClr val="E0E2E6"/>
            </a:solidFill>
            <a:prstDash val="solid"/>
          </a:ln>
        </p:spPr>
      </p:sp>
      <p:sp>
        <p:nvSpPr>
          <p:cNvPr id="26" name="Text 24"/>
          <p:cNvSpPr/>
          <p:nvPr/>
        </p:nvSpPr>
        <p:spPr>
          <a:xfrm>
            <a:off x="14520446" y="4114800"/>
            <a:ext cx="378143" cy="289560"/>
          </a:xfrm>
          <a:prstGeom prst="rect">
            <a:avLst/>
          </a:prstGeom>
          <a:noFill/>
          <a:ln/>
        </p:spPr>
        <p:txBody>
          <a:bodyPr wrap="square" lIns="25400" tIns="25400" rIns="25400" bIns="25400" rtlCol="0" anchor="t">
            <a:normAutofit/>
          </a:bodyPr>
          <a:lstStyle/>
          <a:p>
            <a:pPr algn="l" indent="0" marL="0">
              <a:buNone/>
            </a:pPr>
            <a:r>
              <a:rPr lang="en-US" sz="1650" dirty="0">
                <a:solidFill>
                  <a:srgbClr val="181D26"/>
                </a:solidFill>
                <a:latin typeface="Arial" pitchFamily="34" charset="0"/>
                <a:ea typeface="Arial" pitchFamily="34" charset="-122"/>
                <a:cs typeface="Arial" pitchFamily="34" charset="-120"/>
              </a:rPr>
              <a:t>QA</a:t>
            </a:r>
            <a:endParaRPr lang="en-US" sz="1650" dirty="0"/>
          </a:p>
        </p:txBody>
      </p:sp>
      <p:sp>
        <p:nvSpPr>
          <p:cNvPr id="27" name="Text 25"/>
          <p:cNvSpPr/>
          <p:nvPr/>
        </p:nvSpPr>
        <p:spPr>
          <a:xfrm>
            <a:off x="15172909" y="4103370"/>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9297A0"/>
                </a:solidFill>
                <a:latin typeface="Arial" pitchFamily="34" charset="0"/>
                <a:ea typeface="Arial" pitchFamily="34" charset="-122"/>
                <a:cs typeface="Arial" pitchFamily="34" charset="-120"/>
              </a:rPr>
              <a:t>→</a:t>
            </a:r>
            <a:endParaRPr lang="en-US" sz="1800" dirty="0"/>
          </a:p>
        </p:txBody>
      </p:sp>
      <p:sp>
        <p:nvSpPr>
          <p:cNvPr id="28" name="Shape 26"/>
          <p:cNvSpPr/>
          <p:nvPr/>
        </p:nvSpPr>
        <p:spPr>
          <a:xfrm>
            <a:off x="1333500" y="4640580"/>
            <a:ext cx="2172772" cy="518160"/>
          </a:xfrm>
          <a:prstGeom prst="roundRect">
            <a:avLst>
              <a:gd name="adj" fmla="val 18382"/>
            </a:avLst>
          </a:prstGeom>
          <a:solidFill>
            <a:srgbClr val="FCAB79"/>
          </a:solidFill>
          <a:ln/>
        </p:spPr>
      </p:sp>
      <p:sp>
        <p:nvSpPr>
          <p:cNvPr id="29" name="Text 27"/>
          <p:cNvSpPr/>
          <p:nvPr/>
        </p:nvSpPr>
        <p:spPr>
          <a:xfrm>
            <a:off x="1562100" y="4773930"/>
            <a:ext cx="1791772" cy="289560"/>
          </a:xfrm>
          <a:prstGeom prst="rect">
            <a:avLst/>
          </a:prstGeom>
          <a:noFill/>
          <a:ln/>
        </p:spPr>
        <p:txBody>
          <a:bodyPr wrap="square" lIns="25400" tIns="25400" rIns="25400" bIns="25400" rtlCol="0" anchor="t">
            <a:normAutofit/>
          </a:bodyPr>
          <a:lstStyle/>
          <a:p>
            <a:pPr algn="l" indent="0" marL="0">
              <a:buNone/>
            </a:pPr>
            <a:r>
              <a:rPr lang="en-US" sz="1650" dirty="0">
                <a:solidFill>
                  <a:srgbClr val="5C1A00"/>
                </a:solidFill>
                <a:latin typeface="Arial" pitchFamily="34" charset="0"/>
                <a:ea typeface="Arial" pitchFamily="34" charset="-122"/>
                <a:cs typeface="Arial" pitchFamily="34" charset="-120"/>
              </a:rPr>
              <a:t>More corrections</a:t>
            </a:r>
            <a:endParaRPr lang="en-US" sz="1650" dirty="0"/>
          </a:p>
        </p:txBody>
      </p:sp>
      <p:sp>
        <p:nvSpPr>
          <p:cNvPr id="30" name="Shape 28"/>
          <p:cNvSpPr/>
          <p:nvPr/>
        </p:nvSpPr>
        <p:spPr>
          <a:xfrm>
            <a:off x="1333500" y="5654040"/>
            <a:ext cx="4800600" cy="1440180"/>
          </a:xfrm>
          <a:prstGeom prst="roundRect">
            <a:avLst>
              <a:gd name="adj" fmla="val 7937"/>
            </a:avLst>
          </a:prstGeom>
          <a:solidFill>
            <a:srgbClr val="F8FAFC"/>
          </a:solidFill>
          <a:ln/>
        </p:spPr>
      </p:sp>
      <p:sp>
        <p:nvSpPr>
          <p:cNvPr id="31" name="Text 29"/>
          <p:cNvSpPr/>
          <p:nvPr/>
        </p:nvSpPr>
        <p:spPr>
          <a:xfrm>
            <a:off x="1638300" y="5939790"/>
            <a:ext cx="4610100" cy="304800"/>
          </a:xfrm>
          <a:prstGeom prst="rect">
            <a:avLst/>
          </a:prstGeom>
          <a:noFill/>
          <a:ln/>
        </p:spPr>
        <p:txBody>
          <a:bodyPr wrap="square" lIns="25400" tIns="25400" rIns="25400" bIns="25400" rtlCol="0" anchor="t">
            <a:normAutofit/>
          </a:bodyPr>
          <a:lstStyle/>
          <a:p>
            <a:pPr algn="l" indent="0" marL="0">
              <a:buNone/>
            </a:pPr>
            <a:r>
              <a:rPr lang="en-US" sz="1725" dirty="0">
                <a:solidFill>
                  <a:srgbClr val="181D26"/>
                </a:solidFill>
                <a:latin typeface="Arial" pitchFamily="34" charset="0"/>
                <a:ea typeface="Arial" pitchFamily="34" charset="-122"/>
                <a:cs typeface="Arial" pitchFamily="34" charset="-120"/>
              </a:rPr>
              <a:t>Duplicate definitions</a:t>
            </a:r>
            <a:endParaRPr lang="en-US" sz="1725" dirty="0"/>
          </a:p>
        </p:txBody>
      </p:sp>
      <p:sp>
        <p:nvSpPr>
          <p:cNvPr id="32" name="Text 30"/>
          <p:cNvSpPr/>
          <p:nvPr/>
        </p:nvSpPr>
        <p:spPr>
          <a:xfrm>
            <a:off x="1638300" y="6301740"/>
            <a:ext cx="4316730" cy="544830"/>
          </a:xfrm>
          <a:prstGeom prst="rect">
            <a:avLst/>
          </a:prstGeom>
          <a:noFill/>
          <a:ln/>
        </p:spPr>
        <p:txBody>
          <a:bodyPr wrap="square" lIns="25400" tIns="25400" rIns="25400" bIns="25400" rtlCol="0" anchor="t">
            <a:normAutofit/>
          </a:bodyPr>
          <a:lstStyle/>
          <a:p>
            <a:pPr algn="l" indent="0" marL="0">
              <a:lnSpc>
                <a:spcPct val="120909"/>
              </a:lnSpc>
              <a:buNone/>
            </a:pPr>
            <a:r>
              <a:rPr lang="en-US" sz="1425" dirty="0">
                <a:solidFill>
                  <a:srgbClr val="41454D"/>
                </a:solidFill>
                <a:latin typeface="Arial" pitchFamily="34" charset="0"/>
                <a:ea typeface="Arial" pitchFamily="34" charset="-122"/>
                <a:cs typeface="Arial" pitchFamily="34" charset="-120"/>
              </a:rPr>
              <a:t>Components and tokens defined once in Figma, again in code.</a:t>
            </a:r>
            <a:endParaRPr lang="en-US" sz="1425" dirty="0"/>
          </a:p>
        </p:txBody>
      </p:sp>
      <p:sp>
        <p:nvSpPr>
          <p:cNvPr id="33" name="Shape 31"/>
          <p:cNvSpPr/>
          <p:nvPr/>
        </p:nvSpPr>
        <p:spPr>
          <a:xfrm>
            <a:off x="6362700" y="5654040"/>
            <a:ext cx="4800600" cy="1440180"/>
          </a:xfrm>
          <a:prstGeom prst="roundRect">
            <a:avLst>
              <a:gd name="adj" fmla="val 7937"/>
            </a:avLst>
          </a:prstGeom>
          <a:solidFill>
            <a:srgbClr val="F8FAFC"/>
          </a:solidFill>
          <a:ln/>
        </p:spPr>
      </p:sp>
      <p:sp>
        <p:nvSpPr>
          <p:cNvPr id="34" name="Text 32"/>
          <p:cNvSpPr/>
          <p:nvPr/>
        </p:nvSpPr>
        <p:spPr>
          <a:xfrm>
            <a:off x="6667500" y="5939790"/>
            <a:ext cx="4610100" cy="304800"/>
          </a:xfrm>
          <a:prstGeom prst="rect">
            <a:avLst/>
          </a:prstGeom>
          <a:noFill/>
          <a:ln/>
        </p:spPr>
        <p:txBody>
          <a:bodyPr wrap="square" lIns="25400" tIns="25400" rIns="25400" bIns="25400" rtlCol="0" anchor="t">
            <a:normAutofit/>
          </a:bodyPr>
          <a:lstStyle/>
          <a:p>
            <a:pPr algn="l" indent="0" marL="0">
              <a:buNone/>
            </a:pPr>
            <a:r>
              <a:rPr lang="en-US" sz="1725" dirty="0">
                <a:solidFill>
                  <a:srgbClr val="181D26"/>
                </a:solidFill>
                <a:latin typeface="Arial" pitchFamily="34" charset="0"/>
                <a:ea typeface="Arial" pitchFamily="34" charset="-122"/>
                <a:cs typeface="Arial" pitchFamily="34" charset="-120"/>
              </a:rPr>
              <a:t>Documentation drift</a:t>
            </a:r>
            <a:endParaRPr lang="en-US" sz="1725" dirty="0"/>
          </a:p>
        </p:txBody>
      </p:sp>
      <p:sp>
        <p:nvSpPr>
          <p:cNvPr id="35" name="Text 33"/>
          <p:cNvSpPr/>
          <p:nvPr/>
        </p:nvSpPr>
        <p:spPr>
          <a:xfrm>
            <a:off x="6667500" y="6301740"/>
            <a:ext cx="4316730" cy="544830"/>
          </a:xfrm>
          <a:prstGeom prst="rect">
            <a:avLst/>
          </a:prstGeom>
          <a:noFill/>
          <a:ln/>
        </p:spPr>
        <p:txBody>
          <a:bodyPr wrap="square" lIns="25400" tIns="25400" rIns="25400" bIns="25400" rtlCol="0" anchor="t">
            <a:normAutofit/>
          </a:bodyPr>
          <a:lstStyle/>
          <a:p>
            <a:pPr algn="l" indent="0" marL="0">
              <a:lnSpc>
                <a:spcPct val="120909"/>
              </a:lnSpc>
              <a:buNone/>
            </a:pPr>
            <a:r>
              <a:rPr lang="en-US" sz="1425" dirty="0">
                <a:solidFill>
                  <a:srgbClr val="41454D"/>
                </a:solidFill>
                <a:latin typeface="Arial" pitchFamily="34" charset="0"/>
                <a:ea typeface="Arial" pitchFamily="34" charset="-122"/>
                <a:cs typeface="Arial" pitchFamily="34" charset="-120"/>
              </a:rPr>
              <a:t>Storybook and usage docs lag behind whichever source changed last.</a:t>
            </a:r>
            <a:endParaRPr lang="en-US" sz="1425" dirty="0"/>
          </a:p>
        </p:txBody>
      </p:sp>
      <p:sp>
        <p:nvSpPr>
          <p:cNvPr id="36" name="Shape 34"/>
          <p:cNvSpPr/>
          <p:nvPr/>
        </p:nvSpPr>
        <p:spPr>
          <a:xfrm>
            <a:off x="11391900" y="5654040"/>
            <a:ext cx="4800600" cy="1440180"/>
          </a:xfrm>
          <a:prstGeom prst="roundRect">
            <a:avLst>
              <a:gd name="adj" fmla="val 7937"/>
            </a:avLst>
          </a:prstGeom>
          <a:solidFill>
            <a:srgbClr val="F8FAFC"/>
          </a:solidFill>
          <a:ln/>
        </p:spPr>
      </p:sp>
      <p:sp>
        <p:nvSpPr>
          <p:cNvPr id="37" name="Text 35"/>
          <p:cNvSpPr/>
          <p:nvPr/>
        </p:nvSpPr>
        <p:spPr>
          <a:xfrm>
            <a:off x="11696700" y="5939790"/>
            <a:ext cx="4610100" cy="304800"/>
          </a:xfrm>
          <a:prstGeom prst="rect">
            <a:avLst/>
          </a:prstGeom>
          <a:noFill/>
          <a:ln/>
        </p:spPr>
        <p:txBody>
          <a:bodyPr wrap="square" lIns="25400" tIns="25400" rIns="25400" bIns="25400" rtlCol="0" anchor="t">
            <a:normAutofit/>
          </a:bodyPr>
          <a:lstStyle/>
          <a:p>
            <a:pPr algn="l" indent="0" marL="0">
              <a:buNone/>
            </a:pPr>
            <a:r>
              <a:rPr lang="en-US" sz="1725" dirty="0">
                <a:solidFill>
                  <a:srgbClr val="181D26"/>
                </a:solidFill>
                <a:latin typeface="Arial" pitchFamily="34" charset="0"/>
                <a:ea typeface="Arial" pitchFamily="34" charset="-122"/>
                <a:cs typeface="Arial" pitchFamily="34" charset="-120"/>
              </a:rPr>
              <a:t>"Is this correct?"</a:t>
            </a:r>
            <a:endParaRPr lang="en-US" sz="1725" dirty="0"/>
          </a:p>
        </p:txBody>
      </p:sp>
      <p:sp>
        <p:nvSpPr>
          <p:cNvPr id="38" name="Text 36"/>
          <p:cNvSpPr/>
          <p:nvPr/>
        </p:nvSpPr>
        <p:spPr>
          <a:xfrm>
            <a:off x="11696700" y="6301740"/>
            <a:ext cx="4316730" cy="544830"/>
          </a:xfrm>
          <a:prstGeom prst="rect">
            <a:avLst/>
          </a:prstGeom>
          <a:noFill/>
          <a:ln/>
        </p:spPr>
        <p:txBody>
          <a:bodyPr wrap="square" lIns="25400" tIns="25400" rIns="25400" bIns="25400" rtlCol="0" anchor="t">
            <a:normAutofit/>
          </a:bodyPr>
          <a:lstStyle/>
          <a:p>
            <a:pPr algn="l" indent="0" marL="0">
              <a:lnSpc>
                <a:spcPct val="120909"/>
              </a:lnSpc>
              <a:buNone/>
            </a:pPr>
            <a:r>
              <a:rPr lang="en-US" sz="1425" dirty="0">
                <a:solidFill>
                  <a:srgbClr val="41454D"/>
                </a:solidFill>
                <a:latin typeface="Arial" pitchFamily="34" charset="0"/>
                <a:ea typeface="Arial" pitchFamily="34" charset="-122"/>
                <a:cs typeface="Arial" pitchFamily="34" charset="-120"/>
              </a:rPr>
              <a:t>Endless conversations confirming things the design system already answered.</a:t>
            </a:r>
            <a:endParaRPr lang="en-US" sz="1425" dirty="0"/>
          </a:p>
        </p:txBody>
      </p:sp>
      <p:sp>
        <p:nvSpPr>
          <p:cNvPr id="39" name="Text 37"/>
          <p:cNvSpPr/>
          <p:nvPr/>
        </p:nvSpPr>
        <p:spPr>
          <a:xfrm>
            <a:off x="1333500" y="7513320"/>
            <a:ext cx="146685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333840"/>
                </a:solidFill>
                <a:latin typeface="Arial" pitchFamily="34" charset="0"/>
                <a:ea typeface="Arial" pitchFamily="34" charset="-122"/>
                <a:cs typeface="Arial" pitchFamily="34" charset="-120"/>
              </a:rPr>
              <a:t>Almost none of this is design work. It's </a:t>
            </a:r>
            <a:pPr algn="l" indent="0" marL="0">
              <a:buNone/>
            </a:pPr>
            <a:r>
              <a:rPr lang="en-US" sz="1800" i="1" dirty="0">
                <a:solidFill>
                  <a:srgbClr val="333840"/>
                </a:solidFill>
                <a:latin typeface="Arial" pitchFamily="34" charset="0"/>
                <a:ea typeface="Arial" pitchFamily="34" charset="-122"/>
                <a:cs typeface="Arial" pitchFamily="34" charset="-120"/>
              </a:rPr>
              <a:t>translation </a:t>
            </a:r>
            <a:pPr algn="l" indent="0" marL="0">
              <a:buNone/>
            </a:pPr>
            <a:r>
              <a:rPr lang="en-US" sz="1800" dirty="0">
                <a:solidFill>
                  <a:srgbClr val="333840"/>
                </a:solidFill>
                <a:latin typeface="Arial" pitchFamily="34" charset="0"/>
                <a:ea typeface="Arial" pitchFamily="34" charset="-122"/>
                <a:cs typeface="Arial" pitchFamily="34" charset="-120"/>
              </a:rPr>
              <a:t>— and most enterprise teams lose enormous amounts of time here.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AA2D00"/>
        </a:solidFill>
      </p:bgPr>
    </p:bg>
    <p:spTree>
      <p:nvGrpSpPr>
        <p:cNvPr id="1" name=""/>
        <p:cNvGrpSpPr/>
        <p:nvPr/>
      </p:nvGrpSpPr>
      <p:grpSpPr>
        <a:xfrm>
          <a:off x="0" y="0"/>
          <a:ext cx="0" cy="0"/>
          <a:chOff x="0" y="0"/>
          <a:chExt cx="0" cy="0"/>
        </a:xfrm>
      </p:grpSpPr>
      <p:sp>
        <p:nvSpPr>
          <p:cNvPr id="2" name="Text 0"/>
          <p:cNvSpPr/>
          <p:nvPr/>
        </p:nvSpPr>
        <p:spPr>
          <a:xfrm>
            <a:off x="1333500" y="2080677"/>
            <a:ext cx="17183100" cy="209550"/>
          </a:xfrm>
          <a:prstGeom prst="rect">
            <a:avLst/>
          </a:prstGeom>
          <a:noFill/>
          <a:ln/>
        </p:spPr>
        <p:txBody>
          <a:bodyPr wrap="square" lIns="25400" tIns="25400" rIns="25400" bIns="25400" rtlCol="0" anchor="t">
            <a:normAutofit/>
          </a:bodyPr>
          <a:lstStyle/>
          <a:p>
            <a:pPr algn="l" indent="0" marL="0">
              <a:buNone/>
            </a:pPr>
            <a:r>
              <a:rPr lang="en-US" sz="1200" b="1" spc="240" kern="0" dirty="0">
                <a:solidFill>
                  <a:srgbClr val="FCAB79"/>
                </a:solidFill>
                <a:latin typeface="Arial" pitchFamily="34" charset="0"/>
                <a:ea typeface="Arial" pitchFamily="34" charset="-122"/>
                <a:cs typeface="Arial" pitchFamily="34" charset="-120"/>
              </a:rPr>
              <a:t>A DIRECTION WORTH EXPLORING</a:t>
            </a:r>
            <a:endParaRPr lang="en-US" sz="1200" dirty="0"/>
          </a:p>
        </p:txBody>
      </p:sp>
      <p:sp>
        <p:nvSpPr>
          <p:cNvPr id="3" name="Text 1"/>
          <p:cNvSpPr/>
          <p:nvPr/>
        </p:nvSpPr>
        <p:spPr>
          <a:xfrm>
            <a:off x="1333500" y="2518827"/>
            <a:ext cx="12753975" cy="1313617"/>
          </a:xfrm>
          <a:prstGeom prst="rect">
            <a:avLst/>
          </a:prstGeom>
          <a:noFill/>
          <a:ln/>
        </p:spPr>
        <p:txBody>
          <a:bodyPr wrap="square" lIns="25400" tIns="25400" rIns="25400" bIns="25400" rtlCol="0" anchor="t">
            <a:normAutofit/>
          </a:bodyPr>
          <a:lstStyle/>
          <a:p>
            <a:pPr algn="l" indent="0" marL="0">
              <a:lnSpc>
                <a:spcPct val="94045"/>
              </a:lnSpc>
              <a:buNone/>
            </a:pPr>
            <a:r>
              <a:rPr lang="en-US" sz="4650" spc="-70" kern="0" dirty="0">
                <a:solidFill>
                  <a:srgbClr val="FFFFFF"/>
                </a:solidFill>
                <a:latin typeface="Arial" pitchFamily="34" charset="0"/>
                <a:ea typeface="Arial" pitchFamily="34" charset="-122"/>
                <a:cs typeface="Arial" pitchFamily="34" charset="-120"/>
              </a:rPr>
              <a:t>What if the handoff answered its own questions?</a:t>
            </a:r>
            <a:endParaRPr lang="en-US" sz="4650" dirty="0"/>
          </a:p>
        </p:txBody>
      </p:sp>
      <p:sp>
        <p:nvSpPr>
          <p:cNvPr id="4" name="Text 2"/>
          <p:cNvSpPr/>
          <p:nvPr/>
        </p:nvSpPr>
        <p:spPr>
          <a:xfrm>
            <a:off x="1333500" y="3984843"/>
            <a:ext cx="12165330" cy="781050"/>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FFD9C2"/>
                </a:solidFill>
                <a:latin typeface="Arial" pitchFamily="34" charset="0"/>
                <a:ea typeface="Arial" pitchFamily="34" charset="-122"/>
                <a:cs typeface="Arial" pitchFamily="34" charset="-120"/>
              </a:rPr>
              <a:t>An MCP server is simply a standard way for AI tools to ask our systems questions and get trusted answers back. The difference is who's answering.</a:t>
            </a:r>
            <a:endParaRPr lang="en-US" sz="1950" dirty="0"/>
          </a:p>
        </p:txBody>
      </p:sp>
      <p:sp>
        <p:nvSpPr>
          <p:cNvPr id="5" name="Shape 3"/>
          <p:cNvSpPr/>
          <p:nvPr/>
        </p:nvSpPr>
        <p:spPr>
          <a:xfrm>
            <a:off x="1333500" y="5223093"/>
            <a:ext cx="7010400" cy="2259330"/>
          </a:xfrm>
          <a:prstGeom prst="roundRect">
            <a:avLst>
              <a:gd name="adj" fmla="val 5059"/>
            </a:avLst>
          </a:prstGeom>
          <a:solidFill>
            <a:srgbClr val="FFFFFF">
              <a:alpha val="10000"/>
            </a:srgbClr>
          </a:solidFill>
          <a:ln/>
        </p:spPr>
      </p:sp>
      <p:sp>
        <p:nvSpPr>
          <p:cNvPr id="6" name="Text 4"/>
          <p:cNvSpPr/>
          <p:nvPr/>
        </p:nvSpPr>
        <p:spPr>
          <a:xfrm>
            <a:off x="1752600" y="5642193"/>
            <a:ext cx="6789420" cy="247650"/>
          </a:xfrm>
          <a:prstGeom prst="rect">
            <a:avLst/>
          </a:prstGeom>
          <a:noFill/>
          <a:ln/>
        </p:spPr>
        <p:txBody>
          <a:bodyPr wrap="square" lIns="25400" tIns="25400" rIns="25400" bIns="25400" rtlCol="0" anchor="t">
            <a:normAutofit/>
          </a:bodyPr>
          <a:lstStyle/>
          <a:p>
            <a:pPr algn="l" indent="0" marL="0">
              <a:buNone/>
            </a:pPr>
            <a:r>
              <a:rPr lang="en-US" sz="1425" b="1" spc="171" kern="0" dirty="0">
                <a:solidFill>
                  <a:srgbClr val="FFD9C2"/>
                </a:solidFill>
                <a:latin typeface="Arial" pitchFamily="34" charset="0"/>
                <a:ea typeface="Arial" pitchFamily="34" charset="-122"/>
                <a:cs typeface="Arial" pitchFamily="34" charset="-120"/>
              </a:rPr>
              <a:t>A FILING CABINET</a:t>
            </a:r>
            <a:endParaRPr lang="en-US" sz="1425" dirty="0"/>
          </a:p>
        </p:txBody>
      </p:sp>
      <p:sp>
        <p:nvSpPr>
          <p:cNvPr id="7" name="Text 5"/>
          <p:cNvSpPr/>
          <p:nvPr/>
        </p:nvSpPr>
        <p:spPr>
          <a:xfrm>
            <a:off x="1752600" y="6023193"/>
            <a:ext cx="6357366" cy="1078230"/>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FFFFFF"/>
                </a:solidFill>
                <a:latin typeface="Arial" pitchFamily="34" charset="0"/>
                <a:ea typeface="Arial" pitchFamily="34" charset="-122"/>
                <a:cs typeface="Arial" pitchFamily="34" charset="-120"/>
              </a:rPr>
              <a:t>Hands the AI a folder of files and says "good luck." It still has to guess which button is approved, which token is current, which pattern is deprecated.</a:t>
            </a:r>
            <a:endParaRPr lang="en-US" sz="1950" dirty="0"/>
          </a:p>
        </p:txBody>
      </p:sp>
      <p:sp>
        <p:nvSpPr>
          <p:cNvPr id="8" name="Shape 6"/>
          <p:cNvSpPr/>
          <p:nvPr/>
        </p:nvSpPr>
        <p:spPr>
          <a:xfrm>
            <a:off x="8610600" y="5223093"/>
            <a:ext cx="7010400" cy="2259330"/>
          </a:xfrm>
          <a:prstGeom prst="roundRect">
            <a:avLst>
              <a:gd name="adj" fmla="val 5059"/>
            </a:avLst>
          </a:prstGeom>
          <a:solidFill>
            <a:srgbClr val="FFFFFF"/>
          </a:solidFill>
          <a:ln/>
        </p:spPr>
      </p:sp>
      <p:sp>
        <p:nvSpPr>
          <p:cNvPr id="9" name="Text 7"/>
          <p:cNvSpPr/>
          <p:nvPr/>
        </p:nvSpPr>
        <p:spPr>
          <a:xfrm>
            <a:off x="9029700" y="5642193"/>
            <a:ext cx="6789420" cy="247650"/>
          </a:xfrm>
          <a:prstGeom prst="rect">
            <a:avLst/>
          </a:prstGeom>
          <a:noFill/>
          <a:ln/>
        </p:spPr>
        <p:txBody>
          <a:bodyPr wrap="square" lIns="25400" tIns="25400" rIns="25400" bIns="25400" rtlCol="0" anchor="t">
            <a:normAutofit/>
          </a:bodyPr>
          <a:lstStyle/>
          <a:p>
            <a:pPr algn="l" indent="0" marL="0">
              <a:buNone/>
            </a:pPr>
            <a:r>
              <a:rPr lang="en-US" sz="1425" b="1" spc="171" kern="0" dirty="0">
                <a:solidFill>
                  <a:srgbClr val="AA2D00"/>
                </a:solidFill>
                <a:latin typeface="Arial" pitchFamily="34" charset="0"/>
                <a:ea typeface="Arial" pitchFamily="34" charset="-122"/>
                <a:cs typeface="Arial" pitchFamily="34" charset="-120"/>
              </a:rPr>
              <a:t>A LIBRARIAN</a:t>
            </a:r>
            <a:endParaRPr lang="en-US" sz="1425" dirty="0"/>
          </a:p>
        </p:txBody>
      </p:sp>
      <p:sp>
        <p:nvSpPr>
          <p:cNvPr id="10" name="Text 8"/>
          <p:cNvSpPr/>
          <p:nvPr/>
        </p:nvSpPr>
        <p:spPr>
          <a:xfrm>
            <a:off x="9029700" y="6023193"/>
            <a:ext cx="6357366" cy="1078230"/>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181D26"/>
                </a:solidFill>
                <a:latin typeface="Arial" pitchFamily="34" charset="0"/>
                <a:ea typeface="Arial" pitchFamily="34" charset="-122"/>
                <a:cs typeface="Arial" pitchFamily="34" charset="-120"/>
              </a:rPr>
              <a:t>Answers the question — with the approved answer. Ask for a component and it returns the real one: tokens, behaviors, accessibility, constraints.</a:t>
            </a:r>
            <a:endParaRPr lang="en-US" sz="1950" dirty="0"/>
          </a:p>
        </p:txBody>
      </p:sp>
      <p:sp>
        <p:nvSpPr>
          <p:cNvPr id="11" name="Text 9"/>
          <p:cNvSpPr/>
          <p:nvPr/>
        </p:nvSpPr>
        <p:spPr>
          <a:xfrm>
            <a:off x="1333500" y="7939624"/>
            <a:ext cx="14668500" cy="304800"/>
          </a:xfrm>
          <a:prstGeom prst="rect">
            <a:avLst/>
          </a:prstGeom>
          <a:noFill/>
          <a:ln/>
        </p:spPr>
        <p:txBody>
          <a:bodyPr wrap="square" lIns="25400" tIns="25400" rIns="25400" bIns="25400" rtlCol="0" anchor="t">
            <a:normAutofit/>
          </a:bodyPr>
          <a:lstStyle/>
          <a:p>
            <a:pPr algn="l" indent="0" marL="0">
              <a:buNone/>
            </a:pPr>
            <a:r>
              <a:rPr lang="en-US" sz="1725" dirty="0">
                <a:solidFill>
                  <a:srgbClr val="FFD9C2"/>
                </a:solidFill>
                <a:latin typeface="Arial" pitchFamily="34" charset="0"/>
                <a:ea typeface="Arial" pitchFamily="34" charset="-122"/>
                <a:cs typeface="Arial" pitchFamily="34" charset="-120"/>
              </a:rPr>
              <a:t>Designer and developer ask the </a:t>
            </a:r>
            <a:pPr algn="l" indent="0" marL="0">
              <a:buNone/>
            </a:pPr>
            <a:r>
              <a:rPr lang="en-US" sz="1725" i="1" dirty="0">
                <a:solidFill>
                  <a:srgbClr val="FFD9C2"/>
                </a:solidFill>
                <a:latin typeface="Arial" pitchFamily="34" charset="0"/>
                <a:ea typeface="Arial" pitchFamily="34" charset="-122"/>
                <a:cs typeface="Arial" pitchFamily="34" charset="-120"/>
              </a:rPr>
              <a:t>same </a:t>
            </a:r>
            <a:pPr algn="l" indent="0" marL="0">
              <a:buNone/>
            </a:pPr>
            <a:r>
              <a:rPr lang="en-US" sz="1725" dirty="0">
                <a:solidFill>
                  <a:srgbClr val="FFD9C2"/>
                </a:solidFill>
                <a:latin typeface="Arial" pitchFamily="34" charset="0"/>
                <a:ea typeface="Arial" pitchFamily="34" charset="-122"/>
                <a:cs typeface="Arial" pitchFamily="34" charset="-120"/>
              </a:rPr>
              <a:t>source of truth — no interpretation, no drift, no "is this correct?"</a:t>
            </a:r>
            <a:endParaRPr lang="en-US" sz="17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333500" y="3109674"/>
            <a:ext cx="17183100" cy="209550"/>
          </a:xfrm>
          <a:prstGeom prst="rect">
            <a:avLst/>
          </a:prstGeom>
          <a:noFill/>
          <a:ln/>
        </p:spPr>
        <p:txBody>
          <a:bodyPr wrap="square" lIns="25400" tIns="25400" rIns="25400" bIns="25400" rtlCol="0" anchor="t">
            <a:normAutofit/>
          </a:bodyPr>
          <a:lstStyle/>
          <a:p>
            <a:pPr algn="l" indent="0" marL="0">
              <a:buNone/>
            </a:pPr>
            <a:r>
              <a:rPr lang="en-US" sz="1200" b="1" spc="240" kern="0" dirty="0">
                <a:solidFill>
                  <a:srgbClr val="9297A0"/>
                </a:solidFill>
                <a:latin typeface="Arial" pitchFamily="34" charset="0"/>
                <a:ea typeface="Arial" pitchFamily="34" charset="-122"/>
                <a:cs typeface="Arial" pitchFamily="34" charset="-120"/>
              </a:rPr>
              <a:t>IF WE TRIED IT · THE FUTURE FLOW</a:t>
            </a:r>
            <a:endParaRPr lang="en-US" sz="1200" dirty="0"/>
          </a:p>
        </p:txBody>
      </p:sp>
      <p:sp>
        <p:nvSpPr>
          <p:cNvPr id="3" name="Text 1"/>
          <p:cNvSpPr/>
          <p:nvPr/>
        </p:nvSpPr>
        <p:spPr>
          <a:xfrm>
            <a:off x="1333500" y="3547824"/>
            <a:ext cx="17183100" cy="655320"/>
          </a:xfrm>
          <a:prstGeom prst="rect">
            <a:avLst/>
          </a:prstGeom>
          <a:noFill/>
          <a:ln/>
        </p:spPr>
        <p:txBody>
          <a:bodyPr wrap="square" lIns="25400" tIns="25400" rIns="25400" bIns="25400" rtlCol="0" anchor="t">
            <a:normAutofit/>
          </a:bodyPr>
          <a:lstStyle/>
          <a:p>
            <a:pPr algn="l" indent="0" marL="0">
              <a:lnSpc>
                <a:spcPct val="93642"/>
              </a:lnSpc>
              <a:buNone/>
            </a:pPr>
            <a:r>
              <a:rPr lang="en-US" sz="4500" spc="-67" kern="0" dirty="0">
                <a:solidFill>
                  <a:srgbClr val="181D26"/>
                </a:solidFill>
                <a:latin typeface="Arial" pitchFamily="34" charset="0"/>
                <a:ea typeface="Arial" pitchFamily="34" charset="-122"/>
                <a:cs typeface="Arial" pitchFamily="34" charset="-120"/>
              </a:rPr>
              <a:t>One direction — and review on the real thing.</a:t>
            </a:r>
            <a:endParaRPr lang="en-US" sz="4500" dirty="0"/>
          </a:p>
        </p:txBody>
      </p:sp>
      <p:sp>
        <p:nvSpPr>
          <p:cNvPr id="4" name="Text 2"/>
          <p:cNvSpPr/>
          <p:nvPr/>
        </p:nvSpPr>
        <p:spPr>
          <a:xfrm>
            <a:off x="1333500" y="4736544"/>
            <a:ext cx="2008144"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1</a:t>
            </a:r>
            <a:endParaRPr lang="en-US" sz="1650" dirty="0"/>
          </a:p>
        </p:txBody>
      </p:sp>
      <p:sp>
        <p:nvSpPr>
          <p:cNvPr id="5" name="Text 3"/>
          <p:cNvSpPr/>
          <p:nvPr/>
        </p:nvSpPr>
        <p:spPr>
          <a:xfrm>
            <a:off x="1333500" y="5132784"/>
            <a:ext cx="2008144" cy="335756"/>
          </a:xfrm>
          <a:prstGeom prst="rect">
            <a:avLst/>
          </a:prstGeom>
          <a:noFill/>
          <a:ln/>
        </p:spPr>
        <p:txBody>
          <a:bodyPr wrap="square" lIns="25400" tIns="25400" rIns="25400" bIns="25400" rtlCol="0" anchor="t">
            <a:normAutofit/>
          </a:bodyPr>
          <a:lstStyle/>
          <a:p>
            <a:pPr algn="l" indent="0" marL="0">
              <a:lnSpc>
                <a:spcPct val="108507"/>
              </a:lnSpc>
              <a:buNone/>
            </a:pPr>
            <a:r>
              <a:rPr lang="en-US" sz="1875" dirty="0">
                <a:solidFill>
                  <a:srgbClr val="181D26"/>
                </a:solidFill>
                <a:latin typeface="Arial" pitchFamily="34" charset="0"/>
                <a:ea typeface="Arial" pitchFamily="34" charset="-122"/>
                <a:cs typeface="Arial" pitchFamily="34" charset="-120"/>
              </a:rPr>
              <a:t>Designer intent</a:t>
            </a:r>
            <a:endParaRPr lang="en-US" sz="1875" dirty="0"/>
          </a:p>
        </p:txBody>
      </p:sp>
      <p:sp>
        <p:nvSpPr>
          <p:cNvPr id="6" name="Text 4"/>
          <p:cNvSpPr/>
          <p:nvPr/>
        </p:nvSpPr>
        <p:spPr>
          <a:xfrm>
            <a:off x="3501985" y="5081826"/>
            <a:ext cx="287655" cy="339090"/>
          </a:xfrm>
          <a:prstGeom prst="rect">
            <a:avLst/>
          </a:prstGeom>
          <a:noFill/>
          <a:ln/>
        </p:spPr>
        <p:txBody>
          <a:bodyPr wrap="square" lIns="25400" tIns="25400" rIns="25400" bIns="25400" rtlCol="0" anchor="t">
            <a:normAutofit/>
          </a:bodyPr>
          <a:lstStyle/>
          <a:p>
            <a:pPr algn="l" indent="0" marL="0">
              <a:buNone/>
            </a:pPr>
            <a:r>
              <a:rPr lang="en-US" sz="1950" dirty="0">
                <a:solidFill>
                  <a:srgbClr val="C7CBD1"/>
                </a:solidFill>
                <a:latin typeface="Arial" pitchFamily="34" charset="0"/>
                <a:ea typeface="Arial" pitchFamily="34" charset="-122"/>
                <a:cs typeface="Arial" pitchFamily="34" charset="-120"/>
              </a:rPr>
              <a:t>→</a:t>
            </a:r>
            <a:endParaRPr lang="en-US" sz="1950" dirty="0"/>
          </a:p>
        </p:txBody>
      </p:sp>
      <p:sp>
        <p:nvSpPr>
          <p:cNvPr id="7" name="Text 5"/>
          <p:cNvSpPr/>
          <p:nvPr/>
        </p:nvSpPr>
        <p:spPr>
          <a:xfrm>
            <a:off x="4092535" y="4736544"/>
            <a:ext cx="2008209"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2</a:t>
            </a:r>
            <a:endParaRPr lang="en-US" sz="1650" dirty="0"/>
          </a:p>
        </p:txBody>
      </p:sp>
      <p:sp>
        <p:nvSpPr>
          <p:cNvPr id="8" name="Text 6"/>
          <p:cNvSpPr/>
          <p:nvPr/>
        </p:nvSpPr>
        <p:spPr>
          <a:xfrm>
            <a:off x="4092535" y="5132784"/>
            <a:ext cx="2008209" cy="335756"/>
          </a:xfrm>
          <a:prstGeom prst="rect">
            <a:avLst/>
          </a:prstGeom>
          <a:noFill/>
          <a:ln/>
        </p:spPr>
        <p:txBody>
          <a:bodyPr wrap="square" lIns="25400" tIns="25400" rIns="25400" bIns="25400" rtlCol="0" anchor="t">
            <a:normAutofit/>
          </a:bodyPr>
          <a:lstStyle/>
          <a:p>
            <a:pPr algn="l" indent="0" marL="0">
              <a:lnSpc>
                <a:spcPct val="108507"/>
              </a:lnSpc>
              <a:buNone/>
            </a:pPr>
            <a:r>
              <a:rPr lang="en-US" sz="1875" dirty="0">
                <a:solidFill>
                  <a:srgbClr val="181D26"/>
                </a:solidFill>
                <a:latin typeface="Arial" pitchFamily="34" charset="0"/>
                <a:ea typeface="Arial" pitchFamily="34" charset="-122"/>
                <a:cs typeface="Arial" pitchFamily="34" charset="-120"/>
              </a:rPr>
              <a:t>AI</a:t>
            </a:r>
            <a:endParaRPr lang="en-US" sz="1875" dirty="0"/>
          </a:p>
        </p:txBody>
      </p:sp>
      <p:sp>
        <p:nvSpPr>
          <p:cNvPr id="9" name="Text 7"/>
          <p:cNvSpPr/>
          <p:nvPr/>
        </p:nvSpPr>
        <p:spPr>
          <a:xfrm>
            <a:off x="6261080" y="5081826"/>
            <a:ext cx="287655" cy="339090"/>
          </a:xfrm>
          <a:prstGeom prst="rect">
            <a:avLst/>
          </a:prstGeom>
          <a:noFill/>
          <a:ln/>
        </p:spPr>
        <p:txBody>
          <a:bodyPr wrap="square" lIns="25400" tIns="25400" rIns="25400" bIns="25400" rtlCol="0" anchor="t">
            <a:normAutofit/>
          </a:bodyPr>
          <a:lstStyle/>
          <a:p>
            <a:pPr algn="l" indent="0" marL="0">
              <a:buNone/>
            </a:pPr>
            <a:r>
              <a:rPr lang="en-US" sz="1950" dirty="0">
                <a:solidFill>
                  <a:srgbClr val="C7CBD1"/>
                </a:solidFill>
                <a:latin typeface="Arial" pitchFamily="34" charset="0"/>
                <a:ea typeface="Arial" pitchFamily="34" charset="-122"/>
                <a:cs typeface="Arial" pitchFamily="34" charset="-120"/>
              </a:rPr>
              <a:t>→</a:t>
            </a:r>
            <a:endParaRPr lang="en-US" sz="1950" dirty="0"/>
          </a:p>
        </p:txBody>
      </p:sp>
      <p:sp>
        <p:nvSpPr>
          <p:cNvPr id="10" name="Text 8"/>
          <p:cNvSpPr/>
          <p:nvPr/>
        </p:nvSpPr>
        <p:spPr>
          <a:xfrm>
            <a:off x="6851630" y="4736544"/>
            <a:ext cx="2008144"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3</a:t>
            </a:r>
            <a:endParaRPr lang="en-US" sz="1650" dirty="0"/>
          </a:p>
        </p:txBody>
      </p:sp>
      <p:sp>
        <p:nvSpPr>
          <p:cNvPr id="11" name="Text 9"/>
          <p:cNvSpPr/>
          <p:nvPr/>
        </p:nvSpPr>
        <p:spPr>
          <a:xfrm>
            <a:off x="6851630" y="5132784"/>
            <a:ext cx="2008144" cy="335756"/>
          </a:xfrm>
          <a:prstGeom prst="rect">
            <a:avLst/>
          </a:prstGeom>
          <a:noFill/>
          <a:ln/>
        </p:spPr>
        <p:txBody>
          <a:bodyPr wrap="square" lIns="25400" tIns="25400" rIns="25400" bIns="25400" rtlCol="0" anchor="t">
            <a:normAutofit/>
          </a:bodyPr>
          <a:lstStyle/>
          <a:p>
            <a:pPr algn="l" indent="0" marL="0">
              <a:lnSpc>
                <a:spcPct val="108507"/>
              </a:lnSpc>
              <a:buNone/>
            </a:pPr>
            <a:r>
              <a:rPr lang="en-US" sz="1875" dirty="0">
                <a:solidFill>
                  <a:srgbClr val="181D26"/>
                </a:solidFill>
                <a:latin typeface="Arial" pitchFamily="34" charset="0"/>
                <a:ea typeface="Arial" pitchFamily="34" charset="-122"/>
                <a:cs typeface="Arial" pitchFamily="34" charset="-120"/>
              </a:rPr>
              <a:t>MCP registry</a:t>
            </a:r>
            <a:endParaRPr lang="en-US" sz="1875" dirty="0"/>
          </a:p>
        </p:txBody>
      </p:sp>
      <p:sp>
        <p:nvSpPr>
          <p:cNvPr id="12" name="Text 10"/>
          <p:cNvSpPr/>
          <p:nvPr/>
        </p:nvSpPr>
        <p:spPr>
          <a:xfrm>
            <a:off x="9020116" y="5081826"/>
            <a:ext cx="287655" cy="339090"/>
          </a:xfrm>
          <a:prstGeom prst="rect">
            <a:avLst/>
          </a:prstGeom>
          <a:noFill/>
          <a:ln/>
        </p:spPr>
        <p:txBody>
          <a:bodyPr wrap="square" lIns="25400" tIns="25400" rIns="25400" bIns="25400" rtlCol="0" anchor="t">
            <a:normAutofit/>
          </a:bodyPr>
          <a:lstStyle/>
          <a:p>
            <a:pPr algn="l" indent="0" marL="0">
              <a:buNone/>
            </a:pPr>
            <a:r>
              <a:rPr lang="en-US" sz="1950" dirty="0">
                <a:solidFill>
                  <a:srgbClr val="C7CBD1"/>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9610666" y="4736544"/>
            <a:ext cx="2008209"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4</a:t>
            </a:r>
            <a:endParaRPr lang="en-US" sz="1650" dirty="0"/>
          </a:p>
        </p:txBody>
      </p:sp>
      <p:sp>
        <p:nvSpPr>
          <p:cNvPr id="14" name="Text 12"/>
          <p:cNvSpPr/>
          <p:nvPr/>
        </p:nvSpPr>
        <p:spPr>
          <a:xfrm>
            <a:off x="9610666" y="5132784"/>
            <a:ext cx="1901845" cy="633412"/>
          </a:xfrm>
          <a:prstGeom prst="rect">
            <a:avLst/>
          </a:prstGeom>
          <a:noFill/>
          <a:ln/>
        </p:spPr>
        <p:txBody>
          <a:bodyPr wrap="square" lIns="25400" tIns="25400" rIns="25400" bIns="25400" rtlCol="0" anchor="t">
            <a:normAutofit/>
          </a:bodyPr>
          <a:lstStyle/>
          <a:p>
            <a:pPr algn="l" indent="0" marL="0">
              <a:lnSpc>
                <a:spcPct val="108507"/>
              </a:lnSpc>
              <a:buNone/>
            </a:pPr>
            <a:r>
              <a:rPr lang="en-US" sz="1875" dirty="0">
                <a:solidFill>
                  <a:srgbClr val="181D26"/>
                </a:solidFill>
                <a:latin typeface="Arial" pitchFamily="34" charset="0"/>
                <a:ea typeface="Arial" pitchFamily="34" charset="-122"/>
                <a:cs typeface="Arial" pitchFamily="34" charset="-120"/>
              </a:rPr>
              <a:t>Production component</a:t>
            </a:r>
            <a:endParaRPr lang="en-US" sz="1875" dirty="0"/>
          </a:p>
        </p:txBody>
      </p:sp>
      <p:sp>
        <p:nvSpPr>
          <p:cNvPr id="15" name="Text 13"/>
          <p:cNvSpPr/>
          <p:nvPr/>
        </p:nvSpPr>
        <p:spPr>
          <a:xfrm>
            <a:off x="11779210" y="5081826"/>
            <a:ext cx="287655" cy="339090"/>
          </a:xfrm>
          <a:prstGeom prst="rect">
            <a:avLst/>
          </a:prstGeom>
          <a:noFill/>
          <a:ln/>
        </p:spPr>
        <p:txBody>
          <a:bodyPr wrap="square" lIns="25400" tIns="25400" rIns="25400" bIns="25400" rtlCol="0" anchor="t">
            <a:normAutofit/>
          </a:bodyPr>
          <a:lstStyle/>
          <a:p>
            <a:pPr algn="l" indent="0" marL="0">
              <a:buNone/>
            </a:pPr>
            <a:r>
              <a:rPr lang="en-US" sz="1950" dirty="0">
                <a:solidFill>
                  <a:srgbClr val="C7CBD1"/>
                </a:solidFill>
                <a:latin typeface="Arial" pitchFamily="34" charset="0"/>
                <a:ea typeface="Arial" pitchFamily="34" charset="-122"/>
                <a:cs typeface="Arial" pitchFamily="34" charset="-120"/>
              </a:rPr>
              <a:t>→</a:t>
            </a:r>
            <a:endParaRPr lang="en-US" sz="1950" dirty="0"/>
          </a:p>
        </p:txBody>
      </p:sp>
      <p:sp>
        <p:nvSpPr>
          <p:cNvPr id="16" name="Text 14"/>
          <p:cNvSpPr/>
          <p:nvPr/>
        </p:nvSpPr>
        <p:spPr>
          <a:xfrm>
            <a:off x="12369760" y="4736544"/>
            <a:ext cx="2008209"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5</a:t>
            </a:r>
            <a:endParaRPr lang="en-US" sz="1650" dirty="0"/>
          </a:p>
        </p:txBody>
      </p:sp>
      <p:sp>
        <p:nvSpPr>
          <p:cNvPr id="17" name="Text 15"/>
          <p:cNvSpPr/>
          <p:nvPr/>
        </p:nvSpPr>
        <p:spPr>
          <a:xfrm>
            <a:off x="12369760" y="5132784"/>
            <a:ext cx="1901845" cy="633412"/>
          </a:xfrm>
          <a:prstGeom prst="rect">
            <a:avLst/>
          </a:prstGeom>
          <a:noFill/>
          <a:ln/>
        </p:spPr>
        <p:txBody>
          <a:bodyPr wrap="square" lIns="25400" tIns="25400" rIns="25400" bIns="25400" rtlCol="0" anchor="t">
            <a:normAutofit/>
          </a:bodyPr>
          <a:lstStyle/>
          <a:p>
            <a:pPr algn="l" indent="0" marL="0">
              <a:lnSpc>
                <a:spcPct val="108507"/>
              </a:lnSpc>
              <a:buNone/>
            </a:pPr>
            <a:r>
              <a:rPr lang="en-US" sz="1875" dirty="0">
                <a:solidFill>
                  <a:srgbClr val="181D26"/>
                </a:solidFill>
                <a:latin typeface="Arial" pitchFamily="34" charset="0"/>
                <a:ea typeface="Arial" pitchFamily="34" charset="-122"/>
                <a:cs typeface="Arial" pitchFamily="34" charset="-120"/>
              </a:rPr>
              <a:t>Team reviews on staging</a:t>
            </a:r>
            <a:endParaRPr lang="en-US" sz="1875" dirty="0"/>
          </a:p>
        </p:txBody>
      </p:sp>
      <p:sp>
        <p:nvSpPr>
          <p:cNvPr id="18" name="Text 16"/>
          <p:cNvSpPr/>
          <p:nvPr/>
        </p:nvSpPr>
        <p:spPr>
          <a:xfrm>
            <a:off x="14538306" y="5081826"/>
            <a:ext cx="287655" cy="339090"/>
          </a:xfrm>
          <a:prstGeom prst="rect">
            <a:avLst/>
          </a:prstGeom>
          <a:noFill/>
          <a:ln/>
        </p:spPr>
        <p:txBody>
          <a:bodyPr wrap="square" lIns="25400" tIns="25400" rIns="25400" bIns="25400" rtlCol="0" anchor="t">
            <a:normAutofit/>
          </a:bodyPr>
          <a:lstStyle/>
          <a:p>
            <a:pPr algn="l" indent="0" marL="0">
              <a:buNone/>
            </a:pPr>
            <a:r>
              <a:rPr lang="en-US" sz="1950" dirty="0">
                <a:solidFill>
                  <a:srgbClr val="C7CBD1"/>
                </a:solidFill>
                <a:latin typeface="Arial" pitchFamily="34" charset="0"/>
                <a:ea typeface="Arial" pitchFamily="34" charset="-122"/>
                <a:cs typeface="Arial" pitchFamily="34" charset="-120"/>
              </a:rPr>
              <a:t>→</a:t>
            </a:r>
            <a:endParaRPr lang="en-US" sz="1950" dirty="0"/>
          </a:p>
        </p:txBody>
      </p:sp>
      <p:sp>
        <p:nvSpPr>
          <p:cNvPr id="19" name="Text 17"/>
          <p:cNvSpPr/>
          <p:nvPr/>
        </p:nvSpPr>
        <p:spPr>
          <a:xfrm>
            <a:off x="15128856" y="4736544"/>
            <a:ext cx="2008209"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6</a:t>
            </a:r>
            <a:endParaRPr lang="en-US" sz="1650" dirty="0"/>
          </a:p>
        </p:txBody>
      </p:sp>
      <p:sp>
        <p:nvSpPr>
          <p:cNvPr id="20" name="Text 18"/>
          <p:cNvSpPr/>
          <p:nvPr/>
        </p:nvSpPr>
        <p:spPr>
          <a:xfrm>
            <a:off x="15128856" y="5132784"/>
            <a:ext cx="2008209" cy="335756"/>
          </a:xfrm>
          <a:prstGeom prst="rect">
            <a:avLst/>
          </a:prstGeom>
          <a:noFill/>
          <a:ln/>
        </p:spPr>
        <p:txBody>
          <a:bodyPr wrap="square" lIns="25400" tIns="25400" rIns="25400" bIns="25400" rtlCol="0" anchor="t">
            <a:normAutofit/>
          </a:bodyPr>
          <a:lstStyle/>
          <a:p>
            <a:pPr algn="l" indent="0" marL="0">
              <a:lnSpc>
                <a:spcPct val="108507"/>
              </a:lnSpc>
              <a:buNone/>
            </a:pPr>
            <a:r>
              <a:rPr lang="en-US" sz="1875" dirty="0">
                <a:solidFill>
                  <a:srgbClr val="181D26"/>
                </a:solidFill>
                <a:latin typeface="Arial" pitchFamily="34" charset="0"/>
                <a:ea typeface="Arial" pitchFamily="34" charset="-122"/>
                <a:cs typeface="Arial" pitchFamily="34" charset="-120"/>
              </a:rPr>
              <a:t>Ship</a:t>
            </a:r>
            <a:endParaRPr lang="en-US" sz="1875" dirty="0"/>
          </a:p>
        </p:txBody>
      </p:sp>
      <p:sp>
        <p:nvSpPr>
          <p:cNvPr id="21" name="Shape 19"/>
          <p:cNvSpPr/>
          <p:nvPr/>
        </p:nvSpPr>
        <p:spPr>
          <a:xfrm>
            <a:off x="1333500" y="6261497"/>
            <a:ext cx="15621000" cy="9525"/>
          </a:xfrm>
          <a:prstGeom prst="rect">
            <a:avLst/>
          </a:prstGeom>
          <a:solidFill>
            <a:srgbClr val="E0E2E6"/>
          </a:solidFill>
          <a:ln/>
        </p:spPr>
      </p:sp>
      <p:sp>
        <p:nvSpPr>
          <p:cNvPr id="22" name="Text 20"/>
          <p:cNvSpPr/>
          <p:nvPr/>
        </p:nvSpPr>
        <p:spPr>
          <a:xfrm>
            <a:off x="1333500" y="6804422"/>
            <a:ext cx="14668500" cy="411004"/>
          </a:xfrm>
          <a:prstGeom prst="rect">
            <a:avLst/>
          </a:prstGeom>
          <a:noFill/>
          <a:ln/>
        </p:spPr>
        <p:txBody>
          <a:bodyPr wrap="square" lIns="25400" tIns="25400" rIns="25400" bIns="25400" rtlCol="0" anchor="t">
            <a:normAutofit/>
          </a:bodyPr>
          <a:lstStyle/>
          <a:p>
            <a:pPr algn="l" indent="0" marL="0">
              <a:lnSpc>
                <a:spcPct val="127110"/>
              </a:lnSpc>
              <a:buNone/>
            </a:pPr>
            <a:r>
              <a:rPr lang="en-US" sz="2025" dirty="0">
                <a:solidFill>
                  <a:srgbClr val="333840"/>
                </a:solidFill>
                <a:latin typeface="Arial" pitchFamily="34" charset="0"/>
                <a:ea typeface="Arial" pitchFamily="34" charset="-122"/>
                <a:cs typeface="Arial" pitchFamily="34" charset="-120"/>
              </a:rPr>
              <a:t>No loop back. Review happens on staging — the team evaluates the real thing, not a translation of it.</a:t>
            </a:r>
            <a:endParaRPr lang="en-US" sz="20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333500" y="2044065"/>
            <a:ext cx="17183100" cy="209550"/>
          </a:xfrm>
          <a:prstGeom prst="rect">
            <a:avLst/>
          </a:prstGeom>
          <a:noFill/>
          <a:ln/>
        </p:spPr>
        <p:txBody>
          <a:bodyPr wrap="square" lIns="25400" tIns="25400" rIns="25400" bIns="25400" rtlCol="0" anchor="t">
            <a:normAutofit/>
          </a:bodyPr>
          <a:lstStyle/>
          <a:p>
            <a:pPr algn="l" indent="0" marL="0">
              <a:buNone/>
            </a:pPr>
            <a:r>
              <a:rPr lang="en-US" sz="1200" b="1" spc="240" kern="0" dirty="0">
                <a:solidFill>
                  <a:srgbClr val="9297A0"/>
                </a:solidFill>
                <a:latin typeface="Arial" pitchFamily="34" charset="0"/>
                <a:ea typeface="Arial" pitchFamily="34" charset="-122"/>
                <a:cs typeface="Arial" pitchFamily="34" charset="-120"/>
              </a:rPr>
              <a:t>THE PAYOFF</a:t>
            </a:r>
            <a:endParaRPr lang="en-US" sz="1200" dirty="0"/>
          </a:p>
        </p:txBody>
      </p:sp>
      <p:sp>
        <p:nvSpPr>
          <p:cNvPr id="3" name="Text 1"/>
          <p:cNvSpPr/>
          <p:nvPr/>
        </p:nvSpPr>
        <p:spPr>
          <a:xfrm>
            <a:off x="1333500" y="2482215"/>
            <a:ext cx="12753975" cy="1272540"/>
          </a:xfrm>
          <a:prstGeom prst="rect">
            <a:avLst/>
          </a:prstGeom>
          <a:noFill/>
          <a:ln/>
        </p:spPr>
        <p:txBody>
          <a:bodyPr wrap="square" lIns="25400" tIns="25400" rIns="25400" bIns="25400" rtlCol="0" anchor="t">
            <a:normAutofit/>
          </a:bodyPr>
          <a:lstStyle/>
          <a:p>
            <a:pPr algn="l" indent="0" marL="0">
              <a:lnSpc>
                <a:spcPct val="93642"/>
              </a:lnSpc>
              <a:buNone/>
            </a:pPr>
            <a:r>
              <a:rPr lang="en-US" sz="4500" spc="-67" kern="0" dirty="0">
                <a:solidFill>
                  <a:srgbClr val="181D26"/>
                </a:solidFill>
                <a:latin typeface="Arial" pitchFamily="34" charset="0"/>
                <a:ea typeface="Arial" pitchFamily="34" charset="-122"/>
                <a:cs typeface="Arial" pitchFamily="34" charset="-120"/>
              </a:rPr>
              <a:t>The hours don't disappear — they move up the ladder.</a:t>
            </a:r>
            <a:endParaRPr lang="en-US" sz="4500" dirty="0"/>
          </a:p>
        </p:txBody>
      </p:sp>
      <p:sp>
        <p:nvSpPr>
          <p:cNvPr id="4" name="Shape 2"/>
          <p:cNvSpPr/>
          <p:nvPr/>
        </p:nvSpPr>
        <p:spPr>
          <a:xfrm>
            <a:off x="1333500" y="4211955"/>
            <a:ext cx="7334250" cy="708660"/>
          </a:xfrm>
          <a:prstGeom prst="roundRect">
            <a:avLst>
              <a:gd name="adj" fmla="val 13441"/>
            </a:avLst>
          </a:prstGeom>
          <a:solidFill>
            <a:srgbClr val="181D26"/>
          </a:solidFill>
          <a:ln/>
        </p:spPr>
      </p:sp>
      <p:sp>
        <p:nvSpPr>
          <p:cNvPr id="5" name="Text 3"/>
          <p:cNvSpPr/>
          <p:nvPr/>
        </p:nvSpPr>
        <p:spPr>
          <a:xfrm>
            <a:off x="1619250" y="4421505"/>
            <a:ext cx="1761137" cy="327660"/>
          </a:xfrm>
          <a:prstGeom prst="rect">
            <a:avLst/>
          </a:prstGeom>
          <a:noFill/>
          <a:ln/>
        </p:spPr>
        <p:txBody>
          <a:bodyPr wrap="square" lIns="25400" tIns="25400" rIns="25400" bIns="25400" rtlCol="0" anchor="t">
            <a:normAutofit/>
          </a:bodyPr>
          <a:lstStyle/>
          <a:p>
            <a:pPr algn="l" indent="0" marL="0">
              <a:buNone/>
            </a:pPr>
            <a:r>
              <a:rPr lang="en-US" sz="1875" dirty="0">
                <a:solidFill>
                  <a:srgbClr val="FFFFFF"/>
                </a:solidFill>
                <a:latin typeface="Arial" pitchFamily="34" charset="0"/>
                <a:ea typeface="Arial" pitchFamily="34" charset="-122"/>
                <a:cs typeface="Arial" pitchFamily="34" charset="-120"/>
              </a:rPr>
              <a:t>Pages &amp; flows</a:t>
            </a:r>
            <a:endParaRPr lang="en-US" sz="1875" dirty="0"/>
          </a:p>
        </p:txBody>
      </p:sp>
      <p:sp>
        <p:nvSpPr>
          <p:cNvPr id="6" name="Text 4"/>
          <p:cNvSpPr/>
          <p:nvPr/>
        </p:nvSpPr>
        <p:spPr>
          <a:xfrm>
            <a:off x="7330440" y="4480560"/>
            <a:ext cx="1127760" cy="209550"/>
          </a:xfrm>
          <a:prstGeom prst="rect">
            <a:avLst/>
          </a:prstGeom>
          <a:noFill/>
          <a:ln/>
        </p:spPr>
        <p:txBody>
          <a:bodyPr wrap="square" lIns="25400" tIns="25400" rIns="25400" bIns="25400" rtlCol="0" anchor="t">
            <a:normAutofit/>
          </a:bodyPr>
          <a:lstStyle/>
          <a:p>
            <a:pPr algn="l" indent="0" marL="0">
              <a:buNone/>
            </a:pPr>
            <a:r>
              <a:rPr lang="en-US" sz="1200" b="1" spc="120" kern="0" dirty="0">
                <a:solidFill>
                  <a:srgbClr val="FCAB79"/>
                </a:solidFill>
                <a:latin typeface="Arial" pitchFamily="34" charset="0"/>
                <a:ea typeface="Arial" pitchFamily="34" charset="-122"/>
                <a:cs typeface="Arial" pitchFamily="34" charset="-120"/>
              </a:rPr>
              <a:t>OUR FOCUS</a:t>
            </a:r>
            <a:endParaRPr lang="en-US" sz="1200" dirty="0"/>
          </a:p>
        </p:txBody>
      </p:sp>
      <p:sp>
        <p:nvSpPr>
          <p:cNvPr id="7" name="Shape 5"/>
          <p:cNvSpPr/>
          <p:nvPr/>
        </p:nvSpPr>
        <p:spPr>
          <a:xfrm>
            <a:off x="1333500" y="5034915"/>
            <a:ext cx="7334250" cy="708660"/>
          </a:xfrm>
          <a:prstGeom prst="roundRect">
            <a:avLst>
              <a:gd name="adj" fmla="val 13441"/>
            </a:avLst>
          </a:prstGeom>
          <a:solidFill>
            <a:srgbClr val="181D26"/>
          </a:solidFill>
          <a:ln/>
        </p:spPr>
      </p:sp>
      <p:sp>
        <p:nvSpPr>
          <p:cNvPr id="8" name="Text 6"/>
          <p:cNvSpPr/>
          <p:nvPr/>
        </p:nvSpPr>
        <p:spPr>
          <a:xfrm>
            <a:off x="1619250" y="5244465"/>
            <a:ext cx="1253609" cy="327660"/>
          </a:xfrm>
          <a:prstGeom prst="rect">
            <a:avLst/>
          </a:prstGeom>
          <a:noFill/>
          <a:ln/>
        </p:spPr>
        <p:txBody>
          <a:bodyPr wrap="square" lIns="25400" tIns="25400" rIns="25400" bIns="25400" rtlCol="0" anchor="t">
            <a:normAutofit/>
          </a:bodyPr>
          <a:lstStyle/>
          <a:p>
            <a:pPr algn="l" indent="0" marL="0">
              <a:buNone/>
            </a:pPr>
            <a:r>
              <a:rPr lang="en-US" sz="1875" dirty="0">
                <a:solidFill>
                  <a:srgbClr val="FFFFFF"/>
                </a:solidFill>
                <a:latin typeface="Arial" pitchFamily="34" charset="0"/>
                <a:ea typeface="Arial" pitchFamily="34" charset="-122"/>
                <a:cs typeface="Arial" pitchFamily="34" charset="-120"/>
              </a:rPr>
              <a:t>Templates</a:t>
            </a:r>
            <a:endParaRPr lang="en-US" sz="1875" dirty="0"/>
          </a:p>
        </p:txBody>
      </p:sp>
      <p:sp>
        <p:nvSpPr>
          <p:cNvPr id="9" name="Text 7"/>
          <p:cNvSpPr/>
          <p:nvPr/>
        </p:nvSpPr>
        <p:spPr>
          <a:xfrm>
            <a:off x="7330440" y="5303520"/>
            <a:ext cx="1127760" cy="209550"/>
          </a:xfrm>
          <a:prstGeom prst="rect">
            <a:avLst/>
          </a:prstGeom>
          <a:noFill/>
          <a:ln/>
        </p:spPr>
        <p:txBody>
          <a:bodyPr wrap="square" lIns="25400" tIns="25400" rIns="25400" bIns="25400" rtlCol="0" anchor="t">
            <a:normAutofit/>
          </a:bodyPr>
          <a:lstStyle/>
          <a:p>
            <a:pPr algn="l" indent="0" marL="0">
              <a:buNone/>
            </a:pPr>
            <a:r>
              <a:rPr lang="en-US" sz="1200" b="1" spc="120" kern="0" dirty="0">
                <a:solidFill>
                  <a:srgbClr val="FCAB79"/>
                </a:solidFill>
                <a:latin typeface="Arial" pitchFamily="34" charset="0"/>
                <a:ea typeface="Arial" pitchFamily="34" charset="-122"/>
                <a:cs typeface="Arial" pitchFamily="34" charset="-120"/>
              </a:rPr>
              <a:t>OUR FOCUS</a:t>
            </a:r>
            <a:endParaRPr lang="en-US" sz="1200" dirty="0"/>
          </a:p>
        </p:txBody>
      </p:sp>
      <p:sp>
        <p:nvSpPr>
          <p:cNvPr id="10" name="Shape 8"/>
          <p:cNvSpPr/>
          <p:nvPr/>
        </p:nvSpPr>
        <p:spPr>
          <a:xfrm>
            <a:off x="1333500" y="5857875"/>
            <a:ext cx="7334250" cy="708660"/>
          </a:xfrm>
          <a:prstGeom prst="roundRect">
            <a:avLst>
              <a:gd name="adj" fmla="val 13441"/>
            </a:avLst>
          </a:prstGeom>
          <a:solidFill>
            <a:srgbClr val="3A3F47"/>
          </a:solidFill>
          <a:ln/>
        </p:spPr>
      </p:sp>
      <p:sp>
        <p:nvSpPr>
          <p:cNvPr id="11" name="Text 9"/>
          <p:cNvSpPr/>
          <p:nvPr/>
        </p:nvSpPr>
        <p:spPr>
          <a:xfrm>
            <a:off x="1619250" y="6067425"/>
            <a:ext cx="1346359" cy="327660"/>
          </a:xfrm>
          <a:prstGeom prst="rect">
            <a:avLst/>
          </a:prstGeom>
          <a:noFill/>
          <a:ln/>
        </p:spPr>
        <p:txBody>
          <a:bodyPr wrap="square" lIns="25400" tIns="25400" rIns="25400" bIns="25400" rtlCol="0" anchor="t">
            <a:normAutofit/>
          </a:bodyPr>
          <a:lstStyle/>
          <a:p>
            <a:pPr algn="l" indent="0" marL="0">
              <a:buNone/>
            </a:pPr>
            <a:r>
              <a:rPr lang="en-US" sz="1875" dirty="0">
                <a:solidFill>
                  <a:srgbClr val="FFFFFF"/>
                </a:solidFill>
                <a:latin typeface="Arial" pitchFamily="34" charset="0"/>
                <a:ea typeface="Arial" pitchFamily="34" charset="-122"/>
                <a:cs typeface="Arial" pitchFamily="34" charset="-120"/>
              </a:rPr>
              <a:t>Organisms</a:t>
            </a:r>
            <a:endParaRPr lang="en-US" sz="1875" dirty="0"/>
          </a:p>
        </p:txBody>
      </p:sp>
      <p:sp>
        <p:nvSpPr>
          <p:cNvPr id="12" name="Text 10"/>
          <p:cNvSpPr/>
          <p:nvPr/>
        </p:nvSpPr>
        <p:spPr>
          <a:xfrm>
            <a:off x="7230487" y="6126480"/>
            <a:ext cx="1227713" cy="209550"/>
          </a:xfrm>
          <a:prstGeom prst="rect">
            <a:avLst/>
          </a:prstGeom>
          <a:noFill/>
          <a:ln/>
        </p:spPr>
        <p:txBody>
          <a:bodyPr wrap="square" lIns="25400" tIns="25400" rIns="25400" bIns="25400" rtlCol="0" anchor="t">
            <a:normAutofit/>
          </a:bodyPr>
          <a:lstStyle/>
          <a:p>
            <a:pPr algn="l" indent="0" marL="0">
              <a:buNone/>
            </a:pPr>
            <a:r>
              <a:rPr lang="en-US" sz="1200" b="1" spc="120" kern="0" dirty="0">
                <a:solidFill>
                  <a:srgbClr val="FCAB79"/>
                </a:solidFill>
                <a:latin typeface="Arial" pitchFamily="34" charset="0"/>
                <a:ea typeface="Arial" pitchFamily="34" charset="-122"/>
                <a:cs typeface="Arial" pitchFamily="34" charset="-120"/>
              </a:rPr>
              <a:t>OFTEN OURS</a:t>
            </a:r>
            <a:endParaRPr lang="en-US" sz="1200" dirty="0"/>
          </a:p>
        </p:txBody>
      </p:sp>
      <p:sp>
        <p:nvSpPr>
          <p:cNvPr id="13" name="Shape 11"/>
          <p:cNvSpPr/>
          <p:nvPr/>
        </p:nvSpPr>
        <p:spPr>
          <a:xfrm>
            <a:off x="1333500" y="6680835"/>
            <a:ext cx="7334250" cy="723900"/>
          </a:xfrm>
          <a:prstGeom prst="roundRect">
            <a:avLst>
              <a:gd name="adj" fmla="val 13158"/>
            </a:avLst>
          </a:prstGeom>
          <a:solidFill>
            <a:srgbClr val="FFFFFF"/>
          </a:solidFill>
          <a:ln w="7620">
            <a:solidFill>
              <a:srgbClr val="E0E2E6"/>
            </a:solidFill>
            <a:prstDash val="solid"/>
          </a:ln>
        </p:spPr>
      </p:sp>
      <p:sp>
        <p:nvSpPr>
          <p:cNvPr id="14" name="Text 12"/>
          <p:cNvSpPr/>
          <p:nvPr/>
        </p:nvSpPr>
        <p:spPr>
          <a:xfrm>
            <a:off x="1626870" y="6898005"/>
            <a:ext cx="1246049" cy="327660"/>
          </a:xfrm>
          <a:prstGeom prst="rect">
            <a:avLst/>
          </a:prstGeom>
          <a:noFill/>
          <a:ln/>
        </p:spPr>
        <p:txBody>
          <a:bodyPr wrap="square" lIns="25400" tIns="25400" rIns="25400" bIns="25400" rtlCol="0" anchor="t">
            <a:normAutofit/>
          </a:bodyPr>
          <a:lstStyle/>
          <a:p>
            <a:pPr algn="l" indent="0" marL="0">
              <a:buNone/>
            </a:pPr>
            <a:r>
              <a:rPr lang="en-US" sz="1875" dirty="0">
                <a:solidFill>
                  <a:srgbClr val="181D26"/>
                </a:solidFill>
                <a:latin typeface="Arial" pitchFamily="34" charset="0"/>
                <a:ea typeface="Arial" pitchFamily="34" charset="-122"/>
                <a:cs typeface="Arial" pitchFamily="34" charset="-120"/>
              </a:rPr>
              <a:t>Molecules</a:t>
            </a:r>
            <a:endParaRPr lang="en-US" sz="1875" dirty="0"/>
          </a:p>
        </p:txBody>
      </p:sp>
      <p:sp>
        <p:nvSpPr>
          <p:cNvPr id="15" name="Text 13"/>
          <p:cNvSpPr/>
          <p:nvPr/>
        </p:nvSpPr>
        <p:spPr>
          <a:xfrm>
            <a:off x="6757988" y="6957060"/>
            <a:ext cx="1778032" cy="209550"/>
          </a:xfrm>
          <a:prstGeom prst="rect">
            <a:avLst/>
          </a:prstGeom>
          <a:noFill/>
          <a:ln/>
        </p:spPr>
        <p:txBody>
          <a:bodyPr wrap="square" lIns="25400" tIns="25400" rIns="25400" bIns="25400" rtlCol="0" anchor="t">
            <a:normAutofit/>
          </a:bodyPr>
          <a:lstStyle/>
          <a:p>
            <a:pPr algn="l" indent="0" marL="0">
              <a:buNone/>
            </a:pPr>
            <a:r>
              <a:rPr lang="en-US" sz="1200" b="1" spc="120" kern="0" dirty="0">
                <a:solidFill>
                  <a:srgbClr val="9297A0"/>
                </a:solidFill>
                <a:latin typeface="Arial" pitchFamily="34" charset="0"/>
                <a:ea typeface="Arial" pitchFamily="34" charset="-122"/>
                <a:cs typeface="Arial" pitchFamily="34" charset="-120"/>
              </a:rPr>
              <a:t>GOVERNED LAYER</a:t>
            </a:r>
            <a:endParaRPr lang="en-US" sz="1200" dirty="0"/>
          </a:p>
        </p:txBody>
      </p:sp>
      <p:sp>
        <p:nvSpPr>
          <p:cNvPr id="16" name="Shape 14"/>
          <p:cNvSpPr/>
          <p:nvPr/>
        </p:nvSpPr>
        <p:spPr>
          <a:xfrm>
            <a:off x="1333500" y="7519035"/>
            <a:ext cx="7334250" cy="723900"/>
          </a:xfrm>
          <a:prstGeom prst="roundRect">
            <a:avLst>
              <a:gd name="adj" fmla="val 13158"/>
            </a:avLst>
          </a:prstGeom>
          <a:solidFill>
            <a:srgbClr val="FFFFFF"/>
          </a:solidFill>
          <a:ln w="7620">
            <a:solidFill>
              <a:srgbClr val="E0E2E6"/>
            </a:solidFill>
            <a:prstDash val="solid"/>
          </a:ln>
        </p:spPr>
      </p:sp>
      <p:sp>
        <p:nvSpPr>
          <p:cNvPr id="17" name="Text 15"/>
          <p:cNvSpPr/>
          <p:nvPr/>
        </p:nvSpPr>
        <p:spPr>
          <a:xfrm>
            <a:off x="1626870" y="7736205"/>
            <a:ext cx="802065" cy="327660"/>
          </a:xfrm>
          <a:prstGeom prst="rect">
            <a:avLst/>
          </a:prstGeom>
          <a:noFill/>
          <a:ln/>
        </p:spPr>
        <p:txBody>
          <a:bodyPr wrap="square" lIns="25400" tIns="25400" rIns="25400" bIns="25400" rtlCol="0" anchor="t">
            <a:normAutofit/>
          </a:bodyPr>
          <a:lstStyle/>
          <a:p>
            <a:pPr algn="l" indent="0" marL="0">
              <a:buNone/>
            </a:pPr>
            <a:r>
              <a:rPr lang="en-US" sz="1875" dirty="0">
                <a:solidFill>
                  <a:srgbClr val="181D26"/>
                </a:solidFill>
                <a:latin typeface="Arial" pitchFamily="34" charset="0"/>
                <a:ea typeface="Arial" pitchFamily="34" charset="-122"/>
                <a:cs typeface="Arial" pitchFamily="34" charset="-120"/>
              </a:rPr>
              <a:t>Atoms</a:t>
            </a:r>
            <a:endParaRPr lang="en-US" sz="1875" dirty="0"/>
          </a:p>
        </p:txBody>
      </p:sp>
      <p:sp>
        <p:nvSpPr>
          <p:cNvPr id="18" name="Text 16"/>
          <p:cNvSpPr/>
          <p:nvPr/>
        </p:nvSpPr>
        <p:spPr>
          <a:xfrm>
            <a:off x="6757988" y="7795260"/>
            <a:ext cx="1778032" cy="209550"/>
          </a:xfrm>
          <a:prstGeom prst="rect">
            <a:avLst/>
          </a:prstGeom>
          <a:noFill/>
          <a:ln/>
        </p:spPr>
        <p:txBody>
          <a:bodyPr wrap="square" lIns="25400" tIns="25400" rIns="25400" bIns="25400" rtlCol="0" anchor="t">
            <a:normAutofit/>
          </a:bodyPr>
          <a:lstStyle/>
          <a:p>
            <a:pPr algn="l" indent="0" marL="0">
              <a:buNone/>
            </a:pPr>
            <a:r>
              <a:rPr lang="en-US" sz="1200" b="1" spc="120" kern="0" dirty="0">
                <a:solidFill>
                  <a:srgbClr val="9297A0"/>
                </a:solidFill>
                <a:latin typeface="Arial" pitchFamily="34" charset="0"/>
                <a:ea typeface="Arial" pitchFamily="34" charset="-122"/>
                <a:cs typeface="Arial" pitchFamily="34" charset="-120"/>
              </a:rPr>
              <a:t>GOVERNED LAYER</a:t>
            </a:r>
            <a:endParaRPr lang="en-US" sz="1200" dirty="0"/>
          </a:p>
        </p:txBody>
      </p:sp>
      <p:sp>
        <p:nvSpPr>
          <p:cNvPr id="19" name="Text 17"/>
          <p:cNvSpPr/>
          <p:nvPr/>
        </p:nvSpPr>
        <p:spPr>
          <a:xfrm>
            <a:off x="9429750" y="4684395"/>
            <a:ext cx="8067675" cy="236220"/>
          </a:xfrm>
          <a:prstGeom prst="rect">
            <a:avLst/>
          </a:prstGeom>
          <a:noFill/>
          <a:ln/>
        </p:spPr>
        <p:txBody>
          <a:bodyPr wrap="square" lIns="25400" tIns="25400" rIns="25400" bIns="25400" rtlCol="0" anchor="t">
            <a:normAutofit/>
          </a:bodyPr>
          <a:lstStyle/>
          <a:p>
            <a:pPr algn="l" indent="0" marL="0">
              <a:buNone/>
            </a:pPr>
            <a:r>
              <a:rPr lang="en-US" sz="1350" b="1" spc="162" kern="0" dirty="0">
                <a:solidFill>
                  <a:srgbClr val="9297A0"/>
                </a:solidFill>
                <a:latin typeface="Arial" pitchFamily="34" charset="0"/>
                <a:ea typeface="Arial" pitchFamily="34" charset="-122"/>
                <a:cs typeface="Arial" pitchFamily="34" charset="-120"/>
              </a:rPr>
              <a:t>A PATTERN USED TO SAY</a:t>
            </a:r>
            <a:endParaRPr lang="en-US" sz="1350" dirty="0"/>
          </a:p>
        </p:txBody>
      </p:sp>
      <p:sp>
        <p:nvSpPr>
          <p:cNvPr id="20" name="Text 18"/>
          <p:cNvSpPr/>
          <p:nvPr/>
        </p:nvSpPr>
        <p:spPr>
          <a:xfrm>
            <a:off x="9429750" y="5015865"/>
            <a:ext cx="7554278" cy="1078230"/>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41454D"/>
                </a:solidFill>
                <a:latin typeface="Arial" pitchFamily="34" charset="0"/>
                <a:ea typeface="Arial" pitchFamily="34" charset="-122"/>
                <a:cs typeface="Arial" pitchFamily="34" charset="-120"/>
              </a:rPr>
              <a:t>"The card has 16px padding, a 10px radius, and the title uses label-md." — geometry the governed layer now answers on its own.</a:t>
            </a:r>
            <a:endParaRPr lang="en-US" sz="1950" dirty="0"/>
          </a:p>
        </p:txBody>
      </p:sp>
      <p:sp>
        <p:nvSpPr>
          <p:cNvPr id="21" name="Text 19"/>
          <p:cNvSpPr/>
          <p:nvPr/>
        </p:nvSpPr>
        <p:spPr>
          <a:xfrm>
            <a:off x="9429750" y="6398895"/>
            <a:ext cx="8067675" cy="236220"/>
          </a:xfrm>
          <a:prstGeom prst="rect">
            <a:avLst/>
          </a:prstGeom>
          <a:noFill/>
          <a:ln/>
        </p:spPr>
        <p:txBody>
          <a:bodyPr wrap="square" lIns="25400" tIns="25400" rIns="25400" bIns="25400" rtlCol="0" anchor="t">
            <a:normAutofit/>
          </a:bodyPr>
          <a:lstStyle/>
          <a:p>
            <a:pPr algn="l" indent="0" marL="0">
              <a:buNone/>
            </a:pPr>
            <a:r>
              <a:rPr lang="en-US" sz="1350" b="1" spc="162" kern="0" dirty="0">
                <a:solidFill>
                  <a:srgbClr val="AA2D00"/>
                </a:solidFill>
                <a:latin typeface="Arial" pitchFamily="34" charset="0"/>
                <a:ea typeface="Arial" pitchFamily="34" charset="-122"/>
                <a:cs typeface="Arial" pitchFamily="34" charset="-120"/>
              </a:rPr>
              <a:t>A PATTERN NOW SAYS</a:t>
            </a:r>
            <a:endParaRPr lang="en-US" sz="1350" dirty="0"/>
          </a:p>
        </p:txBody>
      </p:sp>
      <p:sp>
        <p:nvSpPr>
          <p:cNvPr id="22" name="Text 20"/>
          <p:cNvSpPr/>
          <p:nvPr/>
        </p:nvSpPr>
        <p:spPr>
          <a:xfrm>
            <a:off x="9429750" y="6730365"/>
            <a:ext cx="7554278" cy="1078230"/>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181D26"/>
                </a:solidFill>
                <a:latin typeface="Arial" pitchFamily="34" charset="0"/>
                <a:ea typeface="Arial" pitchFamily="34" charset="-122"/>
                <a:cs typeface="Arial" pitchFamily="34" charset="-120"/>
              </a:rPr>
              <a:t>"When a process stalls, surface the owner, the blocker, and one clear action — in that order." — judgment only a designer can write.</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9D4"/>
        </a:solidFill>
      </p:bgPr>
    </p:bg>
    <p:spTree>
      <p:nvGrpSpPr>
        <p:cNvPr id="1" name=""/>
        <p:cNvGrpSpPr/>
        <p:nvPr/>
      </p:nvGrpSpPr>
      <p:grpSpPr>
        <a:xfrm>
          <a:off x="0" y="0"/>
          <a:ext cx="0" cy="0"/>
          <a:chOff x="0" y="0"/>
          <a:chExt cx="0" cy="0"/>
        </a:xfrm>
      </p:grpSpPr>
      <p:sp>
        <p:nvSpPr>
          <p:cNvPr id="2" name="Text 0"/>
          <p:cNvSpPr/>
          <p:nvPr/>
        </p:nvSpPr>
        <p:spPr>
          <a:xfrm>
            <a:off x="1333500" y="2055495"/>
            <a:ext cx="17183100" cy="209550"/>
          </a:xfrm>
          <a:prstGeom prst="rect">
            <a:avLst/>
          </a:prstGeom>
          <a:noFill/>
          <a:ln/>
        </p:spPr>
        <p:txBody>
          <a:bodyPr wrap="square" lIns="25400" tIns="25400" rIns="25400" bIns="25400" rtlCol="0" anchor="t">
            <a:normAutofit/>
          </a:bodyPr>
          <a:lstStyle/>
          <a:p>
            <a:pPr algn="l" indent="0" marL="0">
              <a:buNone/>
            </a:pPr>
            <a:r>
              <a:rPr lang="en-US" sz="1200" b="1" spc="240" kern="0" dirty="0">
                <a:solidFill>
                  <a:srgbClr val="8A6D3B"/>
                </a:solidFill>
                <a:latin typeface="Arial" pitchFamily="34" charset="0"/>
                <a:ea typeface="Arial" pitchFamily="34" charset="-122"/>
                <a:cs typeface="Arial" pitchFamily="34" charset="-120"/>
              </a:rPr>
              <a:t>THE PAYOFF</a:t>
            </a:r>
            <a:endParaRPr lang="en-US" sz="1200" dirty="0"/>
          </a:p>
        </p:txBody>
      </p:sp>
      <p:sp>
        <p:nvSpPr>
          <p:cNvPr id="3" name="Text 1"/>
          <p:cNvSpPr/>
          <p:nvPr/>
        </p:nvSpPr>
        <p:spPr>
          <a:xfrm>
            <a:off x="1333500" y="2493645"/>
            <a:ext cx="12950190" cy="1272540"/>
          </a:xfrm>
          <a:prstGeom prst="rect">
            <a:avLst/>
          </a:prstGeom>
          <a:noFill/>
          <a:ln/>
        </p:spPr>
        <p:txBody>
          <a:bodyPr wrap="square" lIns="25400" tIns="25400" rIns="25400" bIns="25400" rtlCol="0" anchor="t">
            <a:normAutofit/>
          </a:bodyPr>
          <a:lstStyle/>
          <a:p>
            <a:pPr algn="l" indent="0" marL="0">
              <a:lnSpc>
                <a:spcPct val="93642"/>
              </a:lnSpc>
              <a:buNone/>
            </a:pPr>
            <a:r>
              <a:rPr lang="en-US" sz="4500" spc="-67" kern="0" dirty="0">
                <a:solidFill>
                  <a:srgbClr val="181D26"/>
                </a:solidFill>
                <a:latin typeface="Arial" pitchFamily="34" charset="0"/>
                <a:ea typeface="Arial" pitchFamily="34" charset="-122"/>
                <a:cs typeface="Arial" pitchFamily="34" charset="-120"/>
              </a:rPr>
              <a:t>Templates, pages, and flows are where everyone actually lives.</a:t>
            </a:r>
            <a:endParaRPr lang="en-US" sz="4500" dirty="0"/>
          </a:p>
        </p:txBody>
      </p:sp>
      <p:sp>
        <p:nvSpPr>
          <p:cNvPr id="4" name="Text 2"/>
          <p:cNvSpPr/>
          <p:nvPr/>
        </p:nvSpPr>
        <p:spPr>
          <a:xfrm>
            <a:off x="1333500" y="3880485"/>
            <a:ext cx="11772900" cy="781050"/>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333840"/>
                </a:solidFill>
                <a:latin typeface="Arial" pitchFamily="34" charset="0"/>
                <a:ea typeface="Arial" pitchFamily="34" charset="-122"/>
                <a:cs typeface="Arial" pitchFamily="34" charset="-120"/>
              </a:rPr>
              <a:t>Nobody outside the design team thinks in atoms. Write patterns at the level people already work in, and they speak the language the whole team shares.</a:t>
            </a:r>
            <a:endParaRPr lang="en-US" sz="1950" dirty="0"/>
          </a:p>
        </p:txBody>
      </p:sp>
      <p:sp>
        <p:nvSpPr>
          <p:cNvPr id="5" name="Shape 3"/>
          <p:cNvSpPr/>
          <p:nvPr/>
        </p:nvSpPr>
        <p:spPr>
          <a:xfrm>
            <a:off x="1333500" y="5194935"/>
            <a:ext cx="4775180" cy="2266950"/>
          </a:xfrm>
          <a:prstGeom prst="roundRect">
            <a:avLst>
              <a:gd name="adj" fmla="val 5042"/>
            </a:avLst>
          </a:prstGeom>
          <a:solidFill>
            <a:srgbClr val="FFFFFF"/>
          </a:solidFill>
          <a:ln/>
        </p:spPr>
      </p:sp>
      <p:sp>
        <p:nvSpPr>
          <p:cNvPr id="6" name="Text 4"/>
          <p:cNvSpPr/>
          <p:nvPr/>
        </p:nvSpPr>
        <p:spPr>
          <a:xfrm>
            <a:off x="1714500" y="5614035"/>
            <a:ext cx="4414498" cy="236220"/>
          </a:xfrm>
          <a:prstGeom prst="rect">
            <a:avLst/>
          </a:prstGeom>
          <a:noFill/>
          <a:ln/>
        </p:spPr>
        <p:txBody>
          <a:bodyPr wrap="square" lIns="25400" tIns="25400" rIns="25400" bIns="25400" rtlCol="0" anchor="t">
            <a:normAutofit/>
          </a:bodyPr>
          <a:lstStyle/>
          <a:p>
            <a:pPr algn="l" indent="0" marL="0">
              <a:buNone/>
            </a:pPr>
            <a:r>
              <a:rPr lang="en-US" sz="1350" b="1" spc="162" kern="0" dirty="0">
                <a:solidFill>
                  <a:srgbClr val="AA2D00"/>
                </a:solidFill>
                <a:latin typeface="Arial" pitchFamily="34" charset="0"/>
                <a:ea typeface="Arial" pitchFamily="34" charset="-122"/>
                <a:cs typeface="Arial" pitchFamily="34" charset="-120"/>
              </a:rPr>
              <a:t>PRODUCT LEADERS</a:t>
            </a:r>
            <a:endParaRPr lang="en-US" sz="1350" dirty="0"/>
          </a:p>
        </p:txBody>
      </p:sp>
      <p:sp>
        <p:nvSpPr>
          <p:cNvPr id="7" name="Text 5"/>
          <p:cNvSpPr/>
          <p:nvPr/>
        </p:nvSpPr>
        <p:spPr>
          <a:xfrm>
            <a:off x="1714500" y="6002655"/>
            <a:ext cx="4133576" cy="731520"/>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181D26"/>
                </a:solidFill>
                <a:latin typeface="Arial" pitchFamily="34" charset="0"/>
                <a:ea typeface="Arial" pitchFamily="34" charset="-122"/>
                <a:cs typeface="Arial" pitchFamily="34" charset="-120"/>
              </a:rPr>
              <a:t>Plan roadmaps in flows and journeys — never in components.</a:t>
            </a:r>
            <a:endParaRPr lang="en-US" sz="1950" dirty="0"/>
          </a:p>
        </p:txBody>
      </p:sp>
      <p:sp>
        <p:nvSpPr>
          <p:cNvPr id="8" name="Shape 6"/>
          <p:cNvSpPr/>
          <p:nvPr/>
        </p:nvSpPr>
        <p:spPr>
          <a:xfrm>
            <a:off x="6375380" y="5194935"/>
            <a:ext cx="4775180" cy="2266950"/>
          </a:xfrm>
          <a:prstGeom prst="roundRect">
            <a:avLst>
              <a:gd name="adj" fmla="val 5042"/>
            </a:avLst>
          </a:prstGeom>
          <a:solidFill>
            <a:srgbClr val="FFFFFF"/>
          </a:solidFill>
          <a:ln/>
        </p:spPr>
      </p:sp>
      <p:sp>
        <p:nvSpPr>
          <p:cNvPr id="9" name="Text 7"/>
          <p:cNvSpPr/>
          <p:nvPr/>
        </p:nvSpPr>
        <p:spPr>
          <a:xfrm>
            <a:off x="6756380" y="5614035"/>
            <a:ext cx="4414498" cy="236220"/>
          </a:xfrm>
          <a:prstGeom prst="rect">
            <a:avLst/>
          </a:prstGeom>
          <a:noFill/>
          <a:ln/>
        </p:spPr>
        <p:txBody>
          <a:bodyPr wrap="square" lIns="25400" tIns="25400" rIns="25400" bIns="25400" rtlCol="0" anchor="t">
            <a:normAutofit/>
          </a:bodyPr>
          <a:lstStyle/>
          <a:p>
            <a:pPr algn="l" indent="0" marL="0">
              <a:buNone/>
            </a:pPr>
            <a:r>
              <a:rPr lang="en-US" sz="1350" b="1" spc="162" kern="0" dirty="0">
                <a:solidFill>
                  <a:srgbClr val="AA2D00"/>
                </a:solidFill>
                <a:latin typeface="Arial" pitchFamily="34" charset="0"/>
                <a:ea typeface="Arial" pitchFamily="34" charset="-122"/>
                <a:cs typeface="Arial" pitchFamily="34" charset="-120"/>
              </a:rPr>
              <a:t>ENGINEERS</a:t>
            </a:r>
            <a:endParaRPr lang="en-US" sz="1350" dirty="0"/>
          </a:p>
        </p:txBody>
      </p:sp>
      <p:sp>
        <p:nvSpPr>
          <p:cNvPr id="10" name="Text 8"/>
          <p:cNvSpPr/>
          <p:nvPr/>
        </p:nvSpPr>
        <p:spPr>
          <a:xfrm>
            <a:off x="6756380" y="6002655"/>
            <a:ext cx="4133576" cy="1078230"/>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181D26"/>
                </a:solidFill>
                <a:latin typeface="Arial" pitchFamily="34" charset="0"/>
                <a:ea typeface="Arial" pitchFamily="34" charset="-122"/>
                <a:cs typeface="Arial" pitchFamily="34" charset="-120"/>
              </a:rPr>
              <a:t>Build features and pages — components are the means, not the goal.</a:t>
            </a:r>
            <a:endParaRPr lang="en-US" sz="1950" dirty="0"/>
          </a:p>
        </p:txBody>
      </p:sp>
      <p:sp>
        <p:nvSpPr>
          <p:cNvPr id="11" name="Shape 9"/>
          <p:cNvSpPr/>
          <p:nvPr/>
        </p:nvSpPr>
        <p:spPr>
          <a:xfrm>
            <a:off x="11417260" y="5194935"/>
            <a:ext cx="4775240" cy="2266950"/>
          </a:xfrm>
          <a:prstGeom prst="roundRect">
            <a:avLst>
              <a:gd name="adj" fmla="val 5042"/>
            </a:avLst>
          </a:prstGeom>
          <a:solidFill>
            <a:srgbClr val="FFFFFF"/>
          </a:solidFill>
          <a:ln/>
        </p:spPr>
      </p:sp>
      <p:sp>
        <p:nvSpPr>
          <p:cNvPr id="12" name="Text 10"/>
          <p:cNvSpPr/>
          <p:nvPr/>
        </p:nvSpPr>
        <p:spPr>
          <a:xfrm>
            <a:off x="11798260" y="5614035"/>
            <a:ext cx="4414564" cy="236220"/>
          </a:xfrm>
          <a:prstGeom prst="rect">
            <a:avLst/>
          </a:prstGeom>
          <a:noFill/>
          <a:ln/>
        </p:spPr>
        <p:txBody>
          <a:bodyPr wrap="square" lIns="25400" tIns="25400" rIns="25400" bIns="25400" rtlCol="0" anchor="t">
            <a:normAutofit/>
          </a:bodyPr>
          <a:lstStyle/>
          <a:p>
            <a:pPr algn="l" indent="0" marL="0">
              <a:buNone/>
            </a:pPr>
            <a:r>
              <a:rPr lang="en-US" sz="1350" b="1" spc="162" kern="0" dirty="0">
                <a:solidFill>
                  <a:srgbClr val="AA2D00"/>
                </a:solidFill>
                <a:latin typeface="Arial" pitchFamily="34" charset="0"/>
                <a:ea typeface="Arial" pitchFamily="34" charset="-122"/>
                <a:cs typeface="Arial" pitchFamily="34" charset="-120"/>
              </a:rPr>
              <a:t>END USERS</a:t>
            </a:r>
            <a:endParaRPr lang="en-US" sz="1350" dirty="0"/>
          </a:p>
        </p:txBody>
      </p:sp>
      <p:sp>
        <p:nvSpPr>
          <p:cNvPr id="13" name="Text 11"/>
          <p:cNvSpPr/>
          <p:nvPr/>
        </p:nvSpPr>
        <p:spPr>
          <a:xfrm>
            <a:off x="11798260" y="6002655"/>
            <a:ext cx="4133637" cy="731520"/>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181D26"/>
                </a:solidFill>
                <a:latin typeface="Arial" pitchFamily="34" charset="0"/>
                <a:ea typeface="Arial" pitchFamily="34" charset="-122"/>
                <a:cs typeface="Arial" pitchFamily="34" charset="-120"/>
              </a:rPr>
              <a:t>Complete tasks and follow flows — they never see an atom.</a:t>
            </a:r>
            <a:endParaRPr lang="en-US" sz="1950" dirty="0"/>
          </a:p>
        </p:txBody>
      </p:sp>
      <p:sp>
        <p:nvSpPr>
          <p:cNvPr id="14" name="Text 12"/>
          <p:cNvSpPr/>
          <p:nvPr/>
        </p:nvSpPr>
        <p:spPr>
          <a:xfrm>
            <a:off x="1333500" y="7957185"/>
            <a:ext cx="146685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8A6D3B"/>
                </a:solidFill>
                <a:latin typeface="Arial" pitchFamily="34" charset="0"/>
                <a:ea typeface="Arial" pitchFamily="34" charset="-122"/>
                <a:cs typeface="Arial" pitchFamily="34" charset="-120"/>
              </a:rPr>
              <a:t>That flow and page level is exactly where our pattern work should climb to.</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333500" y="1799094"/>
            <a:ext cx="17183100" cy="209550"/>
          </a:xfrm>
          <a:prstGeom prst="rect">
            <a:avLst/>
          </a:prstGeom>
          <a:noFill/>
          <a:ln/>
        </p:spPr>
        <p:txBody>
          <a:bodyPr wrap="square" lIns="25400" tIns="25400" rIns="25400" bIns="25400" rtlCol="0" anchor="t">
            <a:normAutofit/>
          </a:bodyPr>
          <a:lstStyle/>
          <a:p>
            <a:pPr algn="l" indent="0" marL="0">
              <a:buNone/>
            </a:pPr>
            <a:r>
              <a:rPr lang="en-US" sz="1200" b="1" spc="240" kern="0" dirty="0">
                <a:solidFill>
                  <a:srgbClr val="9297A0"/>
                </a:solidFill>
                <a:latin typeface="Arial" pitchFamily="34" charset="0"/>
                <a:ea typeface="Arial" pitchFamily="34" charset="-122"/>
                <a:cs typeface="Arial" pitchFamily="34" charset="-120"/>
              </a:rPr>
              <a:t>MAKING IT CONCRETE</a:t>
            </a:r>
            <a:endParaRPr lang="en-US" sz="1200" dirty="0"/>
          </a:p>
        </p:txBody>
      </p:sp>
      <p:sp>
        <p:nvSpPr>
          <p:cNvPr id="3" name="Text 1"/>
          <p:cNvSpPr/>
          <p:nvPr/>
        </p:nvSpPr>
        <p:spPr>
          <a:xfrm>
            <a:off x="1333500" y="2237244"/>
            <a:ext cx="13830300" cy="634722"/>
          </a:xfrm>
          <a:prstGeom prst="rect">
            <a:avLst/>
          </a:prstGeom>
          <a:noFill/>
          <a:ln/>
        </p:spPr>
        <p:txBody>
          <a:bodyPr wrap="square" lIns="25400" tIns="25400" rIns="25400" bIns="25400" rtlCol="0" anchor="t">
            <a:normAutofit/>
          </a:bodyPr>
          <a:lstStyle/>
          <a:p>
            <a:pPr algn="l" indent="0" marL="0">
              <a:lnSpc>
                <a:spcPct val="93772"/>
              </a:lnSpc>
              <a:buNone/>
            </a:pPr>
            <a:r>
              <a:rPr lang="en-US" sz="4350" spc="-65" kern="0" dirty="0">
                <a:solidFill>
                  <a:srgbClr val="181D26"/>
                </a:solidFill>
                <a:latin typeface="Arial" pitchFamily="34" charset="0"/>
                <a:ea typeface="Arial" pitchFamily="34" charset="-122"/>
                <a:cs typeface="Arial" pitchFamily="34" charset="-120"/>
              </a:rPr>
              <a:t>What a higher-level pattern looks like.</a:t>
            </a:r>
            <a:endParaRPr lang="en-US" sz="4350" dirty="0"/>
          </a:p>
        </p:txBody>
      </p:sp>
      <p:sp>
        <p:nvSpPr>
          <p:cNvPr id="4" name="Text 2"/>
          <p:cNvSpPr/>
          <p:nvPr/>
        </p:nvSpPr>
        <p:spPr>
          <a:xfrm>
            <a:off x="1333500" y="2967216"/>
            <a:ext cx="12165330" cy="723900"/>
          </a:xfrm>
          <a:prstGeom prst="rect">
            <a:avLst/>
          </a:prstGeom>
          <a:noFill/>
          <a:ln/>
        </p:spPr>
        <p:txBody>
          <a:bodyPr wrap="square" lIns="25400" tIns="25400" rIns="25400" bIns="25400" rtlCol="0" anchor="t">
            <a:normAutofit/>
          </a:bodyPr>
          <a:lstStyle/>
          <a:p>
            <a:pPr algn="l" indent="0" marL="0">
              <a:lnSpc>
                <a:spcPct val="130435"/>
              </a:lnSpc>
              <a:buNone/>
            </a:pPr>
            <a:r>
              <a:rPr lang="en-US" sz="1800" dirty="0">
                <a:solidFill>
                  <a:srgbClr val="333840"/>
                </a:solidFill>
                <a:latin typeface="Arial" pitchFamily="34" charset="0"/>
                <a:ea typeface="Arial" pitchFamily="34" charset="-122"/>
                <a:cs typeface="Arial" pitchFamily="34" charset="-120"/>
              </a:rPr>
              <a:t>Named experiences — not components. Each one encodes judgment about behavior and intent, reused across the platform. A starting menu, not a mandate.</a:t>
            </a:r>
            <a:endParaRPr lang="en-US" sz="1800" dirty="0"/>
          </a:p>
        </p:txBody>
      </p:sp>
      <p:sp>
        <p:nvSpPr>
          <p:cNvPr id="5" name="Shape 3"/>
          <p:cNvSpPr/>
          <p:nvPr/>
        </p:nvSpPr>
        <p:spPr>
          <a:xfrm>
            <a:off x="1333500" y="4148316"/>
            <a:ext cx="3748087" cy="2065020"/>
          </a:xfrm>
          <a:prstGeom prst="roundRect">
            <a:avLst>
              <a:gd name="adj" fmla="val 5535"/>
            </a:avLst>
          </a:prstGeom>
          <a:solidFill>
            <a:srgbClr val="F8FAFC"/>
          </a:solidFill>
          <a:ln w="7620">
            <a:solidFill>
              <a:srgbClr val="EDEFF2"/>
            </a:solidFill>
            <a:prstDash val="solid"/>
          </a:ln>
        </p:spPr>
      </p:sp>
      <p:sp>
        <p:nvSpPr>
          <p:cNvPr id="6" name="Shape 4"/>
          <p:cNvSpPr/>
          <p:nvPr/>
        </p:nvSpPr>
        <p:spPr>
          <a:xfrm>
            <a:off x="1626870" y="4460736"/>
            <a:ext cx="533400" cy="381000"/>
          </a:xfrm>
          <a:prstGeom prst="roundRect">
            <a:avLst>
              <a:gd name="adj" fmla="val 20000"/>
            </a:avLst>
          </a:prstGeom>
          <a:gradFill rotWithShape="1">
            <a:gsLst>
              <a:gs pos="0">
                <a:srgbClr val="FCAB79">
                  <a:alpha val="100000"/>
                </a:srgbClr>
              </a:gs>
              <a:gs pos="100000">
                <a:srgbClr val="E05A1C">
                  <a:alpha val="100000"/>
                </a:srgbClr>
              </a:gs>
            </a:gsLst>
            <a:lin ang="2700000" scaled="0"/>
          </a:gradFill>
          <a:ln/>
        </p:spPr>
      </p:sp>
      <p:sp>
        <p:nvSpPr>
          <p:cNvPr id="7" name="Text 5"/>
          <p:cNvSpPr/>
          <p:nvPr/>
        </p:nvSpPr>
        <p:spPr>
          <a:xfrm>
            <a:off x="1626870" y="5051286"/>
            <a:ext cx="347748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Onboarding &amp; first run</a:t>
            </a:r>
            <a:endParaRPr lang="en-US" sz="1800" dirty="0"/>
          </a:p>
        </p:txBody>
      </p:sp>
      <p:sp>
        <p:nvSpPr>
          <p:cNvPr id="8" name="Text 6"/>
          <p:cNvSpPr/>
          <p:nvPr/>
        </p:nvSpPr>
        <p:spPr>
          <a:xfrm>
            <a:off x="1626870" y="5420856"/>
            <a:ext cx="3256188" cy="51816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Show value before setup; defer complexity until it's earned.</a:t>
            </a:r>
            <a:endParaRPr lang="en-US" sz="1350" dirty="0"/>
          </a:p>
        </p:txBody>
      </p:sp>
      <p:sp>
        <p:nvSpPr>
          <p:cNvPr id="9" name="Shape 7"/>
          <p:cNvSpPr/>
          <p:nvPr/>
        </p:nvSpPr>
        <p:spPr>
          <a:xfrm>
            <a:off x="5291138" y="4148316"/>
            <a:ext cx="3748087" cy="2065020"/>
          </a:xfrm>
          <a:prstGeom prst="roundRect">
            <a:avLst>
              <a:gd name="adj" fmla="val 5535"/>
            </a:avLst>
          </a:prstGeom>
          <a:solidFill>
            <a:srgbClr val="F8FAFC"/>
          </a:solidFill>
          <a:ln w="7620">
            <a:solidFill>
              <a:srgbClr val="EDEFF2"/>
            </a:solidFill>
            <a:prstDash val="solid"/>
          </a:ln>
        </p:spPr>
      </p:sp>
      <p:sp>
        <p:nvSpPr>
          <p:cNvPr id="10" name="Shape 8"/>
          <p:cNvSpPr/>
          <p:nvPr/>
        </p:nvSpPr>
        <p:spPr>
          <a:xfrm>
            <a:off x="5584507" y="4460736"/>
            <a:ext cx="533400" cy="381000"/>
          </a:xfrm>
          <a:prstGeom prst="roundRect">
            <a:avLst>
              <a:gd name="adj" fmla="val 20000"/>
            </a:avLst>
          </a:prstGeom>
          <a:gradFill rotWithShape="1">
            <a:gsLst>
              <a:gs pos="0">
                <a:srgbClr val="FCAB79">
                  <a:alpha val="100000"/>
                </a:srgbClr>
              </a:gs>
              <a:gs pos="100000">
                <a:srgbClr val="E05A1C">
                  <a:alpha val="100000"/>
                </a:srgbClr>
              </a:gs>
            </a:gsLst>
            <a:lin ang="2700000" scaled="0"/>
          </a:gradFill>
          <a:ln/>
        </p:spPr>
      </p:sp>
      <p:sp>
        <p:nvSpPr>
          <p:cNvPr id="11" name="Text 9"/>
          <p:cNvSpPr/>
          <p:nvPr/>
        </p:nvSpPr>
        <p:spPr>
          <a:xfrm>
            <a:off x="5584507" y="5051286"/>
            <a:ext cx="347748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Collaboration &amp; sharing</a:t>
            </a:r>
            <a:endParaRPr lang="en-US" sz="1800" dirty="0"/>
          </a:p>
        </p:txBody>
      </p:sp>
      <p:sp>
        <p:nvSpPr>
          <p:cNvPr id="12" name="Text 10"/>
          <p:cNvSpPr/>
          <p:nvPr/>
        </p:nvSpPr>
        <p:spPr>
          <a:xfrm>
            <a:off x="5584507" y="5420856"/>
            <a:ext cx="3256188" cy="51816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Make ownership, access, and edits legible at a glance.</a:t>
            </a:r>
            <a:endParaRPr lang="en-US" sz="1350" dirty="0"/>
          </a:p>
        </p:txBody>
      </p:sp>
      <p:sp>
        <p:nvSpPr>
          <p:cNvPr id="13" name="Shape 11"/>
          <p:cNvSpPr/>
          <p:nvPr/>
        </p:nvSpPr>
        <p:spPr>
          <a:xfrm>
            <a:off x="9248775" y="4148316"/>
            <a:ext cx="3748087" cy="2065020"/>
          </a:xfrm>
          <a:prstGeom prst="roundRect">
            <a:avLst>
              <a:gd name="adj" fmla="val 5535"/>
            </a:avLst>
          </a:prstGeom>
          <a:solidFill>
            <a:srgbClr val="F8FAFC"/>
          </a:solidFill>
          <a:ln w="7620">
            <a:solidFill>
              <a:srgbClr val="EDEFF2"/>
            </a:solidFill>
            <a:prstDash val="solid"/>
          </a:ln>
        </p:spPr>
      </p:sp>
      <p:sp>
        <p:nvSpPr>
          <p:cNvPr id="14" name="Shape 12"/>
          <p:cNvSpPr/>
          <p:nvPr/>
        </p:nvSpPr>
        <p:spPr>
          <a:xfrm>
            <a:off x="9542145" y="4460736"/>
            <a:ext cx="533400" cy="381000"/>
          </a:xfrm>
          <a:prstGeom prst="roundRect">
            <a:avLst>
              <a:gd name="adj" fmla="val 20000"/>
            </a:avLst>
          </a:prstGeom>
          <a:gradFill rotWithShape="1">
            <a:gsLst>
              <a:gs pos="0">
                <a:srgbClr val="FCAB79">
                  <a:alpha val="100000"/>
                </a:srgbClr>
              </a:gs>
              <a:gs pos="100000">
                <a:srgbClr val="E05A1C">
                  <a:alpha val="100000"/>
                </a:srgbClr>
              </a:gs>
            </a:gsLst>
            <a:lin ang="2700000" scaled="0"/>
          </a:gradFill>
          <a:ln/>
        </p:spPr>
      </p:sp>
      <p:sp>
        <p:nvSpPr>
          <p:cNvPr id="15" name="Text 13"/>
          <p:cNvSpPr/>
          <p:nvPr/>
        </p:nvSpPr>
        <p:spPr>
          <a:xfrm>
            <a:off x="9542145" y="5051286"/>
            <a:ext cx="347748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Search &amp; filtering</a:t>
            </a:r>
            <a:endParaRPr lang="en-US" sz="1800" dirty="0"/>
          </a:p>
        </p:txBody>
      </p:sp>
      <p:sp>
        <p:nvSpPr>
          <p:cNvPr id="16" name="Text 14"/>
          <p:cNvSpPr/>
          <p:nvPr/>
        </p:nvSpPr>
        <p:spPr>
          <a:xfrm>
            <a:off x="9542145" y="5420856"/>
            <a:ext cx="3256188" cy="51816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Help people narrow a large space without losing their place.</a:t>
            </a:r>
            <a:endParaRPr lang="en-US" sz="1350" dirty="0"/>
          </a:p>
        </p:txBody>
      </p:sp>
      <p:sp>
        <p:nvSpPr>
          <p:cNvPr id="17" name="Shape 15"/>
          <p:cNvSpPr/>
          <p:nvPr/>
        </p:nvSpPr>
        <p:spPr>
          <a:xfrm>
            <a:off x="13206413" y="4148316"/>
            <a:ext cx="3748087" cy="2065020"/>
          </a:xfrm>
          <a:prstGeom prst="roundRect">
            <a:avLst>
              <a:gd name="adj" fmla="val 5535"/>
            </a:avLst>
          </a:prstGeom>
          <a:solidFill>
            <a:srgbClr val="F8FAFC"/>
          </a:solidFill>
          <a:ln w="7620">
            <a:solidFill>
              <a:srgbClr val="EDEFF2"/>
            </a:solidFill>
            <a:prstDash val="solid"/>
          </a:ln>
        </p:spPr>
      </p:sp>
      <p:sp>
        <p:nvSpPr>
          <p:cNvPr id="18" name="Shape 16"/>
          <p:cNvSpPr/>
          <p:nvPr/>
        </p:nvSpPr>
        <p:spPr>
          <a:xfrm>
            <a:off x="13499783" y="4460736"/>
            <a:ext cx="533400" cy="381000"/>
          </a:xfrm>
          <a:prstGeom prst="roundRect">
            <a:avLst>
              <a:gd name="adj" fmla="val 20000"/>
            </a:avLst>
          </a:prstGeom>
          <a:gradFill rotWithShape="1">
            <a:gsLst>
              <a:gs pos="0">
                <a:srgbClr val="FCAB79">
                  <a:alpha val="100000"/>
                </a:srgbClr>
              </a:gs>
              <a:gs pos="100000">
                <a:srgbClr val="E05A1C">
                  <a:alpha val="100000"/>
                </a:srgbClr>
              </a:gs>
            </a:gsLst>
            <a:lin ang="2700000" scaled="0"/>
          </a:gradFill>
          <a:ln/>
        </p:spPr>
      </p:sp>
      <p:sp>
        <p:nvSpPr>
          <p:cNvPr id="19" name="Text 17"/>
          <p:cNvSpPr/>
          <p:nvPr/>
        </p:nvSpPr>
        <p:spPr>
          <a:xfrm>
            <a:off x="13499783" y="5051286"/>
            <a:ext cx="347748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Notifications &amp; alerts</a:t>
            </a:r>
            <a:endParaRPr lang="en-US" sz="1800" dirty="0"/>
          </a:p>
        </p:txBody>
      </p:sp>
      <p:sp>
        <p:nvSpPr>
          <p:cNvPr id="20" name="Text 18"/>
          <p:cNvSpPr/>
          <p:nvPr/>
        </p:nvSpPr>
        <p:spPr>
          <a:xfrm>
            <a:off x="13499783" y="5420856"/>
            <a:ext cx="3256188" cy="51816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Interrupt only when it matters; make the next action obvious.</a:t>
            </a:r>
            <a:endParaRPr lang="en-US" sz="1350" dirty="0"/>
          </a:p>
        </p:txBody>
      </p:sp>
      <p:sp>
        <p:nvSpPr>
          <p:cNvPr id="21" name="Shape 19"/>
          <p:cNvSpPr/>
          <p:nvPr/>
        </p:nvSpPr>
        <p:spPr>
          <a:xfrm>
            <a:off x="1333500" y="6422886"/>
            <a:ext cx="3748087" cy="2065020"/>
          </a:xfrm>
          <a:prstGeom prst="roundRect">
            <a:avLst>
              <a:gd name="adj" fmla="val 5535"/>
            </a:avLst>
          </a:prstGeom>
          <a:solidFill>
            <a:srgbClr val="F8FAFC"/>
          </a:solidFill>
          <a:ln w="7620">
            <a:solidFill>
              <a:srgbClr val="EDEFF2"/>
            </a:solidFill>
            <a:prstDash val="solid"/>
          </a:ln>
        </p:spPr>
      </p:sp>
      <p:sp>
        <p:nvSpPr>
          <p:cNvPr id="22" name="Shape 20"/>
          <p:cNvSpPr/>
          <p:nvPr/>
        </p:nvSpPr>
        <p:spPr>
          <a:xfrm>
            <a:off x="1626870" y="6735306"/>
            <a:ext cx="533400" cy="381000"/>
          </a:xfrm>
          <a:prstGeom prst="roundRect">
            <a:avLst>
              <a:gd name="adj" fmla="val 20000"/>
            </a:avLst>
          </a:prstGeom>
          <a:gradFill rotWithShape="1">
            <a:gsLst>
              <a:gs pos="0">
                <a:srgbClr val="FCAB79">
                  <a:alpha val="100000"/>
                </a:srgbClr>
              </a:gs>
              <a:gs pos="100000">
                <a:srgbClr val="E05A1C">
                  <a:alpha val="100000"/>
                </a:srgbClr>
              </a:gs>
            </a:gsLst>
            <a:lin ang="2700000" scaled="0"/>
          </a:gradFill>
          <a:ln/>
        </p:spPr>
      </p:sp>
      <p:sp>
        <p:nvSpPr>
          <p:cNvPr id="23" name="Text 21"/>
          <p:cNvSpPr/>
          <p:nvPr/>
        </p:nvSpPr>
        <p:spPr>
          <a:xfrm>
            <a:off x="1626870" y="7325856"/>
            <a:ext cx="347748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Accounts &amp; permissions</a:t>
            </a:r>
            <a:endParaRPr lang="en-US" sz="1800" dirty="0"/>
          </a:p>
        </p:txBody>
      </p:sp>
      <p:sp>
        <p:nvSpPr>
          <p:cNvPr id="24" name="Text 22"/>
          <p:cNvSpPr/>
          <p:nvPr/>
        </p:nvSpPr>
        <p:spPr>
          <a:xfrm>
            <a:off x="1626870" y="7695426"/>
            <a:ext cx="3256188" cy="51816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Keep roles and boundaries clear, especially as teams scale.</a:t>
            </a:r>
            <a:endParaRPr lang="en-US" sz="1350" dirty="0"/>
          </a:p>
        </p:txBody>
      </p:sp>
      <p:sp>
        <p:nvSpPr>
          <p:cNvPr id="25" name="Shape 23"/>
          <p:cNvSpPr/>
          <p:nvPr/>
        </p:nvSpPr>
        <p:spPr>
          <a:xfrm>
            <a:off x="5291138" y="6422886"/>
            <a:ext cx="3748087" cy="2065020"/>
          </a:xfrm>
          <a:prstGeom prst="roundRect">
            <a:avLst>
              <a:gd name="adj" fmla="val 5535"/>
            </a:avLst>
          </a:prstGeom>
          <a:solidFill>
            <a:srgbClr val="F8FAFC"/>
          </a:solidFill>
          <a:ln w="7620">
            <a:solidFill>
              <a:srgbClr val="EDEFF2"/>
            </a:solidFill>
            <a:prstDash val="solid"/>
          </a:ln>
        </p:spPr>
      </p:sp>
      <p:sp>
        <p:nvSpPr>
          <p:cNvPr id="26" name="Shape 24"/>
          <p:cNvSpPr/>
          <p:nvPr/>
        </p:nvSpPr>
        <p:spPr>
          <a:xfrm>
            <a:off x="5584507" y="6735306"/>
            <a:ext cx="533400" cy="381000"/>
          </a:xfrm>
          <a:prstGeom prst="roundRect">
            <a:avLst>
              <a:gd name="adj" fmla="val 20000"/>
            </a:avLst>
          </a:prstGeom>
          <a:gradFill rotWithShape="1">
            <a:gsLst>
              <a:gs pos="0">
                <a:srgbClr val="FCAB79">
                  <a:alpha val="100000"/>
                </a:srgbClr>
              </a:gs>
              <a:gs pos="100000">
                <a:srgbClr val="E05A1C">
                  <a:alpha val="100000"/>
                </a:srgbClr>
              </a:gs>
            </a:gsLst>
            <a:lin ang="2700000" scaled="0"/>
          </a:gradFill>
          <a:ln/>
        </p:spPr>
      </p:sp>
      <p:sp>
        <p:nvSpPr>
          <p:cNvPr id="27" name="Text 25"/>
          <p:cNvSpPr/>
          <p:nvPr/>
        </p:nvSpPr>
        <p:spPr>
          <a:xfrm>
            <a:off x="5584507" y="7325856"/>
            <a:ext cx="347748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Empty &amp; loading states</a:t>
            </a:r>
            <a:endParaRPr lang="en-US" sz="1800" dirty="0"/>
          </a:p>
        </p:txBody>
      </p:sp>
      <p:sp>
        <p:nvSpPr>
          <p:cNvPr id="28" name="Text 26"/>
          <p:cNvSpPr/>
          <p:nvPr/>
        </p:nvSpPr>
        <p:spPr>
          <a:xfrm>
            <a:off x="5584507" y="7695426"/>
            <a:ext cx="3256188" cy="51816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Turn "nothing here yet" into a clear path forward.</a:t>
            </a:r>
            <a:endParaRPr lang="en-US" sz="1350" dirty="0"/>
          </a:p>
        </p:txBody>
      </p:sp>
      <p:sp>
        <p:nvSpPr>
          <p:cNvPr id="29" name="Shape 27"/>
          <p:cNvSpPr/>
          <p:nvPr/>
        </p:nvSpPr>
        <p:spPr>
          <a:xfrm>
            <a:off x="9248775" y="6422886"/>
            <a:ext cx="3748087" cy="2065020"/>
          </a:xfrm>
          <a:prstGeom prst="roundRect">
            <a:avLst>
              <a:gd name="adj" fmla="val 5535"/>
            </a:avLst>
          </a:prstGeom>
          <a:solidFill>
            <a:srgbClr val="F8FAFC"/>
          </a:solidFill>
          <a:ln w="7620">
            <a:solidFill>
              <a:srgbClr val="EDEFF2"/>
            </a:solidFill>
            <a:prstDash val="solid"/>
          </a:ln>
        </p:spPr>
      </p:sp>
      <p:sp>
        <p:nvSpPr>
          <p:cNvPr id="30" name="Shape 28"/>
          <p:cNvSpPr/>
          <p:nvPr/>
        </p:nvSpPr>
        <p:spPr>
          <a:xfrm>
            <a:off x="9542145" y="6735306"/>
            <a:ext cx="533400" cy="381000"/>
          </a:xfrm>
          <a:prstGeom prst="roundRect">
            <a:avLst>
              <a:gd name="adj" fmla="val 20000"/>
            </a:avLst>
          </a:prstGeom>
          <a:gradFill rotWithShape="1">
            <a:gsLst>
              <a:gs pos="0">
                <a:srgbClr val="FCAB79">
                  <a:alpha val="100000"/>
                </a:srgbClr>
              </a:gs>
              <a:gs pos="100000">
                <a:srgbClr val="E05A1C">
                  <a:alpha val="100000"/>
                </a:srgbClr>
              </a:gs>
            </a:gsLst>
            <a:lin ang="2700000" scaled="0"/>
          </a:gradFill>
          <a:ln/>
        </p:spPr>
      </p:sp>
      <p:sp>
        <p:nvSpPr>
          <p:cNvPr id="31" name="Text 29"/>
          <p:cNvSpPr/>
          <p:nvPr/>
        </p:nvSpPr>
        <p:spPr>
          <a:xfrm>
            <a:off x="9542145" y="7325856"/>
            <a:ext cx="347748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Error &amp; recovery</a:t>
            </a:r>
            <a:endParaRPr lang="en-US" sz="1800" dirty="0"/>
          </a:p>
        </p:txBody>
      </p:sp>
      <p:sp>
        <p:nvSpPr>
          <p:cNvPr id="32" name="Text 30"/>
          <p:cNvSpPr/>
          <p:nvPr/>
        </p:nvSpPr>
        <p:spPr>
          <a:xfrm>
            <a:off x="9542145" y="7695426"/>
            <a:ext cx="3256188" cy="51816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Explain what happened, why, and how to get unstuck.</a:t>
            </a:r>
            <a:endParaRPr lang="en-US" sz="1350" dirty="0"/>
          </a:p>
        </p:txBody>
      </p:sp>
      <p:sp>
        <p:nvSpPr>
          <p:cNvPr id="33" name="Shape 31"/>
          <p:cNvSpPr/>
          <p:nvPr/>
        </p:nvSpPr>
        <p:spPr>
          <a:xfrm>
            <a:off x="13206413" y="6422886"/>
            <a:ext cx="3748087" cy="2065020"/>
          </a:xfrm>
          <a:prstGeom prst="roundRect">
            <a:avLst>
              <a:gd name="adj" fmla="val 5535"/>
            </a:avLst>
          </a:prstGeom>
          <a:solidFill>
            <a:srgbClr val="F8FAFC"/>
          </a:solidFill>
          <a:ln w="7620">
            <a:solidFill>
              <a:srgbClr val="EDEFF2"/>
            </a:solidFill>
            <a:prstDash val="solid"/>
          </a:ln>
        </p:spPr>
      </p:sp>
      <p:sp>
        <p:nvSpPr>
          <p:cNvPr id="34" name="Shape 32"/>
          <p:cNvSpPr/>
          <p:nvPr/>
        </p:nvSpPr>
        <p:spPr>
          <a:xfrm>
            <a:off x="13499783" y="6735306"/>
            <a:ext cx="533400" cy="381000"/>
          </a:xfrm>
          <a:prstGeom prst="roundRect">
            <a:avLst>
              <a:gd name="adj" fmla="val 20000"/>
            </a:avLst>
          </a:prstGeom>
          <a:gradFill rotWithShape="1">
            <a:gsLst>
              <a:gs pos="0">
                <a:srgbClr val="FCAB79">
                  <a:alpha val="100000"/>
                </a:srgbClr>
              </a:gs>
              <a:gs pos="100000">
                <a:srgbClr val="E05A1C">
                  <a:alpha val="100000"/>
                </a:srgbClr>
              </a:gs>
            </a:gsLst>
            <a:lin ang="2700000" scaled="0"/>
          </a:gradFill>
          <a:ln/>
        </p:spPr>
      </p:sp>
      <p:sp>
        <p:nvSpPr>
          <p:cNvPr id="35" name="Text 33"/>
          <p:cNvSpPr/>
          <p:nvPr/>
        </p:nvSpPr>
        <p:spPr>
          <a:xfrm>
            <a:off x="13499783" y="7325856"/>
            <a:ext cx="347748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181D26"/>
                </a:solidFill>
                <a:latin typeface="Arial" pitchFamily="34" charset="0"/>
                <a:ea typeface="Arial" pitchFamily="34" charset="-122"/>
                <a:cs typeface="Arial" pitchFamily="34" charset="-120"/>
              </a:rPr>
              <a:t>Data-dense views</a:t>
            </a:r>
            <a:endParaRPr lang="en-US" sz="1800" dirty="0"/>
          </a:p>
        </p:txBody>
      </p:sp>
      <p:sp>
        <p:nvSpPr>
          <p:cNvPr id="36" name="Text 34"/>
          <p:cNvSpPr/>
          <p:nvPr/>
        </p:nvSpPr>
        <p:spPr>
          <a:xfrm>
            <a:off x="13499783" y="7695426"/>
            <a:ext cx="3256188" cy="518160"/>
          </a:xfrm>
          <a:prstGeom prst="rect">
            <a:avLst/>
          </a:prstGeom>
          <a:noFill/>
          <a:ln/>
        </p:spPr>
        <p:txBody>
          <a:bodyPr wrap="square" lIns="25400" tIns="25400" rIns="25400" bIns="25400" rtlCol="0" anchor="t">
            <a:normAutofit/>
          </a:bodyPr>
          <a:lstStyle/>
          <a:p>
            <a:pPr algn="l" indent="0" marL="0">
              <a:lnSpc>
                <a:spcPct val="121154"/>
              </a:lnSpc>
              <a:buNone/>
            </a:pPr>
            <a:r>
              <a:rPr lang="en-US" sz="1350" dirty="0">
                <a:solidFill>
                  <a:srgbClr val="41454D"/>
                </a:solidFill>
                <a:latin typeface="Arial" pitchFamily="34" charset="0"/>
                <a:ea typeface="Arial" pitchFamily="34" charset="-122"/>
                <a:cs typeface="Arial" pitchFamily="34" charset="-120"/>
              </a:rPr>
              <a:t>Surface the signal first; let depth stay one step away.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81D26"/>
        </a:solidFill>
      </p:bgPr>
    </p:bg>
    <p:spTree>
      <p:nvGrpSpPr>
        <p:cNvPr id="1" name=""/>
        <p:cNvGrpSpPr/>
        <p:nvPr/>
      </p:nvGrpSpPr>
      <p:grpSpPr>
        <a:xfrm>
          <a:off x="0" y="0"/>
          <a:ext cx="0" cy="0"/>
          <a:chOff x="0" y="0"/>
          <a:chExt cx="0" cy="0"/>
        </a:xfrm>
      </p:grpSpPr>
      <p:sp>
        <p:nvSpPr>
          <p:cNvPr id="2" name="Text 0"/>
          <p:cNvSpPr/>
          <p:nvPr/>
        </p:nvSpPr>
        <p:spPr>
          <a:xfrm>
            <a:off x="1333500" y="1047750"/>
            <a:ext cx="17183100" cy="220980"/>
          </a:xfrm>
          <a:prstGeom prst="rect">
            <a:avLst/>
          </a:prstGeom>
          <a:noFill/>
          <a:ln/>
        </p:spPr>
        <p:txBody>
          <a:bodyPr wrap="square" lIns="25400" tIns="25400" rIns="25400" bIns="25400" rtlCol="0" anchor="t">
            <a:normAutofit/>
          </a:bodyPr>
          <a:lstStyle/>
          <a:p>
            <a:pPr algn="l" indent="0" marL="0">
              <a:buNone/>
            </a:pPr>
            <a:r>
              <a:rPr lang="en-US" sz="1275" b="1" spc="281" kern="0" dirty="0">
                <a:solidFill>
                  <a:srgbClr val="FCAB79"/>
                </a:solidFill>
                <a:latin typeface="Arial" pitchFamily="34" charset="0"/>
                <a:ea typeface="Arial" pitchFamily="34" charset="-122"/>
                <a:cs typeface="Arial" pitchFamily="34" charset="-120"/>
              </a:rPr>
              <a:t>WHERE WE'RE GOING — TOGETHER</a:t>
            </a:r>
            <a:endParaRPr lang="en-US" sz="1275" dirty="0"/>
          </a:p>
        </p:txBody>
      </p:sp>
      <p:sp>
        <p:nvSpPr>
          <p:cNvPr id="3" name="Text 1"/>
          <p:cNvSpPr/>
          <p:nvPr/>
        </p:nvSpPr>
        <p:spPr>
          <a:xfrm>
            <a:off x="1333500" y="1516380"/>
            <a:ext cx="12753975" cy="1491972"/>
          </a:xfrm>
          <a:prstGeom prst="rect">
            <a:avLst/>
          </a:prstGeom>
          <a:noFill/>
          <a:ln/>
        </p:spPr>
        <p:txBody>
          <a:bodyPr wrap="square" lIns="25400" tIns="25400" rIns="25400" bIns="25400" rtlCol="0" anchor="t">
            <a:normAutofit/>
          </a:bodyPr>
          <a:lstStyle/>
          <a:p>
            <a:pPr algn="l" indent="0" marL="0">
              <a:lnSpc>
                <a:spcPct val="92174"/>
              </a:lnSpc>
              <a:buNone/>
            </a:pPr>
            <a:r>
              <a:rPr lang="en-US" sz="5400" spc="-108" kern="0" dirty="0">
                <a:solidFill>
                  <a:srgbClr val="FFFFFF"/>
                </a:solidFill>
                <a:latin typeface="Arial" pitchFamily="34" charset="0"/>
                <a:ea typeface="Arial" pitchFamily="34" charset="-122"/>
                <a:cs typeface="Arial" pitchFamily="34" charset="-120"/>
              </a:rPr>
              <a:t>A direction to pressure-test, not a decision to announce.</a:t>
            </a:r>
            <a:endParaRPr lang="en-US" sz="5400" dirty="0"/>
          </a:p>
        </p:txBody>
      </p:sp>
      <p:sp>
        <p:nvSpPr>
          <p:cNvPr id="4" name="Shape 2"/>
          <p:cNvSpPr/>
          <p:nvPr/>
        </p:nvSpPr>
        <p:spPr>
          <a:xfrm>
            <a:off x="1333500" y="4830306"/>
            <a:ext cx="5029200" cy="2114550"/>
          </a:xfrm>
          <a:prstGeom prst="roundRect">
            <a:avLst>
              <a:gd name="adj" fmla="val 5405"/>
            </a:avLst>
          </a:prstGeom>
          <a:solidFill>
            <a:srgbClr val="1D1F25"/>
          </a:solidFill>
          <a:ln/>
        </p:spPr>
      </p:sp>
      <p:sp>
        <p:nvSpPr>
          <p:cNvPr id="5" name="Text 3"/>
          <p:cNvSpPr/>
          <p:nvPr/>
        </p:nvSpPr>
        <p:spPr>
          <a:xfrm>
            <a:off x="1676400" y="5211306"/>
            <a:ext cx="4777740" cy="259080"/>
          </a:xfrm>
          <a:prstGeom prst="rect">
            <a:avLst/>
          </a:prstGeom>
          <a:noFill/>
          <a:ln/>
        </p:spPr>
        <p:txBody>
          <a:bodyPr wrap="square" lIns="25400" tIns="25400" rIns="25400" bIns="25400" rtlCol="0" anchor="t">
            <a:normAutofit/>
          </a:bodyPr>
          <a:lstStyle/>
          <a:p>
            <a:pPr algn="l" indent="0" marL="0">
              <a:buNone/>
            </a:pPr>
            <a:r>
              <a:rPr lang="en-US" sz="1500" b="1" dirty="0">
                <a:solidFill>
                  <a:srgbClr val="FCAB79"/>
                </a:solidFill>
                <a:latin typeface="Arial" pitchFamily="34" charset="0"/>
                <a:ea typeface="Arial" pitchFamily="34" charset="-122"/>
                <a:cs typeface="Arial" pitchFamily="34" charset="-120"/>
              </a:rPr>
              <a:t>01</a:t>
            </a:r>
            <a:endParaRPr lang="en-US" sz="1500" dirty="0"/>
          </a:p>
        </p:txBody>
      </p:sp>
      <p:sp>
        <p:nvSpPr>
          <p:cNvPr id="6" name="Text 4"/>
          <p:cNvSpPr/>
          <p:nvPr/>
        </p:nvSpPr>
        <p:spPr>
          <a:xfrm>
            <a:off x="1676400" y="5603736"/>
            <a:ext cx="4473702" cy="998220"/>
          </a:xfrm>
          <a:prstGeom prst="rect">
            <a:avLst/>
          </a:prstGeom>
          <a:noFill/>
          <a:ln/>
        </p:spPr>
        <p:txBody>
          <a:bodyPr wrap="square" lIns="25400" tIns="25400" rIns="25400" bIns="25400" rtlCol="0" anchor="t">
            <a:normAutofit/>
          </a:bodyPr>
          <a:lstStyle/>
          <a:p>
            <a:pPr algn="l" indent="0" marL="0">
              <a:lnSpc>
                <a:spcPct val="121739"/>
              </a:lnSpc>
              <a:buNone/>
            </a:pPr>
            <a:r>
              <a:rPr lang="en-US" sz="1800" dirty="0">
                <a:solidFill>
                  <a:srgbClr val="E6E8EC"/>
                </a:solidFill>
                <a:latin typeface="Arial" pitchFamily="34" charset="0"/>
                <a:ea typeface="Arial" pitchFamily="34" charset="-122"/>
                <a:cs typeface="Arial" pitchFamily="34" charset="-120"/>
              </a:rPr>
              <a:t>Try it small — a low-risk pilot over one pre-existing design system. Easily reversible.</a:t>
            </a:r>
            <a:endParaRPr lang="en-US" sz="1800" dirty="0"/>
          </a:p>
        </p:txBody>
      </p:sp>
      <p:sp>
        <p:nvSpPr>
          <p:cNvPr id="7" name="Shape 5"/>
          <p:cNvSpPr/>
          <p:nvPr/>
        </p:nvSpPr>
        <p:spPr>
          <a:xfrm>
            <a:off x="6629400" y="4830306"/>
            <a:ext cx="5029200" cy="2114550"/>
          </a:xfrm>
          <a:prstGeom prst="roundRect">
            <a:avLst>
              <a:gd name="adj" fmla="val 5405"/>
            </a:avLst>
          </a:prstGeom>
          <a:solidFill>
            <a:srgbClr val="1D1F25"/>
          </a:solidFill>
          <a:ln/>
        </p:spPr>
      </p:sp>
      <p:sp>
        <p:nvSpPr>
          <p:cNvPr id="8" name="Text 6"/>
          <p:cNvSpPr/>
          <p:nvPr/>
        </p:nvSpPr>
        <p:spPr>
          <a:xfrm>
            <a:off x="6972300" y="5211306"/>
            <a:ext cx="4777740" cy="259080"/>
          </a:xfrm>
          <a:prstGeom prst="rect">
            <a:avLst/>
          </a:prstGeom>
          <a:noFill/>
          <a:ln/>
        </p:spPr>
        <p:txBody>
          <a:bodyPr wrap="square" lIns="25400" tIns="25400" rIns="25400" bIns="25400" rtlCol="0" anchor="t">
            <a:normAutofit/>
          </a:bodyPr>
          <a:lstStyle/>
          <a:p>
            <a:pPr algn="l" indent="0" marL="0">
              <a:buNone/>
            </a:pPr>
            <a:r>
              <a:rPr lang="en-US" sz="1500" b="1" dirty="0">
                <a:solidFill>
                  <a:srgbClr val="FCAB79"/>
                </a:solidFill>
                <a:latin typeface="Arial" pitchFamily="34" charset="0"/>
                <a:ea typeface="Arial" pitchFamily="34" charset="-122"/>
                <a:cs typeface="Arial" pitchFamily="34" charset="-120"/>
              </a:rPr>
              <a:t>02</a:t>
            </a:r>
            <a:endParaRPr lang="en-US" sz="1500" dirty="0"/>
          </a:p>
        </p:txBody>
      </p:sp>
      <p:sp>
        <p:nvSpPr>
          <p:cNvPr id="9" name="Text 7"/>
          <p:cNvSpPr/>
          <p:nvPr/>
        </p:nvSpPr>
        <p:spPr>
          <a:xfrm>
            <a:off x="6972300" y="5603736"/>
            <a:ext cx="4473702" cy="998220"/>
          </a:xfrm>
          <a:prstGeom prst="rect">
            <a:avLst/>
          </a:prstGeom>
          <a:noFill/>
          <a:ln/>
        </p:spPr>
        <p:txBody>
          <a:bodyPr wrap="square" lIns="25400" tIns="25400" rIns="25400" bIns="25400" rtlCol="0" anchor="t">
            <a:normAutofit/>
          </a:bodyPr>
          <a:lstStyle/>
          <a:p>
            <a:pPr algn="l" indent="0" marL="0">
              <a:lnSpc>
                <a:spcPct val="121739"/>
              </a:lnSpc>
              <a:buNone/>
            </a:pPr>
            <a:r>
              <a:rPr lang="en-US" sz="1800" dirty="0">
                <a:solidFill>
                  <a:srgbClr val="E6E8EC"/>
                </a:solidFill>
                <a:latin typeface="Arial" pitchFamily="34" charset="0"/>
                <a:ea typeface="Arial" pitchFamily="34" charset="-122"/>
                <a:cs typeface="Arial" pitchFamily="34" charset="-120"/>
              </a:rPr>
              <a:t>Pair one designer and one developer, run real work through it, and measure honestly.</a:t>
            </a:r>
            <a:endParaRPr lang="en-US" sz="1800" dirty="0"/>
          </a:p>
        </p:txBody>
      </p:sp>
      <p:sp>
        <p:nvSpPr>
          <p:cNvPr id="10" name="Shape 8"/>
          <p:cNvSpPr/>
          <p:nvPr/>
        </p:nvSpPr>
        <p:spPr>
          <a:xfrm>
            <a:off x="11925300" y="4830306"/>
            <a:ext cx="5029200" cy="2114550"/>
          </a:xfrm>
          <a:prstGeom prst="roundRect">
            <a:avLst>
              <a:gd name="adj" fmla="val 5405"/>
            </a:avLst>
          </a:prstGeom>
          <a:solidFill>
            <a:srgbClr val="1D1F25"/>
          </a:solidFill>
          <a:ln/>
        </p:spPr>
      </p:sp>
      <p:sp>
        <p:nvSpPr>
          <p:cNvPr id="11" name="Text 9"/>
          <p:cNvSpPr/>
          <p:nvPr/>
        </p:nvSpPr>
        <p:spPr>
          <a:xfrm>
            <a:off x="12268200" y="5211306"/>
            <a:ext cx="4777740" cy="259080"/>
          </a:xfrm>
          <a:prstGeom prst="rect">
            <a:avLst/>
          </a:prstGeom>
          <a:noFill/>
          <a:ln/>
        </p:spPr>
        <p:txBody>
          <a:bodyPr wrap="square" lIns="25400" tIns="25400" rIns="25400" bIns="25400" rtlCol="0" anchor="t">
            <a:normAutofit/>
          </a:bodyPr>
          <a:lstStyle/>
          <a:p>
            <a:pPr algn="l" indent="0" marL="0">
              <a:buNone/>
            </a:pPr>
            <a:r>
              <a:rPr lang="en-US" sz="1500" b="1" dirty="0">
                <a:solidFill>
                  <a:srgbClr val="FCAB79"/>
                </a:solidFill>
                <a:latin typeface="Arial" pitchFamily="34" charset="0"/>
                <a:ea typeface="Arial" pitchFamily="34" charset="-122"/>
                <a:cs typeface="Arial" pitchFamily="34" charset="-120"/>
              </a:rPr>
              <a:t>03</a:t>
            </a:r>
            <a:endParaRPr lang="en-US" sz="1500" dirty="0"/>
          </a:p>
        </p:txBody>
      </p:sp>
      <p:sp>
        <p:nvSpPr>
          <p:cNvPr id="12" name="Text 10"/>
          <p:cNvSpPr/>
          <p:nvPr/>
        </p:nvSpPr>
        <p:spPr>
          <a:xfrm>
            <a:off x="12268200" y="5603736"/>
            <a:ext cx="4473702" cy="678180"/>
          </a:xfrm>
          <a:prstGeom prst="rect">
            <a:avLst/>
          </a:prstGeom>
          <a:noFill/>
          <a:ln/>
        </p:spPr>
        <p:txBody>
          <a:bodyPr wrap="square" lIns="25400" tIns="25400" rIns="25400" bIns="25400" rtlCol="0" anchor="t">
            <a:normAutofit/>
          </a:bodyPr>
          <a:lstStyle/>
          <a:p>
            <a:pPr algn="l" indent="0" marL="0">
              <a:lnSpc>
                <a:spcPct val="121739"/>
              </a:lnSpc>
              <a:buNone/>
            </a:pPr>
            <a:r>
              <a:rPr lang="en-US" sz="1800" dirty="0">
                <a:solidFill>
                  <a:srgbClr val="E6E8EC"/>
                </a:solidFill>
                <a:latin typeface="Arial" pitchFamily="34" charset="0"/>
                <a:ea typeface="Arial" pitchFamily="34" charset="-122"/>
                <a:cs typeface="Arial" pitchFamily="34" charset="-120"/>
              </a:rPr>
              <a:t>Use any reclaimed time to write our first flow- and page-level patterns together.</a:t>
            </a:r>
            <a:endParaRPr lang="en-US" sz="1800" dirty="0"/>
          </a:p>
        </p:txBody>
      </p:sp>
      <p:sp>
        <p:nvSpPr>
          <p:cNvPr id="13" name="Text 11"/>
          <p:cNvSpPr/>
          <p:nvPr/>
        </p:nvSpPr>
        <p:spPr>
          <a:xfrm>
            <a:off x="1333500" y="8846820"/>
            <a:ext cx="8113383" cy="430530"/>
          </a:xfrm>
          <a:prstGeom prst="rect">
            <a:avLst/>
          </a:prstGeom>
          <a:noFill/>
          <a:ln/>
        </p:spPr>
        <p:txBody>
          <a:bodyPr wrap="square" lIns="25400" tIns="25400" rIns="25400" bIns="25400" rtlCol="0" anchor="t">
            <a:normAutofit/>
          </a:bodyPr>
          <a:lstStyle/>
          <a:p>
            <a:pPr algn="l" indent="0" marL="0">
              <a:buNone/>
            </a:pPr>
            <a:r>
              <a:rPr lang="en-US" sz="2550" dirty="0">
                <a:solidFill>
                  <a:srgbClr val="FFFFFF"/>
                </a:solidFill>
                <a:latin typeface="Arial" pitchFamily="34" charset="0"/>
                <a:ea typeface="Arial" pitchFamily="34" charset="-122"/>
                <a:cs typeface="Arial" pitchFamily="34" charset="-120"/>
              </a:rPr>
              <a:t>Automate the repetitive. </a:t>
            </a:r>
            <a:pPr algn="l" indent="0" marL="0">
              <a:buNone/>
            </a:pPr>
            <a:r>
              <a:rPr lang="en-US" sz="2550" dirty="0">
                <a:solidFill>
                  <a:srgbClr val="FCAB79"/>
                </a:solidFill>
                <a:latin typeface="Arial" pitchFamily="34" charset="0"/>
                <a:ea typeface="Arial" pitchFamily="34" charset="-122"/>
                <a:cs typeface="Arial" pitchFamily="34" charset="-120"/>
              </a:rPr>
              <a:t>Design the meaningful.</a:t>
            </a:r>
            <a:endParaRPr lang="en-US" sz="2550" dirty="0"/>
          </a:p>
        </p:txBody>
      </p:sp>
      <p:sp>
        <p:nvSpPr>
          <p:cNvPr id="14" name="Text 12"/>
          <p:cNvSpPr/>
          <p:nvPr/>
        </p:nvSpPr>
        <p:spPr>
          <a:xfrm>
            <a:off x="11852910" y="8804910"/>
            <a:ext cx="5101590" cy="472440"/>
          </a:xfrm>
          <a:prstGeom prst="rect">
            <a:avLst/>
          </a:prstGeom>
          <a:noFill/>
          <a:ln/>
        </p:spPr>
        <p:txBody>
          <a:bodyPr wrap="square" lIns="25400" tIns="25400" rIns="25400" bIns="25400" rtlCol="0" anchor="t">
            <a:normAutofit/>
          </a:bodyPr>
          <a:lstStyle/>
          <a:p>
            <a:pPr algn="r" indent="0" marL="0">
              <a:buNone/>
            </a:pPr>
            <a:r>
              <a:rPr lang="en-US" sz="1425" dirty="0">
                <a:solidFill>
                  <a:srgbClr val="9297A0"/>
                </a:solidFill>
                <a:latin typeface="Arial" pitchFamily="34" charset="0"/>
                <a:ea typeface="Arial" pitchFamily="34" charset="-122"/>
                <a:cs typeface="Arial" pitchFamily="34" charset="-120"/>
              </a:rPr>
              <a:t>This is a living reference. What did I get right, and where am I missing something?</a:t>
            </a:r>
            <a:endParaRPr lang="en-US" sz="14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9D4"/>
        </a:solidFill>
      </p:bgPr>
    </p:bg>
    <p:spTree>
      <p:nvGrpSpPr>
        <p:cNvPr id="1" name=""/>
        <p:cNvGrpSpPr/>
        <p:nvPr/>
      </p:nvGrpSpPr>
      <p:grpSpPr>
        <a:xfrm>
          <a:off x="0" y="0"/>
          <a:ext cx="0" cy="0"/>
          <a:chOff x="0" y="0"/>
          <a:chExt cx="0" cy="0"/>
        </a:xfrm>
      </p:grpSpPr>
      <p:sp>
        <p:nvSpPr>
          <p:cNvPr id="2" name="Text 0"/>
          <p:cNvSpPr/>
          <p:nvPr/>
        </p:nvSpPr>
        <p:spPr>
          <a:xfrm>
            <a:off x="1333500" y="2123123"/>
            <a:ext cx="17183100" cy="209550"/>
          </a:xfrm>
          <a:prstGeom prst="rect">
            <a:avLst/>
          </a:prstGeom>
          <a:noFill/>
          <a:ln/>
        </p:spPr>
        <p:txBody>
          <a:bodyPr wrap="square" lIns="25400" tIns="25400" rIns="25400" bIns="25400" rtlCol="0" anchor="t">
            <a:normAutofit/>
          </a:bodyPr>
          <a:lstStyle/>
          <a:p>
            <a:pPr algn="l" indent="0" marL="0">
              <a:buNone/>
            </a:pPr>
            <a:r>
              <a:rPr lang="en-US" sz="1200" b="1" spc="240" kern="0" dirty="0">
                <a:solidFill>
                  <a:srgbClr val="8A6D3B"/>
                </a:solidFill>
                <a:latin typeface="Arial" pitchFamily="34" charset="0"/>
                <a:ea typeface="Arial" pitchFamily="34" charset="-122"/>
                <a:cs typeface="Arial" pitchFamily="34" charset="-120"/>
              </a:rPr>
              <a:t>IT ALL FITS TOGETHER</a:t>
            </a:r>
            <a:endParaRPr lang="en-US" sz="1200" dirty="0"/>
          </a:p>
        </p:txBody>
      </p:sp>
      <p:sp>
        <p:nvSpPr>
          <p:cNvPr id="3" name="Text 1"/>
          <p:cNvSpPr/>
          <p:nvPr/>
        </p:nvSpPr>
        <p:spPr>
          <a:xfrm>
            <a:off x="1333500" y="2561272"/>
            <a:ext cx="13830300" cy="655320"/>
          </a:xfrm>
          <a:prstGeom prst="rect">
            <a:avLst/>
          </a:prstGeom>
          <a:noFill/>
          <a:ln/>
        </p:spPr>
        <p:txBody>
          <a:bodyPr wrap="square" lIns="25400" tIns="25400" rIns="25400" bIns="25400" rtlCol="0" anchor="t">
            <a:normAutofit/>
          </a:bodyPr>
          <a:lstStyle/>
          <a:p>
            <a:pPr algn="l" indent="0" marL="0">
              <a:lnSpc>
                <a:spcPct val="93642"/>
              </a:lnSpc>
              <a:buNone/>
            </a:pPr>
            <a:r>
              <a:rPr lang="en-US" sz="4500" spc="-67" kern="0" dirty="0">
                <a:solidFill>
                  <a:srgbClr val="181D26"/>
                </a:solidFill>
                <a:latin typeface="Arial" pitchFamily="34" charset="0"/>
                <a:ea typeface="Arial" pitchFamily="34" charset="-122"/>
                <a:cs typeface="Arial" pitchFamily="34" charset="-120"/>
              </a:rPr>
              <a:t>Everything here adds up to three simple things.</a:t>
            </a:r>
            <a:endParaRPr lang="en-US" sz="4500" dirty="0"/>
          </a:p>
        </p:txBody>
      </p:sp>
      <p:sp>
        <p:nvSpPr>
          <p:cNvPr id="4" name="Text 2"/>
          <p:cNvSpPr/>
          <p:nvPr/>
        </p:nvSpPr>
        <p:spPr>
          <a:xfrm>
            <a:off x="1333500" y="3330893"/>
            <a:ext cx="11576685" cy="781050"/>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333840"/>
                </a:solidFill>
                <a:latin typeface="Arial" pitchFamily="34" charset="0"/>
                <a:ea typeface="Arial" pitchFamily="34" charset="-122"/>
                <a:cs typeface="Arial" pitchFamily="34" charset="-120"/>
              </a:rPr>
              <a:t>One framework, one set of questions, one direction to explore — pointed at three outcomes we all care about.</a:t>
            </a:r>
            <a:endParaRPr lang="en-US" sz="1950" dirty="0"/>
          </a:p>
        </p:txBody>
      </p:sp>
      <p:sp>
        <p:nvSpPr>
          <p:cNvPr id="5" name="Shape 3"/>
          <p:cNvSpPr/>
          <p:nvPr/>
        </p:nvSpPr>
        <p:spPr>
          <a:xfrm>
            <a:off x="1333500" y="4645343"/>
            <a:ext cx="4978361" cy="3518535"/>
          </a:xfrm>
          <a:prstGeom prst="roundRect">
            <a:avLst>
              <a:gd name="adj" fmla="val 3790"/>
            </a:avLst>
          </a:prstGeom>
          <a:solidFill>
            <a:srgbClr val="FFFFFF"/>
          </a:solidFill>
          <a:ln/>
        </p:spPr>
      </p:sp>
      <p:sp>
        <p:nvSpPr>
          <p:cNvPr id="6" name="Text 4"/>
          <p:cNvSpPr/>
          <p:nvPr/>
        </p:nvSpPr>
        <p:spPr>
          <a:xfrm>
            <a:off x="1733550" y="5102543"/>
            <a:ext cx="4596086"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01</a:t>
            </a:r>
            <a:endParaRPr lang="en-US" sz="1650" dirty="0"/>
          </a:p>
        </p:txBody>
      </p:sp>
      <p:sp>
        <p:nvSpPr>
          <p:cNvPr id="7" name="Text 5"/>
          <p:cNvSpPr/>
          <p:nvPr/>
        </p:nvSpPr>
        <p:spPr>
          <a:xfrm>
            <a:off x="1733550" y="5574982"/>
            <a:ext cx="4596086" cy="38862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181D26"/>
                </a:solidFill>
                <a:latin typeface="Arial" pitchFamily="34" charset="0"/>
                <a:ea typeface="Arial" pitchFamily="34" charset="-122"/>
                <a:cs typeface="Arial" pitchFamily="34" charset="-120"/>
              </a:rPr>
              <a:t>More informed strategy</a:t>
            </a:r>
            <a:endParaRPr lang="en-US" sz="2400" dirty="0"/>
          </a:p>
        </p:txBody>
      </p:sp>
      <p:sp>
        <p:nvSpPr>
          <p:cNvPr id="8" name="Text 6"/>
          <p:cNvSpPr/>
          <p:nvPr/>
        </p:nvSpPr>
        <p:spPr>
          <a:xfrm>
            <a:off x="1733550" y="6096953"/>
            <a:ext cx="4303608" cy="866775"/>
          </a:xfrm>
          <a:prstGeom prst="rect">
            <a:avLst/>
          </a:prstGeom>
          <a:noFill/>
          <a:ln/>
        </p:spPr>
        <p:txBody>
          <a:bodyPr wrap="square" lIns="25400" tIns="25400" rIns="25400" bIns="25400" rtlCol="0" anchor="t">
            <a:normAutofit/>
          </a:bodyPr>
          <a:lstStyle/>
          <a:p>
            <a:pPr algn="l" indent="0" marL="0">
              <a:lnSpc>
                <a:spcPct val="125000"/>
              </a:lnSpc>
              <a:buNone/>
            </a:pPr>
            <a:r>
              <a:rPr lang="en-US" sz="1500" dirty="0">
                <a:solidFill>
                  <a:srgbClr val="41454D"/>
                </a:solidFill>
                <a:latin typeface="Arial" pitchFamily="34" charset="0"/>
                <a:ea typeface="Arial" pitchFamily="34" charset="-122"/>
                <a:cs typeface="Arial" pitchFamily="34" charset="-120"/>
              </a:rPr>
              <a:t>The knowledge map, tribal knowledge, and the questions we always answer keep our decisions grounded in the business.</a:t>
            </a:r>
            <a:endParaRPr lang="en-US" sz="1500" dirty="0"/>
          </a:p>
        </p:txBody>
      </p:sp>
      <p:sp>
        <p:nvSpPr>
          <p:cNvPr id="9" name="Text 7"/>
          <p:cNvSpPr/>
          <p:nvPr/>
        </p:nvSpPr>
        <p:spPr>
          <a:xfrm>
            <a:off x="1733550" y="7542848"/>
            <a:ext cx="4303608" cy="201930"/>
          </a:xfrm>
          <a:prstGeom prst="rect">
            <a:avLst/>
          </a:prstGeom>
          <a:noFill/>
          <a:ln/>
        </p:spPr>
        <p:txBody>
          <a:bodyPr wrap="square" lIns="25400" tIns="25400" rIns="25400" bIns="25400" rtlCol="0" anchor="t">
            <a:normAutofit/>
          </a:bodyPr>
          <a:lstStyle/>
          <a:p>
            <a:pPr algn="l" indent="0" marL="0">
              <a:buNone/>
            </a:pPr>
            <a:r>
              <a:rPr lang="en-US" sz="1125" b="1" spc="135" kern="0" dirty="0">
                <a:solidFill>
                  <a:srgbClr val="8A6D3B"/>
                </a:solidFill>
                <a:latin typeface="Arial" pitchFamily="34" charset="0"/>
                <a:ea typeface="Arial" pitchFamily="34" charset="-122"/>
                <a:cs typeface="Arial" pitchFamily="34" charset="-120"/>
              </a:rPr>
              <a:t>WHERE WE ARE</a:t>
            </a:r>
            <a:endParaRPr lang="en-US" sz="1125" dirty="0"/>
          </a:p>
        </p:txBody>
      </p:sp>
      <p:sp>
        <p:nvSpPr>
          <p:cNvPr id="10" name="Shape 8"/>
          <p:cNvSpPr/>
          <p:nvPr/>
        </p:nvSpPr>
        <p:spPr>
          <a:xfrm>
            <a:off x="6559511" y="4645343"/>
            <a:ext cx="4978420" cy="3518535"/>
          </a:xfrm>
          <a:prstGeom prst="roundRect">
            <a:avLst>
              <a:gd name="adj" fmla="val 3790"/>
            </a:avLst>
          </a:prstGeom>
          <a:solidFill>
            <a:srgbClr val="FFFFFF"/>
          </a:solidFill>
          <a:ln/>
        </p:spPr>
      </p:sp>
      <p:sp>
        <p:nvSpPr>
          <p:cNvPr id="11" name="Text 9"/>
          <p:cNvSpPr/>
          <p:nvPr/>
        </p:nvSpPr>
        <p:spPr>
          <a:xfrm>
            <a:off x="6959561" y="5102543"/>
            <a:ext cx="4596152"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AA2D00"/>
                </a:solidFill>
                <a:latin typeface="Arial" pitchFamily="34" charset="0"/>
                <a:ea typeface="Arial" pitchFamily="34" charset="-122"/>
                <a:cs typeface="Arial" pitchFamily="34" charset="-120"/>
              </a:rPr>
              <a:t>02</a:t>
            </a:r>
            <a:endParaRPr lang="en-US" sz="1650" dirty="0"/>
          </a:p>
        </p:txBody>
      </p:sp>
      <p:sp>
        <p:nvSpPr>
          <p:cNvPr id="12" name="Text 10"/>
          <p:cNvSpPr/>
          <p:nvPr/>
        </p:nvSpPr>
        <p:spPr>
          <a:xfrm>
            <a:off x="6959561" y="5574982"/>
            <a:ext cx="4596152" cy="38862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181D26"/>
                </a:solidFill>
                <a:latin typeface="Arial" pitchFamily="34" charset="0"/>
                <a:ea typeface="Arial" pitchFamily="34" charset="-122"/>
                <a:cs typeface="Arial" pitchFamily="34" charset="-120"/>
              </a:rPr>
              <a:t>Grounded design process</a:t>
            </a:r>
            <a:endParaRPr lang="en-US" sz="2400" dirty="0"/>
          </a:p>
        </p:txBody>
      </p:sp>
      <p:sp>
        <p:nvSpPr>
          <p:cNvPr id="13" name="Text 11"/>
          <p:cNvSpPr/>
          <p:nvPr/>
        </p:nvSpPr>
        <p:spPr>
          <a:xfrm>
            <a:off x="6959561" y="6096953"/>
            <a:ext cx="4303670" cy="866775"/>
          </a:xfrm>
          <a:prstGeom prst="rect">
            <a:avLst/>
          </a:prstGeom>
          <a:noFill/>
          <a:ln/>
        </p:spPr>
        <p:txBody>
          <a:bodyPr wrap="square" lIns="25400" tIns="25400" rIns="25400" bIns="25400" rtlCol="0" anchor="t">
            <a:normAutofit/>
          </a:bodyPr>
          <a:lstStyle/>
          <a:p>
            <a:pPr algn="l" indent="0" marL="0">
              <a:lnSpc>
                <a:spcPct val="125000"/>
              </a:lnSpc>
              <a:buNone/>
            </a:pPr>
            <a:r>
              <a:rPr lang="en-US" sz="1500" dirty="0">
                <a:solidFill>
                  <a:srgbClr val="41454D"/>
                </a:solidFill>
                <a:latin typeface="Arial" pitchFamily="34" charset="0"/>
                <a:ea typeface="Arial" pitchFamily="34" charset="-122"/>
                <a:cs typeface="Arial" pitchFamily="34" charset="-120"/>
              </a:rPr>
              <a:t>5W1H on every project and evidence over opinion mean we solve the right problems with shared context.</a:t>
            </a:r>
            <a:endParaRPr lang="en-US" sz="1500" dirty="0"/>
          </a:p>
        </p:txBody>
      </p:sp>
      <p:sp>
        <p:nvSpPr>
          <p:cNvPr id="14" name="Text 12"/>
          <p:cNvSpPr/>
          <p:nvPr/>
        </p:nvSpPr>
        <p:spPr>
          <a:xfrm>
            <a:off x="6959561" y="7542848"/>
            <a:ext cx="4303670" cy="201930"/>
          </a:xfrm>
          <a:prstGeom prst="rect">
            <a:avLst/>
          </a:prstGeom>
          <a:noFill/>
          <a:ln/>
        </p:spPr>
        <p:txBody>
          <a:bodyPr wrap="square" lIns="25400" tIns="25400" rIns="25400" bIns="25400" rtlCol="0" anchor="t">
            <a:normAutofit/>
          </a:bodyPr>
          <a:lstStyle/>
          <a:p>
            <a:pPr algn="l" indent="0" marL="0">
              <a:buNone/>
            </a:pPr>
            <a:r>
              <a:rPr lang="en-US" sz="1125" b="1" spc="135" kern="0" dirty="0">
                <a:solidFill>
                  <a:srgbClr val="8A6D3B"/>
                </a:solidFill>
                <a:latin typeface="Arial" pitchFamily="34" charset="0"/>
                <a:ea typeface="Arial" pitchFamily="34" charset="-122"/>
                <a:cs typeface="Arial" pitchFamily="34" charset="-120"/>
              </a:rPr>
              <a:t>HOW WE WORK</a:t>
            </a:r>
            <a:endParaRPr lang="en-US" sz="1125" dirty="0"/>
          </a:p>
        </p:txBody>
      </p:sp>
      <p:sp>
        <p:nvSpPr>
          <p:cNvPr id="15" name="Shape 13"/>
          <p:cNvSpPr/>
          <p:nvPr/>
        </p:nvSpPr>
        <p:spPr>
          <a:xfrm>
            <a:off x="11785581" y="4645343"/>
            <a:ext cx="4978361" cy="3518535"/>
          </a:xfrm>
          <a:prstGeom prst="roundRect">
            <a:avLst>
              <a:gd name="adj" fmla="val 3790"/>
            </a:avLst>
          </a:prstGeom>
          <a:solidFill>
            <a:srgbClr val="181D26"/>
          </a:solidFill>
          <a:ln/>
        </p:spPr>
      </p:sp>
      <p:sp>
        <p:nvSpPr>
          <p:cNvPr id="16" name="Text 14"/>
          <p:cNvSpPr/>
          <p:nvPr/>
        </p:nvSpPr>
        <p:spPr>
          <a:xfrm>
            <a:off x="12185631" y="5102543"/>
            <a:ext cx="4596086"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FCAB79"/>
                </a:solidFill>
                <a:latin typeface="Arial" pitchFamily="34" charset="0"/>
                <a:ea typeface="Arial" pitchFamily="34" charset="-122"/>
                <a:cs typeface="Arial" pitchFamily="34" charset="-120"/>
              </a:rPr>
              <a:t>03</a:t>
            </a:r>
            <a:endParaRPr lang="en-US" sz="1650" dirty="0"/>
          </a:p>
        </p:txBody>
      </p:sp>
      <p:sp>
        <p:nvSpPr>
          <p:cNvPr id="17" name="Text 15"/>
          <p:cNvSpPr/>
          <p:nvPr/>
        </p:nvSpPr>
        <p:spPr>
          <a:xfrm>
            <a:off x="12185631" y="5574982"/>
            <a:ext cx="4303608" cy="73914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FFFFFF"/>
                </a:solidFill>
                <a:latin typeface="Arial" pitchFamily="34" charset="0"/>
                <a:ea typeface="Arial" pitchFamily="34" charset="-122"/>
                <a:cs typeface="Arial" pitchFamily="34" charset="-120"/>
              </a:rPr>
              <a:t>Simplified hand-off &amp; design-system management</a:t>
            </a:r>
            <a:endParaRPr lang="en-US" sz="2400" dirty="0"/>
          </a:p>
        </p:txBody>
      </p:sp>
      <p:sp>
        <p:nvSpPr>
          <p:cNvPr id="18" name="Text 16"/>
          <p:cNvSpPr/>
          <p:nvPr/>
        </p:nvSpPr>
        <p:spPr>
          <a:xfrm>
            <a:off x="12185631" y="6447473"/>
            <a:ext cx="4303608" cy="866775"/>
          </a:xfrm>
          <a:prstGeom prst="rect">
            <a:avLst/>
          </a:prstGeom>
          <a:noFill/>
          <a:ln/>
        </p:spPr>
        <p:txBody>
          <a:bodyPr wrap="square" lIns="25400" tIns="25400" rIns="25400" bIns="25400" rtlCol="0" anchor="t">
            <a:normAutofit/>
          </a:bodyPr>
          <a:lstStyle/>
          <a:p>
            <a:pPr algn="l" indent="0" marL="0">
              <a:lnSpc>
                <a:spcPct val="125000"/>
              </a:lnSpc>
              <a:buNone/>
            </a:pPr>
            <a:r>
              <a:rPr lang="en-US" sz="1500" dirty="0">
                <a:solidFill>
                  <a:srgbClr val="C7CBD1"/>
                </a:solidFill>
                <a:latin typeface="Arial" pitchFamily="34" charset="0"/>
                <a:ea typeface="Arial" pitchFamily="34" charset="-122"/>
                <a:cs typeface="Arial" pitchFamily="34" charset="-120"/>
              </a:rPr>
              <a:t>A trusted MCP hand-off and higher-level patterns cut the translation loop and free us to design the meaningful.</a:t>
            </a:r>
            <a:endParaRPr lang="en-US" sz="1500" dirty="0"/>
          </a:p>
        </p:txBody>
      </p:sp>
      <p:sp>
        <p:nvSpPr>
          <p:cNvPr id="19" name="Text 17"/>
          <p:cNvSpPr/>
          <p:nvPr/>
        </p:nvSpPr>
        <p:spPr>
          <a:xfrm>
            <a:off x="12185631" y="7542848"/>
            <a:ext cx="4303608" cy="201930"/>
          </a:xfrm>
          <a:prstGeom prst="rect">
            <a:avLst/>
          </a:prstGeom>
          <a:noFill/>
          <a:ln/>
        </p:spPr>
        <p:txBody>
          <a:bodyPr wrap="square" lIns="25400" tIns="25400" rIns="25400" bIns="25400" rtlCol="0" anchor="t">
            <a:normAutofit/>
          </a:bodyPr>
          <a:lstStyle/>
          <a:p>
            <a:pPr algn="l" indent="0" marL="0">
              <a:buNone/>
            </a:pPr>
            <a:r>
              <a:rPr lang="en-US" sz="1125" b="1" spc="135" kern="0" dirty="0">
                <a:solidFill>
                  <a:srgbClr val="FCAB79"/>
                </a:solidFill>
                <a:latin typeface="Arial" pitchFamily="34" charset="0"/>
                <a:ea typeface="Arial" pitchFamily="34" charset="-122"/>
                <a:cs typeface="Arial" pitchFamily="34" charset="-120"/>
              </a:rPr>
              <a:t>WHERE WE'RE GOING</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2026-07-27T17:42:25Z</dcterms:created>
  <dcterms:modified xsi:type="dcterms:W3CDTF">2026-07-27T17:42:25Z</dcterms:modified>
</cp:coreProperties>
</file>